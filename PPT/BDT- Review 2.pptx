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71" r:id="rId3"/>
    <p:sldId id="285" r:id="rId4"/>
    <p:sldId id="259" r:id="rId5"/>
    <p:sldId id="286" r:id="rId6"/>
    <p:sldId id="263" r:id="rId7"/>
    <p:sldId id="287" r:id="rId8"/>
    <p:sldId id="288" r:id="rId9"/>
    <p:sldId id="289" r:id="rId10"/>
    <p:sldId id="290" r:id="rId11"/>
    <p:sldId id="282" r:id="rId12"/>
    <p:sldId id="291" r:id="rId13"/>
    <p:sldId id="267" r:id="rId14"/>
    <p:sldId id="298" r:id="rId15"/>
    <p:sldId id="299" r:id="rId16"/>
    <p:sldId id="276" r:id="rId17"/>
    <p:sldId id="293" r:id="rId18"/>
    <p:sldId id="294" r:id="rId19"/>
    <p:sldId id="296" r:id="rId20"/>
    <p:sldId id="29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oever" initials="w" lastIdx="1" clrIdx="0">
    <p:extLst>
      <p:ext uri="{19B8F6BF-5375-455C-9EA6-DF929625EA0E}">
        <p15:presenceInfo xmlns:p15="http://schemas.microsoft.com/office/powerpoint/2012/main" userId="whoev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6D0901-C352-4F5C-93FF-11BC810D637B}" v="42" dt="2026-03-25T16:12:53.273"/>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60"/>
  </p:normalViewPr>
  <p:slideViewPr>
    <p:cSldViewPr snapToGrid="0">
      <p:cViewPr varScale="1">
        <p:scale>
          <a:sx n="70" d="100"/>
          <a:sy n="70" d="100"/>
        </p:scale>
        <p:origin x="72" y="326"/>
      </p:cViewPr>
      <p:guideLst/>
    </p:cSldViewPr>
  </p:slideViewPr>
  <p:notesTextViewPr>
    <p:cViewPr>
      <p:scale>
        <a:sx n="1" d="1"/>
        <a:sy n="1" d="1"/>
      </p:scale>
      <p:origin x="0" y="0"/>
    </p:cViewPr>
  </p:notesTextViewPr>
  <p:notesViewPr>
    <p:cSldViewPr snapToGrid="0">
      <p:cViewPr varScale="1">
        <p:scale>
          <a:sx n="57" d="100"/>
          <a:sy n="57" d="100"/>
        </p:scale>
        <p:origin x="256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Abhiram Amrutaluri" userId="64414110dd31b24c" providerId="LiveId" clId="{26D76930-4EC3-420F-8F5B-19CE4E90D287}"/>
    <pc:docChg chg="undo custSel addSld delSld modSld">
      <pc:chgData name="Sai Abhiram Amrutaluri" userId="64414110dd31b24c" providerId="LiveId" clId="{26D76930-4EC3-420F-8F5B-19CE4E90D287}" dt="2026-03-25T16:23:25.281" v="564" actId="20577"/>
      <pc:docMkLst>
        <pc:docMk/>
      </pc:docMkLst>
      <pc:sldChg chg="modSp mod">
        <pc:chgData name="Sai Abhiram Amrutaluri" userId="64414110dd31b24c" providerId="LiveId" clId="{26D76930-4EC3-420F-8F5B-19CE4E90D287}" dt="2026-03-25T16:23:25.281" v="564" actId="20577"/>
        <pc:sldMkLst>
          <pc:docMk/>
          <pc:sldMk cId="0" sldId="256"/>
        </pc:sldMkLst>
        <pc:spChg chg="mod">
          <ac:chgData name="Sai Abhiram Amrutaluri" userId="64414110dd31b24c" providerId="LiveId" clId="{26D76930-4EC3-420F-8F5B-19CE4E90D287}" dt="2026-03-25T15:09:14.938" v="33"/>
          <ac:spMkLst>
            <pc:docMk/>
            <pc:sldMk cId="0" sldId="256"/>
            <ac:spMk id="2" creationId="{00000000-0000-0000-0000-000000000000}"/>
          </ac:spMkLst>
        </pc:spChg>
        <pc:spChg chg="mod">
          <ac:chgData name="Sai Abhiram Amrutaluri" userId="64414110dd31b24c" providerId="LiveId" clId="{26D76930-4EC3-420F-8F5B-19CE4E90D287}" dt="2026-03-25T16:23:25.281" v="564" actId="20577"/>
          <ac:spMkLst>
            <pc:docMk/>
            <pc:sldMk cId="0" sldId="256"/>
            <ac:spMk id="3" creationId="{00000000-0000-0000-0000-000000000000}"/>
          </ac:spMkLst>
        </pc:spChg>
      </pc:sldChg>
      <pc:sldChg chg="modSp mod">
        <pc:chgData name="Sai Abhiram Amrutaluri" userId="64414110dd31b24c" providerId="LiveId" clId="{26D76930-4EC3-420F-8F5B-19CE4E90D287}" dt="2026-03-25T15:12:15.262" v="111" actId="20577"/>
        <pc:sldMkLst>
          <pc:docMk/>
          <pc:sldMk cId="0" sldId="259"/>
        </pc:sldMkLst>
        <pc:spChg chg="mod">
          <ac:chgData name="Sai Abhiram Amrutaluri" userId="64414110dd31b24c" providerId="LiveId" clId="{26D76930-4EC3-420F-8F5B-19CE4E90D287}" dt="2026-03-25T15:12:15.262" v="111" actId="20577"/>
          <ac:spMkLst>
            <pc:docMk/>
            <pc:sldMk cId="0" sldId="259"/>
            <ac:spMk id="5" creationId="{00000000-0000-0000-0000-000000000000}"/>
          </ac:spMkLst>
        </pc:spChg>
      </pc:sldChg>
      <pc:sldChg chg="modSp mod">
        <pc:chgData name="Sai Abhiram Amrutaluri" userId="64414110dd31b24c" providerId="LiveId" clId="{26D76930-4EC3-420F-8F5B-19CE4E90D287}" dt="2026-03-25T15:16:11.658" v="252" actId="207"/>
        <pc:sldMkLst>
          <pc:docMk/>
          <pc:sldMk cId="0" sldId="263"/>
        </pc:sldMkLst>
        <pc:spChg chg="mod">
          <ac:chgData name="Sai Abhiram Amrutaluri" userId="64414110dd31b24c" providerId="LiveId" clId="{26D76930-4EC3-420F-8F5B-19CE4E90D287}" dt="2026-03-25T15:16:11.658" v="252" actId="207"/>
          <ac:spMkLst>
            <pc:docMk/>
            <pc:sldMk cId="0" sldId="263"/>
            <ac:spMk id="5" creationId="{00000000-0000-0000-0000-000000000000}"/>
          </ac:spMkLst>
        </pc:spChg>
      </pc:sldChg>
      <pc:sldChg chg="addSp delSp modSp mod">
        <pc:chgData name="Sai Abhiram Amrutaluri" userId="64414110dd31b24c" providerId="LiveId" clId="{26D76930-4EC3-420F-8F5B-19CE4E90D287}" dt="2026-03-25T15:34:30.570" v="361" actId="13926"/>
        <pc:sldMkLst>
          <pc:docMk/>
          <pc:sldMk cId="0" sldId="267"/>
        </pc:sldMkLst>
        <pc:spChg chg="add del">
          <ac:chgData name="Sai Abhiram Amrutaluri" userId="64414110dd31b24c" providerId="LiveId" clId="{26D76930-4EC3-420F-8F5B-19CE4E90D287}" dt="2026-03-25T15:34:04.827" v="359" actId="11529"/>
          <ac:spMkLst>
            <pc:docMk/>
            <pc:sldMk cId="0" sldId="267"/>
            <ac:spMk id="6" creationId="{4D9816D0-9B83-1D1D-89ED-9782C9F7754F}"/>
          </ac:spMkLst>
        </pc:spChg>
        <pc:graphicFrameChg chg="del">
          <ac:chgData name="Sai Abhiram Amrutaluri" userId="64414110dd31b24c" providerId="LiveId" clId="{26D76930-4EC3-420F-8F5B-19CE4E90D287}" dt="2026-03-25T15:28:15.797" v="327" actId="21"/>
          <ac:graphicFrameMkLst>
            <pc:docMk/>
            <pc:sldMk cId="0" sldId="267"/>
            <ac:graphicFrameMk id="3" creationId="{00000000-0000-0000-0000-000000000000}"/>
          </ac:graphicFrameMkLst>
        </pc:graphicFrameChg>
        <pc:graphicFrameChg chg="add del mod modGraphic">
          <ac:chgData name="Sai Abhiram Amrutaluri" userId="64414110dd31b24c" providerId="LiveId" clId="{26D76930-4EC3-420F-8F5B-19CE4E90D287}" dt="2026-03-25T15:32:26.813" v="339" actId="21"/>
          <ac:graphicFrameMkLst>
            <pc:docMk/>
            <pc:sldMk cId="0" sldId="267"/>
            <ac:graphicFrameMk id="4" creationId="{D8F77C2E-CF88-9DFE-0D5E-EDA14BB89E42}"/>
          </ac:graphicFrameMkLst>
        </pc:graphicFrameChg>
        <pc:graphicFrameChg chg="add mod modGraphic">
          <ac:chgData name="Sai Abhiram Amrutaluri" userId="64414110dd31b24c" providerId="LiveId" clId="{26D76930-4EC3-420F-8F5B-19CE4E90D287}" dt="2026-03-25T15:34:30.570" v="361" actId="13926"/>
          <ac:graphicFrameMkLst>
            <pc:docMk/>
            <pc:sldMk cId="0" sldId="267"/>
            <ac:graphicFrameMk id="5" creationId="{EE34BD78-3650-2D1E-56D6-622BFBFD99F4}"/>
          </ac:graphicFrameMkLst>
        </pc:graphicFrameChg>
      </pc:sldChg>
      <pc:sldChg chg="addSp delSp del mod">
        <pc:chgData name="Sai Abhiram Amrutaluri" userId="64414110dd31b24c" providerId="LiveId" clId="{26D76930-4EC3-420F-8F5B-19CE4E90D287}" dt="2026-03-25T15:37:57.988" v="395" actId="2696"/>
        <pc:sldMkLst>
          <pc:docMk/>
          <pc:sldMk cId="0" sldId="268"/>
        </pc:sldMkLst>
        <pc:graphicFrameChg chg="add del">
          <ac:chgData name="Sai Abhiram Amrutaluri" userId="64414110dd31b24c" providerId="LiveId" clId="{26D76930-4EC3-420F-8F5B-19CE4E90D287}" dt="2026-03-25T15:34:51.040" v="363" actId="21"/>
          <ac:graphicFrameMkLst>
            <pc:docMk/>
            <pc:sldMk cId="0" sldId="268"/>
            <ac:graphicFrameMk id="3" creationId="{FDA493FD-6CAC-82F4-A981-CEAC1275D62D}"/>
          </ac:graphicFrameMkLst>
        </pc:graphicFrameChg>
      </pc:sldChg>
      <pc:sldChg chg="addSp modSp mod">
        <pc:chgData name="Sai Abhiram Amrutaluri" userId="64414110dd31b24c" providerId="LiveId" clId="{26D76930-4EC3-420F-8F5B-19CE4E90D287}" dt="2026-03-25T15:09:03.871" v="32" actId="20577"/>
        <pc:sldMkLst>
          <pc:docMk/>
          <pc:sldMk cId="4214619344" sldId="271"/>
        </pc:sldMkLst>
        <pc:spChg chg="mod">
          <ac:chgData name="Sai Abhiram Amrutaluri" userId="64414110dd31b24c" providerId="LiveId" clId="{26D76930-4EC3-420F-8F5B-19CE4E90D287}" dt="2026-03-25T15:09:03.871" v="32" actId="20577"/>
          <ac:spMkLst>
            <pc:docMk/>
            <pc:sldMk cId="4214619344" sldId="271"/>
            <ac:spMk id="3" creationId="{00000000-0000-0000-0000-000000000000}"/>
          </ac:spMkLst>
        </pc:spChg>
        <pc:spChg chg="add mod">
          <ac:chgData name="Sai Abhiram Amrutaluri" userId="64414110dd31b24c" providerId="LiveId" clId="{26D76930-4EC3-420F-8F5B-19CE4E90D287}" dt="2026-03-25T15:09:01.859" v="27" actId="20577"/>
          <ac:spMkLst>
            <pc:docMk/>
            <pc:sldMk cId="4214619344" sldId="271"/>
            <ac:spMk id="4" creationId="{2F448510-B41F-E52A-DBFE-86CC8A063F5A}"/>
          </ac:spMkLst>
        </pc:spChg>
        <pc:spChg chg="add mod">
          <ac:chgData name="Sai Abhiram Amrutaluri" userId="64414110dd31b24c" providerId="LiveId" clId="{26D76930-4EC3-420F-8F5B-19CE4E90D287}" dt="2026-03-25T15:08:36.887" v="21"/>
          <ac:spMkLst>
            <pc:docMk/>
            <pc:sldMk cId="4214619344" sldId="271"/>
            <ac:spMk id="5" creationId="{7E14F752-A37A-A737-B04F-AE1954B9E27B}"/>
          </ac:spMkLst>
        </pc:spChg>
        <pc:spChg chg="add mod">
          <ac:chgData name="Sai Abhiram Amrutaluri" userId="64414110dd31b24c" providerId="LiveId" clId="{26D76930-4EC3-420F-8F5B-19CE4E90D287}" dt="2026-03-25T15:09:01.186" v="26" actId="1076"/>
          <ac:spMkLst>
            <pc:docMk/>
            <pc:sldMk cId="4214619344" sldId="271"/>
            <ac:spMk id="6" creationId="{9DBDD9B6-02FC-FE6C-3745-9FFC64B44370}"/>
          </ac:spMkLst>
        </pc:spChg>
      </pc:sldChg>
      <pc:sldChg chg="addSp delSp modSp mod">
        <pc:chgData name="Sai Abhiram Amrutaluri" userId="64414110dd31b24c" providerId="LiveId" clId="{26D76930-4EC3-420F-8F5B-19CE4E90D287}" dt="2026-03-25T15:50:38.713" v="408" actId="108"/>
        <pc:sldMkLst>
          <pc:docMk/>
          <pc:sldMk cId="1667733088" sldId="276"/>
        </pc:sldMkLst>
        <pc:spChg chg="add del">
          <ac:chgData name="Sai Abhiram Amrutaluri" userId="64414110dd31b24c" providerId="LiveId" clId="{26D76930-4EC3-420F-8F5B-19CE4E90D287}" dt="2026-03-25T15:49:42.746" v="402" actId="21"/>
          <ac:spMkLst>
            <pc:docMk/>
            <pc:sldMk cId="1667733088" sldId="276"/>
            <ac:spMk id="3" creationId="{72CDACFE-0A82-301C-F1DC-E896DD2D9C97}"/>
          </ac:spMkLst>
        </pc:spChg>
        <pc:spChg chg="mod">
          <ac:chgData name="Sai Abhiram Amrutaluri" userId="64414110dd31b24c" providerId="LiveId" clId="{26D76930-4EC3-420F-8F5B-19CE4E90D287}" dt="2026-03-25T15:48:39.125" v="399" actId="255"/>
          <ac:spMkLst>
            <pc:docMk/>
            <pc:sldMk cId="1667733088" sldId="276"/>
            <ac:spMk id="5" creationId="{9055C126-5FBD-A73C-4C78-529EEA382E85}"/>
          </ac:spMkLst>
        </pc:spChg>
        <pc:picChg chg="del">
          <ac:chgData name="Sai Abhiram Amrutaluri" userId="64414110dd31b24c" providerId="LiveId" clId="{26D76930-4EC3-420F-8F5B-19CE4E90D287}" dt="2026-03-25T15:48:42.756" v="400" actId="21"/>
          <ac:picMkLst>
            <pc:docMk/>
            <pc:sldMk cId="1667733088" sldId="276"/>
            <ac:picMk id="4" creationId="{5CC71DC0-996F-01BF-0756-16DAA7D20239}"/>
          </ac:picMkLst>
        </pc:picChg>
        <pc:picChg chg="add mod">
          <ac:chgData name="Sai Abhiram Amrutaluri" userId="64414110dd31b24c" providerId="LiveId" clId="{26D76930-4EC3-420F-8F5B-19CE4E90D287}" dt="2026-03-25T15:50:38.713" v="408" actId="108"/>
          <ac:picMkLst>
            <pc:docMk/>
            <pc:sldMk cId="1667733088" sldId="276"/>
            <ac:picMk id="7" creationId="{BFC43622-A7F6-147A-3BE2-2300C0CE16F0}"/>
          </ac:picMkLst>
        </pc:picChg>
      </pc:sldChg>
      <pc:sldChg chg="addSp delSp modSp mod">
        <pc:chgData name="Sai Abhiram Amrutaluri" userId="64414110dd31b24c" providerId="LiveId" clId="{26D76930-4EC3-420F-8F5B-19CE4E90D287}" dt="2026-03-25T15:25:50.247" v="311" actId="1076"/>
        <pc:sldMkLst>
          <pc:docMk/>
          <pc:sldMk cId="3412229159" sldId="282"/>
        </pc:sldMkLst>
        <pc:spChg chg="add">
          <ac:chgData name="Sai Abhiram Amrutaluri" userId="64414110dd31b24c" providerId="LiveId" clId="{26D76930-4EC3-420F-8F5B-19CE4E90D287}" dt="2026-03-25T15:25:01.571" v="295"/>
          <ac:spMkLst>
            <pc:docMk/>
            <pc:sldMk cId="3412229159" sldId="282"/>
            <ac:spMk id="3" creationId="{655E3C2D-BB2C-91FA-69A3-E9AF80CF698E}"/>
          </ac:spMkLst>
        </pc:spChg>
        <pc:spChg chg="mod">
          <ac:chgData name="Sai Abhiram Amrutaluri" userId="64414110dd31b24c" providerId="LiveId" clId="{26D76930-4EC3-420F-8F5B-19CE4E90D287}" dt="2026-03-25T15:25:09.109" v="299" actId="20577"/>
          <ac:spMkLst>
            <pc:docMk/>
            <pc:sldMk cId="3412229159" sldId="282"/>
            <ac:spMk id="4" creationId="{A9AD370F-66A5-D81F-C019-4E8D6007200A}"/>
          </ac:spMkLst>
        </pc:spChg>
        <pc:spChg chg="add del mod">
          <ac:chgData name="Sai Abhiram Amrutaluri" userId="64414110dd31b24c" providerId="LiveId" clId="{26D76930-4EC3-420F-8F5B-19CE4E90D287}" dt="2026-03-25T15:25:18.549" v="301" actId="21"/>
          <ac:spMkLst>
            <pc:docMk/>
            <pc:sldMk cId="3412229159" sldId="282"/>
            <ac:spMk id="5" creationId="{4728282E-D2C3-9511-DA23-6C6484FD3F29}"/>
          </ac:spMkLst>
        </pc:spChg>
        <pc:spChg chg="add mod">
          <ac:chgData name="Sai Abhiram Amrutaluri" userId="64414110dd31b24c" providerId="LiveId" clId="{26D76930-4EC3-420F-8F5B-19CE4E90D287}" dt="2026-03-25T15:25:50.247" v="311" actId="1076"/>
          <ac:spMkLst>
            <pc:docMk/>
            <pc:sldMk cId="3412229159" sldId="282"/>
            <ac:spMk id="6" creationId="{48F74A60-675A-C52F-47BF-66AA45259BCB}"/>
          </ac:spMkLst>
        </pc:spChg>
        <pc:spChg chg="add mod">
          <ac:chgData name="Sai Abhiram Amrutaluri" userId="64414110dd31b24c" providerId="LiveId" clId="{26D76930-4EC3-420F-8F5B-19CE4E90D287}" dt="2026-03-25T15:25:29.940" v="304" actId="571"/>
          <ac:spMkLst>
            <pc:docMk/>
            <pc:sldMk cId="3412229159" sldId="282"/>
            <ac:spMk id="7" creationId="{96982853-EFFF-3F14-222C-E8A0255F6715}"/>
          </ac:spMkLst>
        </pc:spChg>
      </pc:sldChg>
      <pc:sldChg chg="modSp mod">
        <pc:chgData name="Sai Abhiram Amrutaluri" userId="64414110dd31b24c" providerId="LiveId" clId="{26D76930-4EC3-420F-8F5B-19CE4E90D287}" dt="2026-03-25T15:09:46.159" v="39" actId="1076"/>
        <pc:sldMkLst>
          <pc:docMk/>
          <pc:sldMk cId="1426245903" sldId="285"/>
        </pc:sldMkLst>
        <pc:spChg chg="mod">
          <ac:chgData name="Sai Abhiram Amrutaluri" userId="64414110dd31b24c" providerId="LiveId" clId="{26D76930-4EC3-420F-8F5B-19CE4E90D287}" dt="2026-03-25T15:09:46.159" v="39" actId="1076"/>
          <ac:spMkLst>
            <pc:docMk/>
            <pc:sldMk cId="1426245903" sldId="285"/>
            <ac:spMk id="3" creationId="{38175D99-3C6A-252F-1670-A6E945C244BF}"/>
          </ac:spMkLst>
        </pc:spChg>
      </pc:sldChg>
      <pc:sldChg chg="addSp delSp modSp mod">
        <pc:chgData name="Sai Abhiram Amrutaluri" userId="64414110dd31b24c" providerId="LiveId" clId="{26D76930-4EC3-420F-8F5B-19CE4E90D287}" dt="2026-03-25T15:14:50.840" v="144" actId="207"/>
        <pc:sldMkLst>
          <pc:docMk/>
          <pc:sldMk cId="4164469460" sldId="286"/>
        </pc:sldMkLst>
        <pc:spChg chg="del mod">
          <ac:chgData name="Sai Abhiram Amrutaluri" userId="64414110dd31b24c" providerId="LiveId" clId="{26D76930-4EC3-420F-8F5B-19CE4E90D287}" dt="2026-03-25T15:14:15.977" v="136" actId="21"/>
          <ac:spMkLst>
            <pc:docMk/>
            <pc:sldMk cId="4164469460" sldId="286"/>
            <ac:spMk id="3" creationId="{B7BCB5CD-F662-7491-D24A-0DACB0CFC041}"/>
          </ac:spMkLst>
        </pc:spChg>
        <pc:spChg chg="add del mod">
          <ac:chgData name="Sai Abhiram Amrutaluri" userId="64414110dd31b24c" providerId="LiveId" clId="{26D76930-4EC3-420F-8F5B-19CE4E90D287}" dt="2026-03-25T15:14:21.694" v="137" actId="21"/>
          <ac:spMkLst>
            <pc:docMk/>
            <pc:sldMk cId="4164469460" sldId="286"/>
            <ac:spMk id="5" creationId="{53C2EADE-D789-A1EE-9C64-8F530F44D0F0}"/>
          </ac:spMkLst>
        </pc:spChg>
        <pc:spChg chg="add mod">
          <ac:chgData name="Sai Abhiram Amrutaluri" userId="64414110dd31b24c" providerId="LiveId" clId="{26D76930-4EC3-420F-8F5B-19CE4E90D287}" dt="2026-03-25T15:14:50.840" v="144" actId="207"/>
          <ac:spMkLst>
            <pc:docMk/>
            <pc:sldMk cId="4164469460" sldId="286"/>
            <ac:spMk id="7" creationId="{12E909AD-1C8D-EC9E-6460-FA1196D649BA}"/>
          </ac:spMkLst>
        </pc:spChg>
      </pc:sldChg>
      <pc:sldChg chg="modSp mod">
        <pc:chgData name="Sai Abhiram Amrutaluri" userId="64414110dd31b24c" providerId="LiveId" clId="{26D76930-4EC3-420F-8F5B-19CE4E90D287}" dt="2026-03-25T15:18:24.031" v="258" actId="207"/>
        <pc:sldMkLst>
          <pc:docMk/>
          <pc:sldMk cId="3321107564" sldId="287"/>
        </pc:sldMkLst>
        <pc:spChg chg="mod">
          <ac:chgData name="Sai Abhiram Amrutaluri" userId="64414110dd31b24c" providerId="LiveId" clId="{26D76930-4EC3-420F-8F5B-19CE4E90D287}" dt="2026-03-25T15:18:24.031" v="258" actId="207"/>
          <ac:spMkLst>
            <pc:docMk/>
            <pc:sldMk cId="3321107564" sldId="287"/>
            <ac:spMk id="3" creationId="{E67D7107-F2E8-EF39-BF89-908B6F1E7C48}"/>
          </ac:spMkLst>
        </pc:spChg>
      </pc:sldChg>
      <pc:sldChg chg="modSp mod">
        <pc:chgData name="Sai Abhiram Amrutaluri" userId="64414110dd31b24c" providerId="LiveId" clId="{26D76930-4EC3-420F-8F5B-19CE4E90D287}" dt="2026-03-25T15:20:02.118" v="267" actId="1076"/>
        <pc:sldMkLst>
          <pc:docMk/>
          <pc:sldMk cId="2071131363" sldId="288"/>
        </pc:sldMkLst>
        <pc:spChg chg="mod">
          <ac:chgData name="Sai Abhiram Amrutaluri" userId="64414110dd31b24c" providerId="LiveId" clId="{26D76930-4EC3-420F-8F5B-19CE4E90D287}" dt="2026-03-25T15:20:02.118" v="267" actId="1076"/>
          <ac:spMkLst>
            <pc:docMk/>
            <pc:sldMk cId="2071131363" sldId="288"/>
            <ac:spMk id="3" creationId="{C06C8BEA-80A6-F443-CAA6-C2DB3E6274CB}"/>
          </ac:spMkLst>
        </pc:spChg>
      </pc:sldChg>
      <pc:sldChg chg="modSp mod">
        <pc:chgData name="Sai Abhiram Amrutaluri" userId="64414110dd31b24c" providerId="LiveId" clId="{26D76930-4EC3-420F-8F5B-19CE4E90D287}" dt="2026-03-25T15:23:01.824" v="289" actId="27636"/>
        <pc:sldMkLst>
          <pc:docMk/>
          <pc:sldMk cId="1618906484" sldId="289"/>
        </pc:sldMkLst>
        <pc:spChg chg="mod">
          <ac:chgData name="Sai Abhiram Amrutaluri" userId="64414110dd31b24c" providerId="LiveId" clId="{26D76930-4EC3-420F-8F5B-19CE4E90D287}" dt="2026-03-25T15:23:01.824" v="289" actId="27636"/>
          <ac:spMkLst>
            <pc:docMk/>
            <pc:sldMk cId="1618906484" sldId="289"/>
            <ac:spMk id="3" creationId="{C39A5226-01E7-E749-7996-917821C583B7}"/>
          </ac:spMkLst>
        </pc:spChg>
      </pc:sldChg>
      <pc:sldChg chg="modSp mod">
        <pc:chgData name="Sai Abhiram Amrutaluri" userId="64414110dd31b24c" providerId="LiveId" clId="{26D76930-4EC3-420F-8F5B-19CE4E90D287}" dt="2026-03-25T15:23:56.047" v="293" actId="207"/>
        <pc:sldMkLst>
          <pc:docMk/>
          <pc:sldMk cId="3408330627" sldId="290"/>
        </pc:sldMkLst>
        <pc:spChg chg="mod">
          <ac:chgData name="Sai Abhiram Amrutaluri" userId="64414110dd31b24c" providerId="LiveId" clId="{26D76930-4EC3-420F-8F5B-19CE4E90D287}" dt="2026-03-25T15:23:56.047" v="293" actId="207"/>
          <ac:spMkLst>
            <pc:docMk/>
            <pc:sldMk cId="3408330627" sldId="290"/>
            <ac:spMk id="3" creationId="{503926B3-A3FC-7687-9DEF-38613303658D}"/>
          </ac:spMkLst>
        </pc:spChg>
      </pc:sldChg>
      <pc:sldChg chg="modSp mod">
        <pc:chgData name="Sai Abhiram Amrutaluri" userId="64414110dd31b24c" providerId="LiveId" clId="{26D76930-4EC3-420F-8F5B-19CE4E90D287}" dt="2026-03-25T15:26:30.094" v="326" actId="207"/>
        <pc:sldMkLst>
          <pc:docMk/>
          <pc:sldMk cId="2994999034" sldId="291"/>
        </pc:sldMkLst>
        <pc:spChg chg="mod">
          <ac:chgData name="Sai Abhiram Amrutaluri" userId="64414110dd31b24c" providerId="LiveId" clId="{26D76930-4EC3-420F-8F5B-19CE4E90D287}" dt="2026-03-25T15:26:30.094" v="326" actId="207"/>
          <ac:spMkLst>
            <pc:docMk/>
            <pc:sldMk cId="2994999034" sldId="291"/>
            <ac:spMk id="3" creationId="{080C1CC3-9DB9-EE6E-134C-6FF56C1BFB53}"/>
          </ac:spMkLst>
        </pc:spChg>
      </pc:sldChg>
      <pc:sldChg chg="addSp delSp modSp mod">
        <pc:chgData name="Sai Abhiram Amrutaluri" userId="64414110dd31b24c" providerId="LiveId" clId="{26D76930-4EC3-420F-8F5B-19CE4E90D287}" dt="2026-03-25T16:13:20.242" v="425" actId="1076"/>
        <pc:sldMkLst>
          <pc:docMk/>
          <pc:sldMk cId="1445065339" sldId="293"/>
        </pc:sldMkLst>
        <pc:spChg chg="add del">
          <ac:chgData name="Sai Abhiram Amrutaluri" userId="64414110dd31b24c" providerId="LiveId" clId="{26D76930-4EC3-420F-8F5B-19CE4E90D287}" dt="2026-03-25T16:06:23.675" v="414" actId="21"/>
          <ac:spMkLst>
            <pc:docMk/>
            <pc:sldMk cId="1445065339" sldId="293"/>
            <ac:spMk id="3" creationId="{70B626F1-19A2-90E5-2E30-525F9725EDDF}"/>
          </ac:spMkLst>
        </pc:spChg>
        <pc:spChg chg="del">
          <ac:chgData name="Sai Abhiram Amrutaluri" userId="64414110dd31b24c" providerId="LiveId" clId="{26D76930-4EC3-420F-8F5B-19CE4E90D287}" dt="2026-03-25T15:50:58.574" v="410" actId="21"/>
          <ac:spMkLst>
            <pc:docMk/>
            <pc:sldMk cId="1445065339" sldId="293"/>
            <ac:spMk id="4" creationId="{BE593EF0-4FF8-BE13-38C7-22F1DE33F852}"/>
          </ac:spMkLst>
        </pc:spChg>
        <pc:picChg chg="del mod">
          <ac:chgData name="Sai Abhiram Amrutaluri" userId="64414110dd31b24c" providerId="LiveId" clId="{26D76930-4EC3-420F-8F5B-19CE4E90D287}" dt="2026-03-25T16:05:50.597" v="412" actId="478"/>
          <ac:picMkLst>
            <pc:docMk/>
            <pc:sldMk cId="1445065339" sldId="293"/>
            <ac:picMk id="5" creationId="{37DE1ADD-8C83-8319-0D48-3D231E3AB06D}"/>
          </ac:picMkLst>
        </pc:picChg>
        <pc:picChg chg="add del mod">
          <ac:chgData name="Sai Abhiram Amrutaluri" userId="64414110dd31b24c" providerId="LiveId" clId="{26D76930-4EC3-420F-8F5B-19CE4E90D287}" dt="2026-03-25T16:12:56.626" v="420" actId="478"/>
          <ac:picMkLst>
            <pc:docMk/>
            <pc:sldMk cId="1445065339" sldId="293"/>
            <ac:picMk id="7" creationId="{528605C0-F3D2-6258-3F5F-6FC1FF0B8A2C}"/>
          </ac:picMkLst>
        </pc:picChg>
        <pc:picChg chg="add mod">
          <ac:chgData name="Sai Abhiram Amrutaluri" userId="64414110dd31b24c" providerId="LiveId" clId="{26D76930-4EC3-420F-8F5B-19CE4E90D287}" dt="2026-03-25T16:13:20.242" v="425" actId="1076"/>
          <ac:picMkLst>
            <pc:docMk/>
            <pc:sldMk cId="1445065339" sldId="293"/>
            <ac:picMk id="9" creationId="{CFB94561-D916-3336-8DA3-2DD0CCF16B99}"/>
          </ac:picMkLst>
        </pc:picChg>
      </pc:sldChg>
      <pc:sldChg chg="addSp delSp modSp mod">
        <pc:chgData name="Sai Abhiram Amrutaluri" userId="64414110dd31b24c" providerId="LiveId" clId="{26D76930-4EC3-420F-8F5B-19CE4E90D287}" dt="2026-03-25T16:12:53.270" v="419"/>
        <pc:sldMkLst>
          <pc:docMk/>
          <pc:sldMk cId="2547450494" sldId="294"/>
        </pc:sldMkLst>
        <pc:picChg chg="add mod">
          <ac:chgData name="Sai Abhiram Amrutaluri" userId="64414110dd31b24c" providerId="LiveId" clId="{26D76930-4EC3-420F-8F5B-19CE4E90D287}" dt="2026-03-25T16:12:53.270" v="419"/>
          <ac:picMkLst>
            <pc:docMk/>
            <pc:sldMk cId="2547450494" sldId="294"/>
            <ac:picMk id="4" creationId="{2435E82D-89BE-74DE-E351-2FA57E5C0336}"/>
          </ac:picMkLst>
        </pc:picChg>
        <pc:picChg chg="del">
          <ac:chgData name="Sai Abhiram Amrutaluri" userId="64414110dd31b24c" providerId="LiveId" clId="{26D76930-4EC3-420F-8F5B-19CE4E90D287}" dt="2026-03-25T16:12:46.983" v="418" actId="478"/>
          <ac:picMkLst>
            <pc:docMk/>
            <pc:sldMk cId="2547450494" sldId="294"/>
            <ac:picMk id="6" creationId="{89F7AD52-08A2-F732-027E-7B486F052EF9}"/>
          </ac:picMkLst>
        </pc:picChg>
      </pc:sldChg>
      <pc:sldChg chg="addSp delSp modSp mod">
        <pc:chgData name="Sai Abhiram Amrutaluri" userId="64414110dd31b24c" providerId="LiveId" clId="{26D76930-4EC3-420F-8F5B-19CE4E90D287}" dt="2026-03-25T16:22:24.636" v="432" actId="1076"/>
        <pc:sldMkLst>
          <pc:docMk/>
          <pc:sldMk cId="2185265028" sldId="296"/>
        </pc:sldMkLst>
        <pc:spChg chg="del">
          <ac:chgData name="Sai Abhiram Amrutaluri" userId="64414110dd31b24c" providerId="LiveId" clId="{26D76930-4EC3-420F-8F5B-19CE4E90D287}" dt="2026-03-25T16:22:08.785" v="427" actId="21"/>
          <ac:spMkLst>
            <pc:docMk/>
            <pc:sldMk cId="2185265028" sldId="296"/>
            <ac:spMk id="3" creationId="{24F7CD92-4B9D-13AF-4079-A1B121EEB3BF}"/>
          </ac:spMkLst>
        </pc:spChg>
        <pc:picChg chg="del">
          <ac:chgData name="Sai Abhiram Amrutaluri" userId="64414110dd31b24c" providerId="LiveId" clId="{26D76930-4EC3-420F-8F5B-19CE4E90D287}" dt="2026-03-25T16:22:06.734" v="426" actId="21"/>
          <ac:picMkLst>
            <pc:docMk/>
            <pc:sldMk cId="2185265028" sldId="296"/>
            <ac:picMk id="5" creationId="{745B265D-DD54-C682-68A8-2EF06CC1FA67}"/>
          </ac:picMkLst>
        </pc:picChg>
        <pc:picChg chg="add mod">
          <ac:chgData name="Sai Abhiram Amrutaluri" userId="64414110dd31b24c" providerId="LiveId" clId="{26D76930-4EC3-420F-8F5B-19CE4E90D287}" dt="2026-03-25T16:22:24.636" v="432" actId="1076"/>
          <ac:picMkLst>
            <pc:docMk/>
            <pc:sldMk cId="2185265028" sldId="296"/>
            <ac:picMk id="6" creationId="{7E210E55-ABA7-8015-7CFD-A9E38D95D0BD}"/>
          </ac:picMkLst>
        </pc:picChg>
      </pc:sldChg>
      <pc:sldChg chg="modSp add mod">
        <pc:chgData name="Sai Abhiram Amrutaluri" userId="64414110dd31b24c" providerId="LiveId" clId="{26D76930-4EC3-420F-8F5B-19CE4E90D287}" dt="2026-03-25T15:37:30.964" v="391" actId="14734"/>
        <pc:sldMkLst>
          <pc:docMk/>
          <pc:sldMk cId="3268716494" sldId="298"/>
        </pc:sldMkLst>
        <pc:graphicFrameChg chg="modGraphic">
          <ac:chgData name="Sai Abhiram Amrutaluri" userId="64414110dd31b24c" providerId="LiveId" clId="{26D76930-4EC3-420F-8F5B-19CE4E90D287}" dt="2026-03-25T15:37:30.964" v="391" actId="14734"/>
          <ac:graphicFrameMkLst>
            <pc:docMk/>
            <pc:sldMk cId="3268716494" sldId="298"/>
            <ac:graphicFrameMk id="5" creationId="{9EA516BA-E233-0131-24BD-C2C4F896A5D9}"/>
          </ac:graphicFrameMkLst>
        </pc:graphicFrameChg>
      </pc:sldChg>
      <pc:sldChg chg="addSp delSp modSp add mod">
        <pc:chgData name="Sai Abhiram Amrutaluri" userId="64414110dd31b24c" providerId="LiveId" clId="{26D76930-4EC3-420F-8F5B-19CE4E90D287}" dt="2026-03-25T15:37:53.406" v="394" actId="14100"/>
        <pc:sldMkLst>
          <pc:docMk/>
          <pc:sldMk cId="644050964" sldId="299"/>
        </pc:sldMkLst>
        <pc:spChg chg="add del">
          <ac:chgData name="Sai Abhiram Amrutaluri" userId="64414110dd31b24c" providerId="LiveId" clId="{26D76930-4EC3-420F-8F5B-19CE4E90D287}" dt="2026-03-25T15:37:11.240" v="385" actId="11529"/>
          <ac:spMkLst>
            <pc:docMk/>
            <pc:sldMk cId="644050964" sldId="299"/>
            <ac:spMk id="4" creationId="{0F818F9D-8438-E505-8DCB-0674A89D34F6}"/>
          </ac:spMkLst>
        </pc:spChg>
        <pc:graphicFrameChg chg="add mod modGraphic">
          <ac:chgData name="Sai Abhiram Amrutaluri" userId="64414110dd31b24c" providerId="LiveId" clId="{26D76930-4EC3-420F-8F5B-19CE4E90D287}" dt="2026-03-25T15:37:53.406" v="394" actId="14100"/>
          <ac:graphicFrameMkLst>
            <pc:docMk/>
            <pc:sldMk cId="644050964" sldId="299"/>
            <ac:graphicFrameMk id="3" creationId="{2648CE44-496F-881A-4E1F-58BD98D26E62}"/>
          </ac:graphicFrameMkLst>
        </pc:graphicFrameChg>
        <pc:graphicFrameChg chg="del">
          <ac:chgData name="Sai Abhiram Amrutaluri" userId="64414110dd31b24c" providerId="LiveId" clId="{26D76930-4EC3-420F-8F5B-19CE4E90D287}" dt="2026-03-25T15:35:42.838" v="366" actId="21"/>
          <ac:graphicFrameMkLst>
            <pc:docMk/>
            <pc:sldMk cId="644050964" sldId="299"/>
            <ac:graphicFrameMk id="5" creationId="{1C544E63-E9B0-996E-1BE8-FA97BF3DDBC5}"/>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6490A-2B5A-4A78-88B4-B9069912938D}" type="datetimeFigureOut">
              <a:rPr lang="en-IN" smtClean="0"/>
              <a:t>25-03-2026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C21B1-72C9-48EC-AE48-8F81FCB3CC8F}" type="slidenum">
              <a:rPr lang="en-IN" smtClean="0"/>
              <a:t>‹#›</a:t>
            </a:fld>
            <a:endParaRPr lang="en-IN"/>
          </a:p>
        </p:txBody>
      </p:sp>
    </p:spTree>
    <p:extLst>
      <p:ext uri="{BB962C8B-B14F-4D97-AF65-F5344CB8AC3E}">
        <p14:creationId xmlns:p14="http://schemas.microsoft.com/office/powerpoint/2010/main" val="1330992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2DC21B1-72C9-48EC-AE48-8F81FCB3CC8F}" type="slidenum">
              <a:rPr lang="en-IN" smtClean="0"/>
              <a:t>13</a:t>
            </a:fld>
            <a:endParaRPr lang="en-IN"/>
          </a:p>
        </p:txBody>
      </p:sp>
    </p:spTree>
    <p:extLst>
      <p:ext uri="{BB962C8B-B14F-4D97-AF65-F5344CB8AC3E}">
        <p14:creationId xmlns:p14="http://schemas.microsoft.com/office/powerpoint/2010/main" val="2693323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FAAE8-0B39-A258-756E-41641F5F7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84E2B-E4EB-EC4C-76F9-4695053CD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2D922-77B3-DE01-01CE-E1E94AC1A1B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CA5BF1-01A8-BE13-7990-657B4B131109}"/>
              </a:ext>
            </a:extLst>
          </p:cNvPr>
          <p:cNvSpPr>
            <a:spLocks noGrp="1"/>
          </p:cNvSpPr>
          <p:nvPr>
            <p:ph type="sldNum" sz="quarter" idx="5"/>
          </p:nvPr>
        </p:nvSpPr>
        <p:spPr/>
        <p:txBody>
          <a:bodyPr/>
          <a:lstStyle/>
          <a:p>
            <a:fld id="{C2DC21B1-72C9-48EC-AE48-8F81FCB3CC8F}" type="slidenum">
              <a:rPr lang="en-IN" smtClean="0"/>
              <a:t>14</a:t>
            </a:fld>
            <a:endParaRPr lang="en-IN"/>
          </a:p>
        </p:txBody>
      </p:sp>
    </p:spTree>
    <p:extLst>
      <p:ext uri="{BB962C8B-B14F-4D97-AF65-F5344CB8AC3E}">
        <p14:creationId xmlns:p14="http://schemas.microsoft.com/office/powerpoint/2010/main" val="3403515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78CBF-6156-B9AD-CDAE-89B83F59D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01E53-49E6-30C9-21D4-13B9C01AB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92D97-C005-28DB-EAD4-E0F89E26801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AB37B2B-3A0B-4741-B262-8E6355E9E2F4}"/>
              </a:ext>
            </a:extLst>
          </p:cNvPr>
          <p:cNvSpPr>
            <a:spLocks noGrp="1"/>
          </p:cNvSpPr>
          <p:nvPr>
            <p:ph type="sldNum" sz="quarter" idx="5"/>
          </p:nvPr>
        </p:nvSpPr>
        <p:spPr/>
        <p:txBody>
          <a:bodyPr/>
          <a:lstStyle/>
          <a:p>
            <a:fld id="{C2DC21B1-72C9-48EC-AE48-8F81FCB3CC8F}" type="slidenum">
              <a:rPr lang="en-IN" smtClean="0"/>
              <a:t>15</a:t>
            </a:fld>
            <a:endParaRPr lang="en-IN"/>
          </a:p>
        </p:txBody>
      </p:sp>
    </p:spTree>
    <p:extLst>
      <p:ext uri="{BB962C8B-B14F-4D97-AF65-F5344CB8AC3E}">
        <p14:creationId xmlns:p14="http://schemas.microsoft.com/office/powerpoint/2010/main" val="2110571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3/25/2026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3/25/2026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3/25/2026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3/25/2026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3506" y="857643"/>
            <a:ext cx="8991600" cy="1645920"/>
          </a:xfrm>
        </p:spPr>
        <p:txBody>
          <a:bodyPr/>
          <a:lstStyle/>
          <a:p>
            <a:r>
              <a:rPr lang="en-US" dirty="0"/>
              <a:t>India Shield AI – Real-Time Disaster Intelligence System</a:t>
            </a:r>
            <a:endParaRPr lang="en-IN" dirty="0"/>
          </a:p>
        </p:txBody>
      </p:sp>
      <p:sp>
        <p:nvSpPr>
          <p:cNvPr id="3" name="Subtitle 2"/>
          <p:cNvSpPr>
            <a:spLocks noGrp="1"/>
          </p:cNvSpPr>
          <p:nvPr>
            <p:ph type="subTitle" idx="1"/>
          </p:nvPr>
        </p:nvSpPr>
        <p:spPr>
          <a:xfrm>
            <a:off x="3284376" y="2977295"/>
            <a:ext cx="5195394" cy="2634634"/>
          </a:xfrm>
        </p:spPr>
        <p:txBody>
          <a:bodyPr>
            <a:normAutofit/>
          </a:bodyPr>
          <a:lstStyle/>
          <a:p>
            <a:r>
              <a:rPr lang="en-US" b="1" u="sng" dirty="0">
                <a:solidFill>
                  <a:schemeClr val="tx1">
                    <a:lumMod val="95000"/>
                  </a:schemeClr>
                </a:solidFill>
              </a:rPr>
              <a:t>MENTOR:</a:t>
            </a:r>
            <a:r>
              <a:rPr lang="en-US" dirty="0">
                <a:solidFill>
                  <a:schemeClr val="tx1">
                    <a:lumMod val="95000"/>
                  </a:schemeClr>
                </a:solidFill>
              </a:rPr>
              <a:t> Dr N. Shirisha</a:t>
            </a:r>
            <a:r>
              <a:rPr lang="en-IN" altLang="en-US" dirty="0">
                <a:solidFill>
                  <a:schemeClr val="tx1">
                    <a:lumMod val="95000"/>
                  </a:schemeClr>
                </a:solidFill>
              </a:rPr>
              <a:t>,  </a:t>
            </a:r>
            <a:r>
              <a:rPr lang="en-IN" altLang="en-US" dirty="0" err="1">
                <a:solidFill>
                  <a:schemeClr val="tx1">
                    <a:lumMod val="95000"/>
                  </a:schemeClr>
                </a:solidFill>
              </a:rPr>
              <a:t>Assoc.Prof</a:t>
            </a:r>
            <a:r>
              <a:rPr lang="en-IN" altLang="en-US" dirty="0">
                <a:solidFill>
                  <a:schemeClr val="tx1">
                    <a:lumMod val="95000"/>
                  </a:schemeClr>
                </a:solidFill>
              </a:rPr>
              <a:t>.</a:t>
            </a:r>
            <a:endParaRPr lang="en-US" dirty="0">
              <a:solidFill>
                <a:schemeClr val="tx1">
                  <a:lumMod val="95000"/>
                </a:schemeClr>
              </a:solidFill>
            </a:endParaRPr>
          </a:p>
          <a:p>
            <a:r>
              <a:rPr lang="en-US" b="1" u="sng" dirty="0">
                <a:solidFill>
                  <a:schemeClr val="tx1">
                    <a:lumMod val="95000"/>
                  </a:schemeClr>
                </a:solidFill>
              </a:rPr>
              <a:t>BATCH NO:</a:t>
            </a:r>
            <a:r>
              <a:rPr lang="en-US" b="1" dirty="0">
                <a:solidFill>
                  <a:schemeClr val="tx1">
                    <a:lumMod val="95000"/>
                  </a:schemeClr>
                </a:solidFill>
              </a:rPr>
              <a:t> 16</a:t>
            </a:r>
            <a:endParaRPr lang="en-US" dirty="0">
              <a:solidFill>
                <a:schemeClr val="tx1">
                  <a:lumMod val="95000"/>
                </a:schemeClr>
              </a:solidFill>
            </a:endParaRPr>
          </a:p>
          <a:p>
            <a:r>
              <a:rPr lang="en-US" b="1" u="sng" dirty="0">
                <a:solidFill>
                  <a:schemeClr val="tx1">
                    <a:lumMod val="95000"/>
                  </a:schemeClr>
                </a:solidFill>
              </a:rPr>
              <a:t>TEAM MEMBERS:</a:t>
            </a:r>
          </a:p>
          <a:p>
            <a:r>
              <a:rPr lang="en-US" dirty="0">
                <a:solidFill>
                  <a:schemeClr val="tx1">
                    <a:lumMod val="95000"/>
                  </a:schemeClr>
                </a:solidFill>
              </a:rPr>
              <a:t>2320030077 – A. Abhiram</a:t>
            </a:r>
          </a:p>
          <a:p>
            <a:r>
              <a:rPr lang="en-US" dirty="0">
                <a:solidFill>
                  <a:schemeClr val="tx1">
                    <a:lumMod val="95000"/>
                  </a:schemeClr>
                </a:solidFill>
              </a:rPr>
              <a:t>2320030110 – P. Prajwal</a:t>
            </a:r>
          </a:p>
          <a:p>
            <a:r>
              <a:rPr lang="en-US" dirty="0">
                <a:solidFill>
                  <a:schemeClr val="tx1">
                    <a:lumMod val="95000"/>
                  </a:schemeClr>
                </a:solidFill>
              </a:rPr>
              <a:t>2320030459 – N. </a:t>
            </a:r>
            <a:r>
              <a:rPr lang="en-US">
                <a:solidFill>
                  <a:schemeClr val="tx1">
                    <a:lumMod val="95000"/>
                  </a:schemeClr>
                </a:solidFill>
              </a:rPr>
              <a:t>Nandini</a:t>
            </a:r>
            <a:endParaRPr lang="en-US" dirty="0">
              <a:solidFill>
                <a:schemeClr val="tx1">
                  <a:lumMod val="95000"/>
                </a:schemeClr>
              </a:solidFill>
            </a:endParaRPr>
          </a:p>
          <a:p>
            <a:endParaRPr lang="en-IN" dirty="0"/>
          </a:p>
        </p:txBody>
      </p:sp>
      <p:sp>
        <p:nvSpPr>
          <p:cNvPr id="4" name="Text Box 3"/>
          <p:cNvSpPr txBox="1"/>
          <p:nvPr/>
        </p:nvSpPr>
        <p:spPr>
          <a:xfrm>
            <a:off x="7329805" y="3035300"/>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3948" y="1093617"/>
            <a:ext cx="9724103" cy="912163"/>
          </a:xfrm>
        </p:spPr>
        <p:txBody>
          <a:bodyPr>
            <a:normAutofit/>
          </a:bodyPr>
          <a:lstStyle/>
          <a:p>
            <a:r>
              <a:rPr lang="en-US" dirty="0"/>
              <a:t>Table of contents</a:t>
            </a:r>
            <a:endParaRPr lang="en-IN" dirty="0"/>
          </a:p>
        </p:txBody>
      </p:sp>
      <p:sp>
        <p:nvSpPr>
          <p:cNvPr id="3" name="Subtitle 2"/>
          <p:cNvSpPr>
            <a:spLocks noGrp="1"/>
          </p:cNvSpPr>
          <p:nvPr>
            <p:ph type="subTitle" idx="1"/>
          </p:nvPr>
        </p:nvSpPr>
        <p:spPr>
          <a:xfrm>
            <a:off x="1233948" y="2269067"/>
            <a:ext cx="8021813" cy="4233333"/>
          </a:xfrm>
        </p:spPr>
        <p:txBody>
          <a:bodyPr>
            <a:normAutofit fontScale="92500" lnSpcReduction="20000"/>
          </a:bodyPr>
          <a:lstStyle/>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EXISTING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PROPOSED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OBJECTIVES</a:t>
            </a:r>
            <a:endParaRPr lang="en-US"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LITERATURE SURVEY</a:t>
            </a: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SOFTWARE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HARDWARE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NON – 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SYSTEM ARCHITECTURE</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UML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ACTIVITY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MODULE DESIGN</a:t>
            </a: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2200" b="1"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l">
              <a:buClrTx/>
              <a:buFont typeface="Wingdings" panose="05000000000000000000" pitchFamily="2" charset="2"/>
              <a:buChar char="§"/>
            </a:pPr>
            <a:endParaRPr lang="en-IN" dirty="0">
              <a:solidFill>
                <a:schemeClr val="accent6">
                  <a:lumMod val="50000"/>
                </a:schemeClr>
              </a:solidFill>
            </a:endParaRPr>
          </a:p>
          <a:p>
            <a:pPr marL="342900" indent="-342900" algn="l">
              <a:buClrTx/>
              <a:buFont typeface="Wingdings" panose="05000000000000000000" pitchFamily="2" charset="2"/>
              <a:buChar char="§"/>
            </a:pPr>
            <a:endParaRPr lang="en-IN" dirty="0">
              <a:solidFill>
                <a:schemeClr val="accent6">
                  <a:lumMod val="50000"/>
                </a:schemeClr>
              </a:solidFill>
            </a:endParaRPr>
          </a:p>
        </p:txBody>
      </p:sp>
    </p:spTree>
    <p:extLst>
      <p:ext uri="{BB962C8B-B14F-4D97-AF65-F5344CB8AC3E}">
        <p14:creationId xmlns:p14="http://schemas.microsoft.com/office/powerpoint/2010/main" val="421461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18D3-8A6B-71F7-8E6D-6E17F8CBA0C1}"/>
              </a:ext>
            </a:extLst>
          </p:cNvPr>
          <p:cNvSpPr>
            <a:spLocks noGrp="1"/>
          </p:cNvSpPr>
          <p:nvPr>
            <p:ph type="ctrTitle"/>
          </p:nvPr>
        </p:nvSpPr>
        <p:spPr>
          <a:xfrm>
            <a:off x="1600200" y="442602"/>
            <a:ext cx="8991600" cy="1645920"/>
          </a:xfrm>
        </p:spPr>
        <p:txBody>
          <a:bodyPr>
            <a:normAutofit/>
          </a:bodyPr>
          <a:lstStyle/>
          <a:p>
            <a:r>
              <a:rPr lang="en-IN" sz="3200" dirty="0"/>
              <a:t>Review – 2 comments addressed</a:t>
            </a:r>
          </a:p>
        </p:txBody>
      </p:sp>
      <p:sp>
        <p:nvSpPr>
          <p:cNvPr id="3" name="Subtitle 2">
            <a:extLst>
              <a:ext uri="{FF2B5EF4-FFF2-40B4-BE49-F238E27FC236}">
                <a16:creationId xmlns:a16="http://schemas.microsoft.com/office/drawing/2014/main" id="{38175D99-3C6A-252F-1670-A6E945C244BF}"/>
              </a:ext>
            </a:extLst>
          </p:cNvPr>
          <p:cNvSpPr>
            <a:spLocks noGrp="1"/>
          </p:cNvSpPr>
          <p:nvPr>
            <p:ph type="subTitle" idx="1"/>
          </p:nvPr>
        </p:nvSpPr>
        <p:spPr>
          <a:xfrm>
            <a:off x="1506747" y="2548695"/>
            <a:ext cx="9178506" cy="2314400"/>
          </a:xfrm>
        </p:spPr>
        <p:txBody>
          <a:bodyPr>
            <a:normAutofit/>
          </a:bodyPr>
          <a:lstStyle/>
          <a:p>
            <a:r>
              <a:rPr lang="en-US" sz="2800" dirty="0"/>
              <a:t>Modules of the project are clearly defined </a:t>
            </a:r>
          </a:p>
          <a:p>
            <a:r>
              <a:rPr lang="en-US" sz="2800" dirty="0"/>
              <a:t>Tools and requirements are finalized </a:t>
            </a:r>
          </a:p>
          <a:p>
            <a:r>
              <a:rPr lang="en-US" sz="2800" dirty="0"/>
              <a:t>Real-time pipeline implemented </a:t>
            </a:r>
          </a:p>
          <a:p>
            <a:r>
              <a:rPr lang="en-US" sz="2800" dirty="0"/>
              <a:t>ML model integrated for prediction </a:t>
            </a:r>
          </a:p>
          <a:p>
            <a:endParaRPr lang="en-IN" sz="2800" dirty="0"/>
          </a:p>
        </p:txBody>
      </p:sp>
    </p:spTree>
    <p:extLst>
      <p:ext uri="{BB962C8B-B14F-4D97-AF65-F5344CB8AC3E}">
        <p14:creationId xmlns:p14="http://schemas.microsoft.com/office/powerpoint/2010/main" val="142624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5" name="Title 1"/>
          <p:cNvSpPr>
            <a:spLocks noGrp="1"/>
          </p:cNvSpPr>
          <p:nvPr>
            <p:ph idx="1"/>
          </p:nvPr>
        </p:nvSpPr>
        <p:spPr>
          <a:xfrm>
            <a:off x="6322142" y="218767"/>
            <a:ext cx="5692877" cy="6420465"/>
          </a:xfrm>
          <a:noFill/>
          <a:ln w="38100">
            <a:solidFill>
              <a:srgbClr val="404040">
                <a:alpha val="57000"/>
              </a:srgbClr>
            </a:solidFill>
          </a:ln>
        </p:spPr>
        <p:txBody>
          <a:bodyPr>
            <a:normAutofit fontScale="92500" lnSpcReduction="10000"/>
          </a:bodyPr>
          <a:lstStyle/>
          <a:p>
            <a:pPr marL="0" indent="0">
              <a:buNone/>
            </a:pP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r>
              <a:rPr lang="en-US" sz="1800" dirty="0"/>
              <a:t>India Shield AI is a real-time disaster intelligence system designed to detect, analyze, and predict disasters using advanced data processing and machine learning techniques. In traditional disaster management systems, there is a significant delay in detecting and responding to disasters due to lack of real-time data integration and predictive capabilities, and these systems are often unable to handle large volumes of data from multiple sources and fail to provide timely insights for decision-making. Our project addresses these limitations by integrating real-time data streams from various sources such as social media (Twitter), weather APIs, news feeds, and IoT sensors, and by using Apache Kafka and Apache Spark to process high-velocity streaming data efficiently. Machine learning models are applied to predict disaster severity based on multiple features such as location, environmental conditions, and textual analysis. The system continuously monitors incoming data and updates predictions without interrupting the existing workflow, while the processed data is stored in distributed storage (HDFS) and visualized through an interactive dashboard built using React, enabling users to track disasters in real-time. Automated alert mechanisms such as notifications and messages help authorities respond quickly. Our main goal is to develop a scalable, reliable, and efficient disaster management system that enhances real-time decision-making and improves emergency response through intelligent automation and predictive analytics.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442602"/>
            <a:ext cx="8991600" cy="1403451"/>
          </a:xfrm>
        </p:spPr>
        <p:txBody>
          <a:bodyPr/>
          <a:lstStyle/>
          <a:p>
            <a:r>
              <a:rPr lang="en-IN" dirty="0"/>
              <a:t>Introduction</a:t>
            </a:r>
          </a:p>
        </p:txBody>
      </p:sp>
      <p:sp>
        <p:nvSpPr>
          <p:cNvPr id="7" name="TextBox 6">
            <a:extLst>
              <a:ext uri="{FF2B5EF4-FFF2-40B4-BE49-F238E27FC236}">
                <a16:creationId xmlns:a16="http://schemas.microsoft.com/office/drawing/2014/main" id="{12E909AD-1C8D-EC9E-6460-FA1196D649BA}"/>
              </a:ext>
            </a:extLst>
          </p:cNvPr>
          <p:cNvSpPr txBox="1"/>
          <p:nvPr/>
        </p:nvSpPr>
        <p:spPr>
          <a:xfrm>
            <a:off x="790240" y="2015929"/>
            <a:ext cx="11031645" cy="3785652"/>
          </a:xfrm>
          <a:prstGeom prst="rect">
            <a:avLst/>
          </a:prstGeom>
          <a:noFill/>
        </p:spPr>
        <p:txBody>
          <a:bodyPr wrap="square">
            <a:spAutoFit/>
          </a:bodyPr>
          <a:lstStyle/>
          <a:p>
            <a:pPr>
              <a:buNone/>
            </a:pPr>
            <a:r>
              <a:rPr lang="en-US" sz="2000" b="1" dirty="0">
                <a:solidFill>
                  <a:schemeClr val="bg1"/>
                </a:solidFill>
              </a:rPr>
              <a:t>India Shield AI</a:t>
            </a:r>
            <a:r>
              <a:rPr lang="en-US" sz="2000" dirty="0">
                <a:solidFill>
                  <a:schemeClr val="bg1"/>
                </a:solidFill>
              </a:rPr>
              <a:t> – India Shield AI is a real-time disaster intelligence system that aims to detect, analyze, and predict disasters using big data and machine learning technologies in a reliable and efficient manner.</a:t>
            </a:r>
          </a:p>
          <a:p>
            <a:pPr>
              <a:buNone/>
            </a:pPr>
            <a:r>
              <a:rPr lang="en-US" sz="2000" b="1" dirty="0">
                <a:solidFill>
                  <a:schemeClr val="bg1"/>
                </a:solidFill>
              </a:rPr>
              <a:t>Data Pipeline</a:t>
            </a:r>
            <a:r>
              <a:rPr lang="en-US" sz="2000" dirty="0">
                <a:solidFill>
                  <a:schemeClr val="bg1"/>
                </a:solidFill>
              </a:rPr>
              <a:t> – It automates the data processing workflow by collecting data from multiple sources and transforming it into meaningful insights that can be analyzed for disaster detection and prediction.</a:t>
            </a:r>
          </a:p>
          <a:p>
            <a:pPr>
              <a:buNone/>
            </a:pPr>
            <a:r>
              <a:rPr lang="en-US" sz="2000" b="1" dirty="0">
                <a:solidFill>
                  <a:schemeClr val="bg1"/>
                </a:solidFill>
              </a:rPr>
              <a:t>India Shield AI is used for:</a:t>
            </a:r>
            <a:endParaRPr lang="en-US" sz="2000" dirty="0">
              <a:solidFill>
                <a:schemeClr val="bg1"/>
              </a:solidFill>
            </a:endParaRPr>
          </a:p>
          <a:p>
            <a:pPr>
              <a:buFont typeface="+mj-lt"/>
              <a:buAutoNum type="arabicPeriod"/>
            </a:pPr>
            <a:r>
              <a:rPr lang="en-US" sz="2000" dirty="0">
                <a:solidFill>
                  <a:schemeClr val="bg1"/>
                </a:solidFill>
              </a:rPr>
              <a:t>Real-time disaster detection from multiple data sources </a:t>
            </a:r>
          </a:p>
          <a:p>
            <a:pPr>
              <a:buFont typeface="+mj-lt"/>
              <a:buAutoNum type="arabicPeriod"/>
            </a:pPr>
            <a:r>
              <a:rPr lang="en-US" sz="2000" dirty="0">
                <a:solidFill>
                  <a:schemeClr val="bg1"/>
                </a:solidFill>
              </a:rPr>
              <a:t>Processing high-volume streaming data using Kafka and Spark </a:t>
            </a:r>
          </a:p>
          <a:p>
            <a:pPr>
              <a:buFont typeface="+mj-lt"/>
              <a:buAutoNum type="arabicPeriod"/>
            </a:pPr>
            <a:r>
              <a:rPr lang="en-US" sz="2000" dirty="0">
                <a:solidFill>
                  <a:schemeClr val="bg1"/>
                </a:solidFill>
              </a:rPr>
              <a:t>Predicting disaster severity using machine learning models </a:t>
            </a:r>
          </a:p>
          <a:p>
            <a:pPr>
              <a:buFont typeface="+mj-lt"/>
              <a:buAutoNum type="arabicPeriod"/>
            </a:pPr>
            <a:r>
              <a:rPr lang="en-US" sz="2000" dirty="0">
                <a:solidFill>
                  <a:schemeClr val="bg1"/>
                </a:solidFill>
              </a:rPr>
              <a:t>Visualizing disasters on interactive dashboards </a:t>
            </a:r>
          </a:p>
          <a:p>
            <a:pPr>
              <a:buFont typeface="+mj-lt"/>
              <a:buAutoNum type="arabicPeriod"/>
            </a:pPr>
            <a:r>
              <a:rPr lang="en-US" sz="2000" dirty="0">
                <a:solidFill>
                  <a:schemeClr val="bg1"/>
                </a:solidFill>
              </a:rPr>
              <a:t>Sending automated alerts to authorities </a:t>
            </a:r>
          </a:p>
          <a:p>
            <a:pPr>
              <a:buFont typeface="+mj-lt"/>
              <a:buAutoNum type="arabicPeriod"/>
            </a:pPr>
            <a:r>
              <a:rPr lang="en-US" sz="2000" dirty="0">
                <a:solidFill>
                  <a:schemeClr val="bg1"/>
                </a:solidFill>
              </a:rPr>
              <a:t>Monitoring system performance and data flow </a:t>
            </a:r>
          </a:p>
          <a:p>
            <a:pPr>
              <a:buFont typeface="+mj-lt"/>
              <a:buAutoNum type="arabicPeriod"/>
            </a:pPr>
            <a:r>
              <a:rPr lang="en-US" sz="2000" dirty="0">
                <a:solidFill>
                  <a:schemeClr val="bg1"/>
                </a:solidFill>
              </a:rPr>
              <a:t>Supporting faster decision-making in emergency situations </a:t>
            </a:r>
          </a:p>
        </p:txBody>
      </p:sp>
    </p:spTree>
    <p:extLst>
      <p:ext uri="{BB962C8B-B14F-4D97-AF65-F5344CB8AC3E}">
        <p14:creationId xmlns:p14="http://schemas.microsoft.com/office/powerpoint/2010/main" val="416446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Existing system</a:t>
            </a:r>
            <a:endParaRPr lang="en-IN" dirty="0"/>
          </a:p>
        </p:txBody>
      </p:sp>
      <p:sp>
        <p:nvSpPr>
          <p:cNvPr id="5" name="Subtitle 4"/>
          <p:cNvSpPr>
            <a:spLocks noGrp="1"/>
          </p:cNvSpPr>
          <p:nvPr>
            <p:ph type="subTitle" idx="1"/>
          </p:nvPr>
        </p:nvSpPr>
        <p:spPr>
          <a:xfrm>
            <a:off x="373627" y="1887795"/>
            <a:ext cx="5584722" cy="4139379"/>
          </a:xfrm>
        </p:spPr>
        <p:txBody>
          <a:bodyPr>
            <a:normAutofit fontScale="92500" lnSpcReduction="20000"/>
          </a:bodyPr>
          <a:lstStyle/>
          <a:p>
            <a:pPr algn="l"/>
            <a:r>
              <a:rPr lang="en-US" dirty="0">
                <a:solidFill>
                  <a:schemeClr val="bg1"/>
                </a:solidFill>
              </a:rPr>
              <a:t>Considering the Traditional Disaster Management Systems</a:t>
            </a:r>
          </a:p>
          <a:p>
            <a:pPr algn="l"/>
            <a:r>
              <a:rPr lang="en-US" dirty="0">
                <a:solidFill>
                  <a:schemeClr val="bg1"/>
                </a:solidFill>
              </a:rPr>
              <a:t>▪ In traditional disaster management, the process relies on manual reporting, news updates, and limited monitoring systems, which leads to delays in detecting disasters and responding effectively.</a:t>
            </a:r>
          </a:p>
          <a:p>
            <a:pPr algn="l"/>
            <a:r>
              <a:rPr lang="en-US" dirty="0">
                <a:solidFill>
                  <a:schemeClr val="bg1"/>
                </a:solidFill>
              </a:rPr>
              <a:t>▪ There is no proper integration of multiple data sources such as social media, weather data, and sensor inputs, making it difficult to analyze real-time situations accurately.</a:t>
            </a:r>
          </a:p>
          <a:p>
            <a:pPr algn="l"/>
            <a:r>
              <a:rPr lang="en-US" dirty="0">
                <a:solidFill>
                  <a:schemeClr val="bg1"/>
                </a:solidFill>
              </a:rPr>
              <a:t>▪ Later on, to overcome these limitations, some systems started using basic data analysis and monitoring tools, but they still lack real-time processing and predictive capabilities for disaster severity.</a:t>
            </a:r>
          </a:p>
          <a:p>
            <a:pPr algn="l"/>
            <a:endParaRPr lang="en-IN" dirty="0">
              <a:solidFill>
                <a:schemeClr val="bg1"/>
              </a:solidFill>
            </a:endParaRPr>
          </a:p>
        </p:txBody>
      </p:sp>
      <p:pic>
        <p:nvPicPr>
          <p:cNvPr id="11" name="Picture 10"/>
          <p:cNvPicPr>
            <a:picLocks noChangeAspect="1"/>
          </p:cNvPicPr>
          <p:nvPr/>
        </p:nvPicPr>
        <p:blipFill>
          <a:blip r:embed="rId2"/>
          <a:stretch>
            <a:fillRect/>
          </a:stretch>
        </p:blipFill>
        <p:spPr>
          <a:xfrm>
            <a:off x="7039896" y="1887795"/>
            <a:ext cx="4857135" cy="39580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4E86-3711-92D3-C228-F7B51ED7B5C5}"/>
              </a:ext>
            </a:extLst>
          </p:cNvPr>
          <p:cNvSpPr>
            <a:spLocks noGrp="1"/>
          </p:cNvSpPr>
          <p:nvPr>
            <p:ph type="ctrTitle"/>
          </p:nvPr>
        </p:nvSpPr>
        <p:spPr>
          <a:xfrm>
            <a:off x="1306902" y="540691"/>
            <a:ext cx="8991600" cy="1305362"/>
          </a:xfrm>
        </p:spPr>
        <p:txBody>
          <a:bodyPr/>
          <a:lstStyle/>
          <a:p>
            <a:r>
              <a:rPr lang="en-IN" dirty="0"/>
              <a:t>Proposed system</a:t>
            </a:r>
          </a:p>
        </p:txBody>
      </p:sp>
      <p:sp>
        <p:nvSpPr>
          <p:cNvPr id="3" name="Subtitle 2">
            <a:extLst>
              <a:ext uri="{FF2B5EF4-FFF2-40B4-BE49-F238E27FC236}">
                <a16:creationId xmlns:a16="http://schemas.microsoft.com/office/drawing/2014/main" id="{E67D7107-F2E8-EF39-BF89-908B6F1E7C48}"/>
              </a:ext>
            </a:extLst>
          </p:cNvPr>
          <p:cNvSpPr>
            <a:spLocks noGrp="1"/>
          </p:cNvSpPr>
          <p:nvPr>
            <p:ph type="subTitle" idx="1"/>
          </p:nvPr>
        </p:nvSpPr>
        <p:spPr>
          <a:xfrm>
            <a:off x="1117599" y="2133600"/>
            <a:ext cx="9050867" cy="3911600"/>
          </a:xfrm>
        </p:spPr>
        <p:txBody>
          <a:bodyPr>
            <a:normAutofit lnSpcReduction="10000"/>
          </a:bodyPr>
          <a:lstStyle/>
          <a:p>
            <a:pPr algn="l"/>
            <a:r>
              <a:rPr lang="en-US" dirty="0">
                <a:solidFill>
                  <a:schemeClr val="bg1"/>
                </a:solidFill>
              </a:rPr>
              <a:t>Our goal is to build a scalable and efficient real-time disaster intelligence system that enables fast detection, analysis, and prediction of disasters using big data and machine learning technologies. The main purpose is to continuously collect and process data from multiple sources such as social media, weather APIs, news feeds, and IoT sensors to provide real-time insights. We are using Apache Kafka and Apache Spark to automate the data pipeline and handle high-volume streaming data efficiently. Machine learning models are applied to predict the severity of disasters based on various factors such as location, environmental conditions, and textual analysis. The processed data is stored in distributed systems like HDFS and visualized through an interactive dashboard for better monitoring. This system improves response time, reduces manual effort, and supports better decision-making. The proposed solution ensures high scalability, reliability, and accuracy, and helps authorities take quick actions during emergency situations.</a:t>
            </a:r>
            <a:endParaRPr lang="en-IN" dirty="0">
              <a:solidFill>
                <a:schemeClr val="bg1"/>
              </a:solidFill>
            </a:endParaRPr>
          </a:p>
        </p:txBody>
      </p:sp>
    </p:spTree>
    <p:extLst>
      <p:ext uri="{BB962C8B-B14F-4D97-AF65-F5344CB8AC3E}">
        <p14:creationId xmlns:p14="http://schemas.microsoft.com/office/powerpoint/2010/main" val="3321107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F80C-B9DB-29BB-E52D-C17D80EB2337}"/>
              </a:ext>
            </a:extLst>
          </p:cNvPr>
          <p:cNvSpPr>
            <a:spLocks noGrp="1"/>
          </p:cNvSpPr>
          <p:nvPr>
            <p:ph type="ctrTitle"/>
          </p:nvPr>
        </p:nvSpPr>
        <p:spPr>
          <a:xfrm>
            <a:off x="1600200" y="416378"/>
            <a:ext cx="8991600" cy="1239894"/>
          </a:xfrm>
        </p:spPr>
        <p:txBody>
          <a:bodyPr/>
          <a:lstStyle/>
          <a:p>
            <a:r>
              <a:rPr lang="en-IN" dirty="0"/>
              <a:t>Objectives</a:t>
            </a:r>
          </a:p>
        </p:txBody>
      </p:sp>
      <p:sp>
        <p:nvSpPr>
          <p:cNvPr id="3" name="Subtitle 2">
            <a:extLst>
              <a:ext uri="{FF2B5EF4-FFF2-40B4-BE49-F238E27FC236}">
                <a16:creationId xmlns:a16="http://schemas.microsoft.com/office/drawing/2014/main" id="{C06C8BEA-80A6-F443-CAA6-C2DB3E6274CB}"/>
              </a:ext>
            </a:extLst>
          </p:cNvPr>
          <p:cNvSpPr>
            <a:spLocks noGrp="1"/>
          </p:cNvSpPr>
          <p:nvPr>
            <p:ph type="subTitle" idx="1"/>
          </p:nvPr>
        </p:nvSpPr>
        <p:spPr>
          <a:xfrm>
            <a:off x="1600200" y="2260217"/>
            <a:ext cx="9122229" cy="3226182"/>
          </a:xfrm>
        </p:spPr>
        <p:txBody>
          <a:bodyPr>
            <a:normAutofit fontScale="92500" lnSpcReduction="20000"/>
          </a:bodyPr>
          <a:lstStyle/>
          <a:p>
            <a:pPr algn="l"/>
            <a:r>
              <a:rPr lang="en-US" sz="2400" dirty="0">
                <a:solidFill>
                  <a:schemeClr val="bg1"/>
                </a:solidFill>
              </a:rPr>
              <a:t>The objectives of the proposed system include the following:-</a:t>
            </a:r>
          </a:p>
          <a:p>
            <a:pPr algn="l"/>
            <a:r>
              <a:rPr lang="en-US" sz="2400" dirty="0">
                <a:solidFill>
                  <a:schemeClr val="bg1"/>
                </a:solidFill>
              </a:rPr>
              <a:t>To detect disasters in real-time from multiple data sources </a:t>
            </a:r>
          </a:p>
          <a:p>
            <a:pPr algn="l"/>
            <a:r>
              <a:rPr lang="en-US" sz="2400" dirty="0">
                <a:solidFill>
                  <a:schemeClr val="bg1"/>
                </a:solidFill>
              </a:rPr>
              <a:t>To process and analyze large-scale streaming data efficiently </a:t>
            </a:r>
          </a:p>
          <a:p>
            <a:pPr algn="l"/>
            <a:r>
              <a:rPr lang="en-US" sz="2400" dirty="0">
                <a:solidFill>
                  <a:schemeClr val="bg1"/>
                </a:solidFill>
              </a:rPr>
              <a:t>To predict disaster severity using machine learning models </a:t>
            </a:r>
          </a:p>
          <a:p>
            <a:pPr algn="l"/>
            <a:r>
              <a:rPr lang="en-US" sz="2400" dirty="0">
                <a:solidFill>
                  <a:schemeClr val="bg1"/>
                </a:solidFill>
              </a:rPr>
              <a:t>To provide accurate and timely alerts to authorities </a:t>
            </a:r>
          </a:p>
          <a:p>
            <a:pPr algn="l"/>
            <a:r>
              <a:rPr lang="en-US" sz="2400" dirty="0">
                <a:solidFill>
                  <a:schemeClr val="bg1"/>
                </a:solidFill>
              </a:rPr>
              <a:t>To visualize disaster events through an interactive dashboard </a:t>
            </a:r>
          </a:p>
          <a:p>
            <a:pPr algn="l"/>
            <a:r>
              <a:rPr lang="en-US" sz="2400" dirty="0">
                <a:solidFill>
                  <a:schemeClr val="bg1"/>
                </a:solidFill>
              </a:rPr>
              <a:t>To improve response time in emergency situations </a:t>
            </a:r>
          </a:p>
          <a:p>
            <a:pPr algn="l"/>
            <a:r>
              <a:rPr lang="en-US" sz="2400" dirty="0">
                <a:solidFill>
                  <a:schemeClr val="bg1"/>
                </a:solidFill>
              </a:rPr>
              <a:t>To ensure system scalability, reliability, and performance</a:t>
            </a:r>
          </a:p>
          <a:p>
            <a:pPr algn="l"/>
            <a:endParaRPr lang="en-IN" sz="2400" dirty="0">
              <a:solidFill>
                <a:schemeClr val="bg1"/>
              </a:solidFill>
            </a:endParaRPr>
          </a:p>
        </p:txBody>
      </p:sp>
    </p:spTree>
    <p:extLst>
      <p:ext uri="{BB962C8B-B14F-4D97-AF65-F5344CB8AC3E}">
        <p14:creationId xmlns:p14="http://schemas.microsoft.com/office/powerpoint/2010/main" val="2071131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161B-F867-2E5A-880D-35118E6E95E7}"/>
              </a:ext>
            </a:extLst>
          </p:cNvPr>
          <p:cNvSpPr>
            <a:spLocks noGrp="1"/>
          </p:cNvSpPr>
          <p:nvPr>
            <p:ph type="ctrTitle"/>
          </p:nvPr>
        </p:nvSpPr>
        <p:spPr>
          <a:xfrm>
            <a:off x="1600200" y="405441"/>
            <a:ext cx="8991600" cy="1239893"/>
          </a:xfrm>
        </p:spPr>
        <p:txBody>
          <a:bodyPr/>
          <a:lstStyle/>
          <a:p>
            <a:r>
              <a:rPr lang="en-IN" dirty="0"/>
              <a:t>Software requirements</a:t>
            </a:r>
          </a:p>
        </p:txBody>
      </p:sp>
      <p:sp>
        <p:nvSpPr>
          <p:cNvPr id="3" name="Subtitle 2">
            <a:extLst>
              <a:ext uri="{FF2B5EF4-FFF2-40B4-BE49-F238E27FC236}">
                <a16:creationId xmlns:a16="http://schemas.microsoft.com/office/drawing/2014/main" id="{C39A5226-01E7-E749-7996-917821C583B7}"/>
              </a:ext>
            </a:extLst>
          </p:cNvPr>
          <p:cNvSpPr>
            <a:spLocks noGrp="1"/>
          </p:cNvSpPr>
          <p:nvPr>
            <p:ph type="subTitle" idx="1"/>
          </p:nvPr>
        </p:nvSpPr>
        <p:spPr>
          <a:xfrm>
            <a:off x="1600200" y="2329314"/>
            <a:ext cx="8991600" cy="3715351"/>
          </a:xfrm>
        </p:spPr>
        <p:txBody>
          <a:bodyPr>
            <a:normAutofit fontScale="62500" lnSpcReduction="20000"/>
          </a:bodyPr>
          <a:lstStyle/>
          <a:p>
            <a:pPr algn="l"/>
            <a:r>
              <a:rPr lang="en-IN" sz="3600" dirty="0">
                <a:solidFill>
                  <a:schemeClr val="bg1"/>
                </a:solidFill>
              </a:rPr>
              <a:t>Below are the software requirements for application development:</a:t>
            </a:r>
          </a:p>
          <a:p>
            <a:pPr algn="l"/>
            <a:endParaRPr lang="en-IN" sz="3600" dirty="0">
              <a:solidFill>
                <a:schemeClr val="bg1"/>
              </a:solidFill>
            </a:endParaRPr>
          </a:p>
          <a:p>
            <a:pPr algn="l"/>
            <a:r>
              <a:rPr lang="en-IN" sz="3600" dirty="0">
                <a:solidFill>
                  <a:schemeClr val="bg1"/>
                </a:solidFill>
              </a:rPr>
              <a:t>Python IDE (VS Code) </a:t>
            </a:r>
          </a:p>
          <a:p>
            <a:pPr algn="l"/>
            <a:r>
              <a:rPr lang="en-IN" sz="3600" dirty="0">
                <a:solidFill>
                  <a:schemeClr val="bg1"/>
                </a:solidFill>
              </a:rPr>
              <a:t>Apache Kafka </a:t>
            </a:r>
          </a:p>
          <a:p>
            <a:pPr algn="l"/>
            <a:r>
              <a:rPr lang="en-IN" sz="3600" dirty="0">
                <a:solidFill>
                  <a:schemeClr val="bg1"/>
                </a:solidFill>
              </a:rPr>
              <a:t>Apache Spark </a:t>
            </a:r>
          </a:p>
          <a:p>
            <a:pPr algn="l"/>
            <a:r>
              <a:rPr lang="en-IN" sz="3600" dirty="0">
                <a:solidFill>
                  <a:schemeClr val="bg1"/>
                </a:solidFill>
              </a:rPr>
              <a:t>Hadoop HDFS </a:t>
            </a:r>
          </a:p>
          <a:p>
            <a:pPr algn="l"/>
            <a:r>
              <a:rPr lang="en-IN" sz="3600" dirty="0">
                <a:solidFill>
                  <a:schemeClr val="bg1"/>
                </a:solidFill>
              </a:rPr>
              <a:t>React + TypeScript </a:t>
            </a:r>
          </a:p>
          <a:p>
            <a:pPr algn="l"/>
            <a:r>
              <a:rPr lang="en-IN" sz="3600" dirty="0">
                <a:solidFill>
                  <a:schemeClr val="bg1"/>
                </a:solidFill>
              </a:rPr>
              <a:t>Scikit-learn </a:t>
            </a:r>
          </a:p>
          <a:p>
            <a:pPr algn="l"/>
            <a:r>
              <a:rPr lang="en-IN" sz="3600" dirty="0">
                <a:solidFill>
                  <a:schemeClr val="bg1"/>
                </a:solidFill>
              </a:rPr>
              <a:t>Docker</a:t>
            </a:r>
          </a:p>
          <a:p>
            <a:pPr algn="l"/>
            <a:endParaRPr lang="en-IN" sz="3400" dirty="0">
              <a:solidFill>
                <a:schemeClr val="bg1"/>
              </a:solidFill>
            </a:endParaRPr>
          </a:p>
        </p:txBody>
      </p:sp>
    </p:spTree>
    <p:extLst>
      <p:ext uri="{BB962C8B-B14F-4D97-AF65-F5344CB8AC3E}">
        <p14:creationId xmlns:p14="http://schemas.microsoft.com/office/powerpoint/2010/main" val="1618906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DDD-652B-7175-744D-D2990D9C81D1}"/>
              </a:ext>
            </a:extLst>
          </p:cNvPr>
          <p:cNvSpPr>
            <a:spLocks noGrp="1"/>
          </p:cNvSpPr>
          <p:nvPr>
            <p:ph type="ctrTitle"/>
          </p:nvPr>
        </p:nvSpPr>
        <p:spPr>
          <a:xfrm>
            <a:off x="1600200" y="474454"/>
            <a:ext cx="8991600" cy="1147312"/>
          </a:xfrm>
        </p:spPr>
        <p:txBody>
          <a:bodyPr/>
          <a:lstStyle/>
          <a:p>
            <a:r>
              <a:rPr lang="en-IN" dirty="0"/>
              <a:t>Hardware requirements</a:t>
            </a:r>
          </a:p>
        </p:txBody>
      </p:sp>
      <p:sp>
        <p:nvSpPr>
          <p:cNvPr id="3" name="Subtitle 2">
            <a:extLst>
              <a:ext uri="{FF2B5EF4-FFF2-40B4-BE49-F238E27FC236}">
                <a16:creationId xmlns:a16="http://schemas.microsoft.com/office/drawing/2014/main" id="{503926B3-A3FC-7687-9DEF-38613303658D}"/>
              </a:ext>
            </a:extLst>
          </p:cNvPr>
          <p:cNvSpPr>
            <a:spLocks noGrp="1"/>
          </p:cNvSpPr>
          <p:nvPr>
            <p:ph type="subTitle" idx="1"/>
          </p:nvPr>
        </p:nvSpPr>
        <p:spPr>
          <a:xfrm>
            <a:off x="1600200" y="2298299"/>
            <a:ext cx="8991599" cy="3255638"/>
          </a:xfrm>
        </p:spPr>
        <p:txBody>
          <a:bodyPr/>
          <a:lstStyle/>
          <a:p>
            <a:pPr algn="l"/>
            <a:r>
              <a:rPr lang="en-US" sz="2400" dirty="0">
                <a:solidFill>
                  <a:schemeClr val="bg1"/>
                </a:solidFill>
              </a:rPr>
              <a:t>Hardware requirements for application development are as follows:</a:t>
            </a:r>
          </a:p>
          <a:p>
            <a:pPr algn="l"/>
            <a:r>
              <a:rPr lang="en-US" sz="2400" dirty="0">
                <a:solidFill>
                  <a:schemeClr val="bg1"/>
                </a:solidFill>
              </a:rPr>
              <a:t>CPU – Intel i5 or higher </a:t>
            </a:r>
          </a:p>
          <a:p>
            <a:pPr algn="l"/>
            <a:r>
              <a:rPr lang="en-US" sz="2400" dirty="0">
                <a:solidFill>
                  <a:schemeClr val="bg1"/>
                </a:solidFill>
              </a:rPr>
              <a:t>RAM – 8 GB or higher </a:t>
            </a:r>
          </a:p>
          <a:p>
            <a:pPr algn="l"/>
            <a:r>
              <a:rPr lang="en-US" sz="2400" dirty="0">
                <a:solidFill>
                  <a:schemeClr val="bg1"/>
                </a:solidFill>
              </a:rPr>
              <a:t>Storage – 20 GB or higher </a:t>
            </a:r>
          </a:p>
          <a:p>
            <a:pPr algn="l"/>
            <a:r>
              <a:rPr lang="en-US" sz="2400" dirty="0">
                <a:solidFill>
                  <a:schemeClr val="bg1"/>
                </a:solidFill>
              </a:rPr>
              <a:t>OS – Windows 10 / Linux</a:t>
            </a:r>
          </a:p>
          <a:p>
            <a:pPr algn="l"/>
            <a:endParaRPr lang="en-IN" sz="2400" dirty="0">
              <a:solidFill>
                <a:schemeClr val="bg1"/>
              </a:solidFill>
            </a:endParaRPr>
          </a:p>
        </p:txBody>
      </p:sp>
    </p:spTree>
    <p:extLst>
      <p:ext uri="{BB962C8B-B14F-4D97-AF65-F5344CB8AC3E}">
        <p14:creationId xmlns:p14="http://schemas.microsoft.com/office/powerpoint/2010/main" val="3408330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48239"/>
            <a:ext cx="8703733" cy="974116"/>
          </a:xfrm>
        </p:spPr>
        <p:txBody>
          <a:bodyPr>
            <a:noAutofit/>
          </a:bodyPr>
          <a:lstStyle/>
          <a:p>
            <a:r>
              <a:rPr lang="en-US" sz="2800" dirty="0">
                <a:latin typeface="Times New Roman" panose="02020603050405020304" pitchFamily="18" charset="0"/>
                <a:cs typeface="Times New Roman" panose="02020603050405020304" pitchFamily="18" charset="0"/>
              </a:rPr>
              <a:t>FUNCTIONAL  requirements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AD370F-66A5-D81F-C019-4E8D6007200A}"/>
              </a:ext>
            </a:extLst>
          </p:cNvPr>
          <p:cNvSpPr txBox="1"/>
          <p:nvPr/>
        </p:nvSpPr>
        <p:spPr>
          <a:xfrm>
            <a:off x="1371600" y="1867301"/>
            <a:ext cx="8703733" cy="523220"/>
          </a:xfrm>
          <a:prstGeom prst="rect">
            <a:avLst/>
          </a:prstGeom>
          <a:noFill/>
        </p:spPr>
        <p:txBody>
          <a:bodyPr wrap="square">
            <a:spAutoFit/>
          </a:bodyPr>
          <a:lstStyle/>
          <a:p>
            <a:r>
              <a:rPr lang="en-IN" sz="2800" dirty="0">
                <a:solidFill>
                  <a:schemeClr val="bg1"/>
                </a:solidFill>
              </a:rPr>
              <a:t> </a:t>
            </a:r>
          </a:p>
        </p:txBody>
      </p:sp>
      <p:sp>
        <p:nvSpPr>
          <p:cNvPr id="6" name="Rectangle 3">
            <a:extLst>
              <a:ext uri="{FF2B5EF4-FFF2-40B4-BE49-F238E27FC236}">
                <a16:creationId xmlns:a16="http://schemas.microsoft.com/office/drawing/2014/main" id="{48F74A60-675A-C52F-47BF-66AA45259BCB}"/>
              </a:ext>
            </a:extLst>
          </p:cNvPr>
          <p:cNvSpPr>
            <a:spLocks noChangeArrowheads="1"/>
          </p:cNvSpPr>
          <p:nvPr/>
        </p:nvSpPr>
        <p:spPr bwMode="auto">
          <a:xfrm>
            <a:off x="1458686" y="1867301"/>
            <a:ext cx="861664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System should be able to collect real-time data from multiple 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System must be able to process streaming data using Kafka and Spark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System should detect disaster events from incoming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Model should be able to predict disaster severity accurately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System should display results on an interactive dashboard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Arial" panose="020B0604020202020204" pitchFamily="34" charset="0"/>
              </a:rPr>
              <a:t>System should send alerts and notifications to users </a:t>
            </a:r>
          </a:p>
        </p:txBody>
      </p:sp>
    </p:spTree>
    <p:extLst>
      <p:ext uri="{BB962C8B-B14F-4D97-AF65-F5344CB8AC3E}">
        <p14:creationId xmlns:p14="http://schemas.microsoft.com/office/powerpoint/2010/main" val="3412229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7674-5984-2F59-F6CD-2D0A70C837A6}"/>
              </a:ext>
            </a:extLst>
          </p:cNvPr>
          <p:cNvSpPr>
            <a:spLocks noGrp="1"/>
          </p:cNvSpPr>
          <p:nvPr>
            <p:ph type="ctrTitle"/>
          </p:nvPr>
        </p:nvSpPr>
        <p:spPr>
          <a:xfrm>
            <a:off x="1600200" y="345058"/>
            <a:ext cx="8991600" cy="1052422"/>
          </a:xfrm>
        </p:spPr>
        <p:txBody>
          <a:bodyPr>
            <a:normAutofit fontScale="90000"/>
          </a:bodyPr>
          <a:lstStyle/>
          <a:p>
            <a:r>
              <a:rPr lang="en-IN" dirty="0"/>
              <a:t>Non - functional requirements</a:t>
            </a:r>
          </a:p>
        </p:txBody>
      </p:sp>
      <p:sp>
        <p:nvSpPr>
          <p:cNvPr id="3" name="Subtitle 2">
            <a:extLst>
              <a:ext uri="{FF2B5EF4-FFF2-40B4-BE49-F238E27FC236}">
                <a16:creationId xmlns:a16="http://schemas.microsoft.com/office/drawing/2014/main" id="{080C1CC3-9DB9-EE6E-134C-6FF56C1BFB53}"/>
              </a:ext>
            </a:extLst>
          </p:cNvPr>
          <p:cNvSpPr>
            <a:spLocks noGrp="1"/>
          </p:cNvSpPr>
          <p:nvPr>
            <p:ph type="subTitle" idx="1"/>
          </p:nvPr>
        </p:nvSpPr>
        <p:spPr>
          <a:xfrm>
            <a:off x="1328286" y="2290813"/>
            <a:ext cx="10241279" cy="3301625"/>
          </a:xfrm>
        </p:spPr>
        <p:txBody>
          <a:bodyPr>
            <a:normAutofit lnSpcReduction="10000"/>
          </a:bodyPr>
          <a:lstStyle/>
          <a:p>
            <a:pPr algn="l"/>
            <a:r>
              <a:rPr lang="en-US" sz="2400" b="1" dirty="0">
                <a:solidFill>
                  <a:schemeClr val="bg1"/>
                </a:solidFill>
              </a:rPr>
              <a:t>Reliability:</a:t>
            </a:r>
            <a:r>
              <a:rPr lang="en-US" sz="2400" dirty="0">
                <a:solidFill>
                  <a:schemeClr val="bg1"/>
                </a:solidFill>
              </a:rPr>
              <a:t> The system should process real-time data accurately and handle failures without data loss. </a:t>
            </a:r>
          </a:p>
          <a:p>
            <a:pPr algn="l"/>
            <a:r>
              <a:rPr lang="en-US" sz="2400" b="1" dirty="0">
                <a:solidFill>
                  <a:schemeClr val="bg1"/>
                </a:solidFill>
              </a:rPr>
              <a:t>Security:</a:t>
            </a:r>
            <a:r>
              <a:rPr lang="en-US" sz="2400" dirty="0">
                <a:solidFill>
                  <a:schemeClr val="bg1"/>
                </a:solidFill>
              </a:rPr>
              <a:t> The system should ensure authorized access and protect sensitive disaster data. </a:t>
            </a:r>
          </a:p>
          <a:p>
            <a:pPr algn="l"/>
            <a:r>
              <a:rPr lang="en-US" sz="2400" b="1" dirty="0">
                <a:solidFill>
                  <a:schemeClr val="bg1"/>
                </a:solidFill>
              </a:rPr>
              <a:t>Scalability:</a:t>
            </a:r>
            <a:r>
              <a:rPr lang="en-US" sz="2400" dirty="0">
                <a:solidFill>
                  <a:schemeClr val="bg1"/>
                </a:solidFill>
              </a:rPr>
              <a:t> The system should be able to handle large volumes of streaming data (10K+ events/sec). </a:t>
            </a:r>
          </a:p>
          <a:p>
            <a:pPr algn="l"/>
            <a:r>
              <a:rPr lang="en-US" sz="2400" b="1" dirty="0">
                <a:solidFill>
                  <a:schemeClr val="bg1"/>
                </a:solidFill>
              </a:rPr>
              <a:t>Performance:</a:t>
            </a:r>
            <a:r>
              <a:rPr lang="en-US" sz="2400" dirty="0">
                <a:solidFill>
                  <a:schemeClr val="bg1"/>
                </a:solidFill>
              </a:rPr>
              <a:t> The system should provide fast response time with low latency for real-time alerts and dashboard updates. </a:t>
            </a:r>
          </a:p>
          <a:p>
            <a:pPr algn="l"/>
            <a:endParaRPr lang="en-IN" sz="2400" dirty="0">
              <a:solidFill>
                <a:schemeClr val="bg1"/>
              </a:solidFill>
            </a:endParaRPr>
          </a:p>
        </p:txBody>
      </p:sp>
    </p:spTree>
    <p:extLst>
      <p:ext uri="{BB962C8B-B14F-4D97-AF65-F5344CB8AC3E}">
        <p14:creationId xmlns:p14="http://schemas.microsoft.com/office/powerpoint/2010/main" val="299499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0413" y="322839"/>
            <a:ext cx="7551173" cy="974116"/>
          </a:xfrm>
        </p:spPr>
        <p:txBody>
          <a:bodyPr>
            <a:normAutofit/>
          </a:bodyPr>
          <a:lstStyle/>
          <a:p>
            <a:r>
              <a:rPr lang="en-US" dirty="0"/>
              <a:t>Literature survey</a:t>
            </a:r>
            <a:endParaRPr lang="en-IN" dirty="0"/>
          </a:p>
        </p:txBody>
      </p:sp>
      <p:graphicFrame>
        <p:nvGraphicFramePr>
          <p:cNvPr id="5" name="Table 4">
            <a:extLst>
              <a:ext uri="{FF2B5EF4-FFF2-40B4-BE49-F238E27FC236}">
                <a16:creationId xmlns:a16="http://schemas.microsoft.com/office/drawing/2014/main" id="{EE34BD78-3650-2D1E-56D6-622BFBFD99F4}"/>
              </a:ext>
            </a:extLst>
          </p:cNvPr>
          <p:cNvGraphicFramePr>
            <a:graphicFrameLocks noGrp="1"/>
          </p:cNvGraphicFramePr>
          <p:nvPr>
            <p:extLst>
              <p:ext uri="{D42A27DB-BD31-4B8C-83A1-F6EECF244321}">
                <p14:modId xmlns:p14="http://schemas.microsoft.com/office/powerpoint/2010/main" val="4151745052"/>
              </p:ext>
            </p:extLst>
          </p:nvPr>
        </p:nvGraphicFramePr>
        <p:xfrm>
          <a:off x="87085" y="1384040"/>
          <a:ext cx="12017830" cy="4886131"/>
        </p:xfrm>
        <a:graphic>
          <a:graphicData uri="http://schemas.openxmlformats.org/drawingml/2006/table">
            <a:tbl>
              <a:tblPr/>
              <a:tblGrid>
                <a:gridCol w="751115">
                  <a:extLst>
                    <a:ext uri="{9D8B030D-6E8A-4147-A177-3AD203B41FA5}">
                      <a16:colId xmlns:a16="http://schemas.microsoft.com/office/drawing/2014/main" val="2960975740"/>
                    </a:ext>
                  </a:extLst>
                </a:gridCol>
                <a:gridCol w="4056017">
                  <a:extLst>
                    <a:ext uri="{9D8B030D-6E8A-4147-A177-3AD203B41FA5}">
                      <a16:colId xmlns:a16="http://schemas.microsoft.com/office/drawing/2014/main" val="2793262597"/>
                    </a:ext>
                  </a:extLst>
                </a:gridCol>
                <a:gridCol w="2403566">
                  <a:extLst>
                    <a:ext uri="{9D8B030D-6E8A-4147-A177-3AD203B41FA5}">
                      <a16:colId xmlns:a16="http://schemas.microsoft.com/office/drawing/2014/main" val="93678308"/>
                    </a:ext>
                  </a:extLst>
                </a:gridCol>
                <a:gridCol w="2403566">
                  <a:extLst>
                    <a:ext uri="{9D8B030D-6E8A-4147-A177-3AD203B41FA5}">
                      <a16:colId xmlns:a16="http://schemas.microsoft.com/office/drawing/2014/main" val="3839338759"/>
                    </a:ext>
                  </a:extLst>
                </a:gridCol>
                <a:gridCol w="2403566">
                  <a:extLst>
                    <a:ext uri="{9D8B030D-6E8A-4147-A177-3AD203B41FA5}">
                      <a16:colId xmlns:a16="http://schemas.microsoft.com/office/drawing/2014/main" val="2585031556"/>
                    </a:ext>
                  </a:extLst>
                </a:gridCol>
              </a:tblGrid>
              <a:tr h="618498">
                <a:tc>
                  <a:txBody>
                    <a:bodyPr/>
                    <a:lstStyle/>
                    <a:p>
                      <a:pPr>
                        <a:buNone/>
                      </a:pPr>
                      <a:r>
                        <a:rPr lang="en-IN" sz="1200" dirty="0">
                          <a:solidFill>
                            <a:schemeClr val="bg1"/>
                          </a:solidFill>
                        </a:rPr>
                        <a:t>S. No</a:t>
                      </a:r>
                    </a:p>
                  </a:txBody>
                  <a:tcPr marL="39266" marR="39266" marT="19633" marB="19633" anchor="ctr">
                    <a:lnL>
                      <a:noFill/>
                    </a:lnL>
                    <a:lnR>
                      <a:noFill/>
                    </a:lnR>
                    <a:lnT>
                      <a:noFill/>
                    </a:lnT>
                    <a:lnB>
                      <a:noFill/>
                    </a:lnB>
                    <a:noFill/>
                  </a:tcPr>
                </a:tc>
                <a:tc>
                  <a:txBody>
                    <a:bodyPr/>
                    <a:lstStyle/>
                    <a:p>
                      <a:pPr>
                        <a:buNone/>
                      </a:pPr>
                      <a:r>
                        <a:rPr lang="en-US" sz="1200" dirty="0">
                          <a:solidFill>
                            <a:schemeClr val="bg1"/>
                          </a:solidFill>
                        </a:rPr>
                        <a:t>Name of the research paper</a:t>
                      </a:r>
                    </a:p>
                  </a:txBody>
                  <a:tcPr marL="39266" marR="39266" marT="19633" marB="19633" anchor="ctr">
                    <a:lnL>
                      <a:noFill/>
                    </a:lnL>
                    <a:lnR>
                      <a:noFill/>
                    </a:lnR>
                    <a:lnT>
                      <a:noFill/>
                    </a:lnT>
                    <a:lnB>
                      <a:noFill/>
                    </a:lnB>
                    <a:noFill/>
                  </a:tcPr>
                </a:tc>
                <a:tc>
                  <a:txBody>
                    <a:bodyPr/>
                    <a:lstStyle/>
                    <a:p>
                      <a:pPr>
                        <a:buNone/>
                      </a:pPr>
                      <a:r>
                        <a:rPr lang="en-IN" sz="1200" dirty="0">
                          <a:solidFill>
                            <a:schemeClr val="bg1"/>
                          </a:solidFill>
                        </a:rPr>
                        <a:t>Author name</a:t>
                      </a:r>
                    </a:p>
                  </a:txBody>
                  <a:tcPr marL="39266" marR="39266" marT="19633" marB="19633" anchor="ctr">
                    <a:lnL>
                      <a:noFill/>
                    </a:lnL>
                    <a:lnR>
                      <a:noFill/>
                    </a:lnR>
                    <a:lnT>
                      <a:noFill/>
                    </a:lnT>
                    <a:lnB>
                      <a:noFill/>
                    </a:lnB>
                    <a:noFill/>
                  </a:tcPr>
                </a:tc>
                <a:tc>
                  <a:txBody>
                    <a:bodyPr/>
                    <a:lstStyle/>
                    <a:p>
                      <a:pPr>
                        <a:buNone/>
                      </a:pPr>
                      <a:r>
                        <a:rPr lang="en-IN" sz="1200" dirty="0">
                          <a:solidFill>
                            <a:schemeClr val="bg1"/>
                          </a:solidFill>
                        </a:rPr>
                        <a:t>Technologies used</a:t>
                      </a:r>
                    </a:p>
                  </a:txBody>
                  <a:tcPr marL="39266" marR="39266" marT="19633" marB="19633" anchor="ctr">
                    <a:lnL>
                      <a:noFill/>
                    </a:lnL>
                    <a:lnR>
                      <a:noFill/>
                    </a:lnR>
                    <a:lnT>
                      <a:noFill/>
                    </a:lnT>
                    <a:lnB>
                      <a:noFill/>
                    </a:lnB>
                    <a:noFill/>
                  </a:tcPr>
                </a:tc>
                <a:tc>
                  <a:txBody>
                    <a:bodyPr/>
                    <a:lstStyle/>
                    <a:p>
                      <a:pPr>
                        <a:buNone/>
                      </a:pPr>
                      <a:r>
                        <a:rPr lang="en-IN" sz="1200" dirty="0">
                          <a:solidFill>
                            <a:schemeClr val="bg1"/>
                          </a:solidFill>
                        </a:rPr>
                        <a:t>Advantages / Disadvantages</a:t>
                      </a:r>
                    </a:p>
                  </a:txBody>
                  <a:tcPr marL="39266" marR="39266" marT="19633" marB="19633" anchor="ctr">
                    <a:lnL>
                      <a:noFill/>
                    </a:lnL>
                    <a:lnR>
                      <a:noFill/>
                    </a:lnR>
                    <a:lnT>
                      <a:noFill/>
                    </a:lnT>
                    <a:lnB>
                      <a:noFill/>
                    </a:lnB>
                    <a:noFill/>
                  </a:tcPr>
                </a:tc>
                <a:extLst>
                  <a:ext uri="{0D108BD9-81ED-4DB2-BD59-A6C34878D82A}">
                    <a16:rowId xmlns:a16="http://schemas.microsoft.com/office/drawing/2014/main" val="3068740281"/>
                  </a:ext>
                </a:extLst>
              </a:tr>
              <a:tr h="1360694">
                <a:tc>
                  <a:txBody>
                    <a:bodyPr/>
                    <a:lstStyle/>
                    <a:p>
                      <a:pPr>
                        <a:buNone/>
                      </a:pPr>
                      <a:r>
                        <a:rPr lang="en-IN" sz="1200" dirty="0">
                          <a:solidFill>
                            <a:schemeClr val="bg1"/>
                          </a:solidFill>
                        </a:rPr>
                        <a:t>1</a:t>
                      </a:r>
                    </a:p>
                  </a:txBody>
                  <a:tcPr marL="39266" marR="39266" marT="19633" marB="19633" anchor="ctr">
                    <a:lnL>
                      <a:noFill/>
                    </a:lnL>
                    <a:lnR>
                      <a:noFill/>
                    </a:lnR>
                    <a:lnT>
                      <a:noFill/>
                    </a:lnT>
                    <a:lnB>
                      <a:noFill/>
                    </a:lnB>
                    <a:noFill/>
                  </a:tcPr>
                </a:tc>
                <a:tc>
                  <a:txBody>
                    <a:bodyPr/>
                    <a:lstStyle/>
                    <a:p>
                      <a:pPr>
                        <a:buNone/>
                      </a:pPr>
                      <a:r>
                        <a:rPr lang="en-US" sz="1200" dirty="0">
                          <a:solidFill>
                            <a:schemeClr val="bg1"/>
                          </a:solidFill>
                        </a:rPr>
                        <a:t>Crisis Event Detection using Social Media, 2016</a:t>
                      </a:r>
                    </a:p>
                  </a:txBody>
                  <a:tcPr marL="39266" marR="39266" marT="19633" marB="19633" anchor="ctr">
                    <a:lnL>
                      <a:noFill/>
                    </a:lnL>
                    <a:lnR>
                      <a:noFill/>
                    </a:lnR>
                    <a:lnT>
                      <a:noFill/>
                    </a:lnT>
                    <a:lnB>
                      <a:noFill/>
                    </a:lnB>
                    <a:noFill/>
                  </a:tcPr>
                </a:tc>
                <a:tc>
                  <a:txBody>
                    <a:bodyPr/>
                    <a:lstStyle/>
                    <a:p>
                      <a:pPr>
                        <a:buNone/>
                      </a:pPr>
                      <a:r>
                        <a:rPr lang="en-IN" sz="1200" dirty="0">
                          <a:solidFill>
                            <a:schemeClr val="bg1"/>
                          </a:solidFill>
                        </a:rPr>
                        <a:t>Carlos Castillo et al.</a:t>
                      </a:r>
                    </a:p>
                  </a:txBody>
                  <a:tcPr marL="39266" marR="39266" marT="19633" marB="19633" anchor="ctr">
                    <a:lnL>
                      <a:noFill/>
                    </a:lnL>
                    <a:lnR>
                      <a:noFill/>
                    </a:lnR>
                    <a:lnT>
                      <a:noFill/>
                    </a:lnT>
                    <a:lnB>
                      <a:noFill/>
                    </a:lnB>
                    <a:noFill/>
                  </a:tcPr>
                </a:tc>
                <a:tc>
                  <a:txBody>
                    <a:bodyPr/>
                    <a:lstStyle/>
                    <a:p>
                      <a:pPr>
                        <a:buNone/>
                      </a:pPr>
                      <a:r>
                        <a:rPr lang="en-IN" sz="1200" dirty="0">
                          <a:solidFill>
                            <a:schemeClr val="bg1"/>
                          </a:solidFill>
                        </a:rPr>
                        <a:t>NLP, Social Media Mining</a:t>
                      </a:r>
                    </a:p>
                  </a:txBody>
                  <a:tcPr marL="39266" marR="39266" marT="19633" marB="19633" anchor="ctr">
                    <a:lnL>
                      <a:noFill/>
                    </a:lnL>
                    <a:lnR>
                      <a:noFill/>
                    </a:lnR>
                    <a:lnT>
                      <a:noFill/>
                    </a:lnT>
                    <a:lnB>
                      <a:noFill/>
                    </a:lnB>
                    <a:noFill/>
                  </a:tcPr>
                </a:tc>
                <a:tc>
                  <a:txBody>
                    <a:bodyPr/>
                    <a:lstStyle/>
                    <a:p>
                      <a:pPr>
                        <a:buNone/>
                      </a:pPr>
                      <a:r>
                        <a:rPr lang="en-US" sz="1200" dirty="0">
                          <a:solidFill>
                            <a:schemeClr val="bg1"/>
                          </a:solidFill>
                        </a:rPr>
                        <a:t>Advantage: Real-time detection using tweets. Disadvantage: Noisy and unverified data</a:t>
                      </a:r>
                    </a:p>
                  </a:txBody>
                  <a:tcPr marL="39266" marR="39266" marT="19633" marB="19633" anchor="ctr">
                    <a:lnL>
                      <a:noFill/>
                    </a:lnL>
                    <a:lnR>
                      <a:noFill/>
                    </a:lnR>
                    <a:lnT>
                      <a:noFill/>
                    </a:lnT>
                    <a:lnB>
                      <a:noFill/>
                    </a:lnB>
                    <a:noFill/>
                  </a:tcPr>
                </a:tc>
                <a:extLst>
                  <a:ext uri="{0D108BD9-81ED-4DB2-BD59-A6C34878D82A}">
                    <a16:rowId xmlns:a16="http://schemas.microsoft.com/office/drawing/2014/main" val="2427924500"/>
                  </a:ext>
                </a:extLst>
              </a:tr>
              <a:tr h="1360694">
                <a:tc>
                  <a:txBody>
                    <a:bodyPr/>
                    <a:lstStyle/>
                    <a:p>
                      <a:pPr>
                        <a:buNone/>
                      </a:pPr>
                      <a:r>
                        <a:rPr lang="en-IN" sz="1200">
                          <a:solidFill>
                            <a:schemeClr val="bg1"/>
                          </a:solidFill>
                        </a:rPr>
                        <a:t>2</a:t>
                      </a:r>
                    </a:p>
                  </a:txBody>
                  <a:tcPr marL="39266" marR="39266" marT="19633" marB="19633" anchor="ctr">
                    <a:lnL>
                      <a:noFill/>
                    </a:lnL>
                    <a:lnR>
                      <a:noFill/>
                    </a:lnR>
                    <a:lnT>
                      <a:noFill/>
                    </a:lnT>
                    <a:lnB>
                      <a:noFill/>
                    </a:lnB>
                    <a:noFill/>
                  </a:tcPr>
                </a:tc>
                <a:tc>
                  <a:txBody>
                    <a:bodyPr/>
                    <a:lstStyle/>
                    <a:p>
                      <a:pPr>
                        <a:buNone/>
                      </a:pPr>
                      <a:r>
                        <a:rPr lang="en-US" sz="1200">
                          <a:solidFill>
                            <a:schemeClr val="bg1"/>
                          </a:solidFill>
                        </a:rPr>
                        <a:t>Real-Time Flood Detection using IoT and ML, 2019</a:t>
                      </a:r>
                    </a:p>
                  </a:txBody>
                  <a:tcPr marL="39266" marR="39266" marT="19633" marB="19633" anchor="ctr">
                    <a:lnL>
                      <a:noFill/>
                    </a:lnL>
                    <a:lnR>
                      <a:noFill/>
                    </a:lnR>
                    <a:lnT>
                      <a:noFill/>
                    </a:lnT>
                    <a:lnB>
                      <a:noFill/>
                    </a:lnB>
                    <a:noFill/>
                  </a:tcPr>
                </a:tc>
                <a:tc>
                  <a:txBody>
                    <a:bodyPr/>
                    <a:lstStyle/>
                    <a:p>
                      <a:pPr>
                        <a:buNone/>
                      </a:pPr>
                      <a:r>
                        <a:rPr lang="da-DK" sz="1200">
                          <a:solidFill>
                            <a:schemeClr val="bg1"/>
                          </a:solidFill>
                        </a:rPr>
                        <a:t>S. N. Shah et al.</a:t>
                      </a:r>
                    </a:p>
                  </a:txBody>
                  <a:tcPr marL="39266" marR="39266" marT="19633" marB="19633" anchor="ctr">
                    <a:lnL>
                      <a:noFill/>
                    </a:lnL>
                    <a:lnR>
                      <a:noFill/>
                    </a:lnR>
                    <a:lnT>
                      <a:noFill/>
                    </a:lnT>
                    <a:lnB>
                      <a:noFill/>
                    </a:lnB>
                    <a:noFill/>
                  </a:tcPr>
                </a:tc>
                <a:tc>
                  <a:txBody>
                    <a:bodyPr/>
                    <a:lstStyle/>
                    <a:p>
                      <a:pPr>
                        <a:buNone/>
                      </a:pPr>
                      <a:r>
                        <a:rPr lang="en-IN" sz="1200" dirty="0">
                          <a:solidFill>
                            <a:schemeClr val="bg1"/>
                          </a:solidFill>
                        </a:rPr>
                        <a:t>IoT Sensors, Machine Learning</a:t>
                      </a:r>
                    </a:p>
                  </a:txBody>
                  <a:tcPr marL="39266" marR="39266" marT="19633" marB="19633" anchor="ctr">
                    <a:lnL>
                      <a:noFill/>
                    </a:lnL>
                    <a:lnR>
                      <a:noFill/>
                    </a:lnR>
                    <a:lnT>
                      <a:noFill/>
                    </a:lnT>
                    <a:lnB>
                      <a:noFill/>
                    </a:lnB>
                    <a:noFill/>
                  </a:tcPr>
                </a:tc>
                <a:tc>
                  <a:txBody>
                    <a:bodyPr/>
                    <a:lstStyle/>
                    <a:p>
                      <a:pPr>
                        <a:buNone/>
                      </a:pPr>
                      <a:r>
                        <a:rPr lang="en-US" sz="1200">
                          <a:solidFill>
                            <a:schemeClr val="bg1"/>
                          </a:solidFill>
                        </a:rPr>
                        <a:t>Advantage: Early flood warnings. Disadvantage: Requires sensor infrastructure</a:t>
                      </a:r>
                    </a:p>
                  </a:txBody>
                  <a:tcPr marL="39266" marR="39266" marT="19633" marB="19633" anchor="ctr">
                    <a:lnL>
                      <a:noFill/>
                    </a:lnL>
                    <a:lnR>
                      <a:noFill/>
                    </a:lnR>
                    <a:lnT>
                      <a:noFill/>
                    </a:lnT>
                    <a:lnB>
                      <a:noFill/>
                    </a:lnB>
                    <a:noFill/>
                  </a:tcPr>
                </a:tc>
                <a:extLst>
                  <a:ext uri="{0D108BD9-81ED-4DB2-BD59-A6C34878D82A}">
                    <a16:rowId xmlns:a16="http://schemas.microsoft.com/office/drawing/2014/main" val="3805870246"/>
                  </a:ext>
                </a:extLst>
              </a:tr>
              <a:tr h="1546245">
                <a:tc>
                  <a:txBody>
                    <a:bodyPr/>
                    <a:lstStyle/>
                    <a:p>
                      <a:pPr>
                        <a:buNone/>
                      </a:pPr>
                      <a:r>
                        <a:rPr lang="en-IN" sz="1200">
                          <a:solidFill>
                            <a:schemeClr val="bg1"/>
                          </a:solidFill>
                        </a:rPr>
                        <a:t>3</a:t>
                      </a:r>
                    </a:p>
                  </a:txBody>
                  <a:tcPr marL="39266" marR="39266" marT="19633" marB="19633" anchor="ctr">
                    <a:lnL>
                      <a:noFill/>
                    </a:lnL>
                    <a:lnR>
                      <a:noFill/>
                    </a:lnR>
                    <a:lnT>
                      <a:noFill/>
                    </a:lnT>
                    <a:lnB>
                      <a:noFill/>
                    </a:lnB>
                    <a:noFill/>
                  </a:tcPr>
                </a:tc>
                <a:tc>
                  <a:txBody>
                    <a:bodyPr/>
                    <a:lstStyle/>
                    <a:p>
                      <a:pPr>
                        <a:buNone/>
                      </a:pPr>
                      <a:r>
                        <a:rPr lang="en-US" sz="1200">
                          <a:solidFill>
                            <a:schemeClr val="bg1"/>
                          </a:solidFill>
                        </a:rPr>
                        <a:t>Big Data Stream Processing with Apache Kafka and Spark, 2018</a:t>
                      </a:r>
                    </a:p>
                  </a:txBody>
                  <a:tcPr marL="39266" marR="39266" marT="19633" marB="19633" anchor="ctr">
                    <a:lnL>
                      <a:noFill/>
                    </a:lnL>
                    <a:lnR>
                      <a:noFill/>
                    </a:lnR>
                    <a:lnT>
                      <a:noFill/>
                    </a:lnT>
                    <a:lnB>
                      <a:noFill/>
                    </a:lnB>
                    <a:noFill/>
                  </a:tcPr>
                </a:tc>
                <a:tc>
                  <a:txBody>
                    <a:bodyPr/>
                    <a:lstStyle/>
                    <a:p>
                      <a:pPr>
                        <a:buNone/>
                      </a:pPr>
                      <a:r>
                        <a:rPr lang="en-IN" sz="1200">
                          <a:solidFill>
                            <a:schemeClr val="bg1"/>
                          </a:solidFill>
                        </a:rPr>
                        <a:t>Tyler Akidau et al.</a:t>
                      </a:r>
                    </a:p>
                  </a:txBody>
                  <a:tcPr marL="39266" marR="39266" marT="19633" marB="19633" anchor="ctr">
                    <a:lnL>
                      <a:noFill/>
                    </a:lnL>
                    <a:lnR>
                      <a:noFill/>
                    </a:lnR>
                    <a:lnT>
                      <a:noFill/>
                    </a:lnT>
                    <a:lnB>
                      <a:noFill/>
                    </a:lnB>
                    <a:noFill/>
                  </a:tcPr>
                </a:tc>
                <a:tc>
                  <a:txBody>
                    <a:bodyPr/>
                    <a:lstStyle/>
                    <a:p>
                      <a:pPr>
                        <a:buNone/>
                      </a:pPr>
                      <a:r>
                        <a:rPr lang="en-IN" sz="1200">
                          <a:solidFill>
                            <a:schemeClr val="bg1"/>
                          </a:solidFill>
                        </a:rPr>
                        <a:t>Kafka, Spark Streaming</a:t>
                      </a:r>
                    </a:p>
                  </a:txBody>
                  <a:tcPr marL="39266" marR="39266" marT="19633" marB="19633" anchor="ctr">
                    <a:lnL>
                      <a:noFill/>
                    </a:lnL>
                    <a:lnR>
                      <a:noFill/>
                    </a:lnR>
                    <a:lnT>
                      <a:noFill/>
                    </a:lnT>
                    <a:lnB>
                      <a:noFill/>
                    </a:lnB>
                    <a:noFill/>
                  </a:tcPr>
                </a:tc>
                <a:tc>
                  <a:txBody>
                    <a:bodyPr/>
                    <a:lstStyle/>
                    <a:p>
                      <a:pPr>
                        <a:buNone/>
                      </a:pPr>
                      <a:r>
                        <a:rPr lang="en-US" sz="1200" dirty="0">
                          <a:solidFill>
                            <a:schemeClr val="bg1"/>
                          </a:solidFill>
                        </a:rPr>
                        <a:t>Advantage: Handles large-scale streaming data. Disadvantage: Complex system setup</a:t>
                      </a:r>
                    </a:p>
                  </a:txBody>
                  <a:tcPr marL="39266" marR="39266" marT="19633" marB="19633" anchor="ctr">
                    <a:lnL>
                      <a:noFill/>
                    </a:lnL>
                    <a:lnR>
                      <a:noFill/>
                    </a:lnR>
                    <a:lnT>
                      <a:noFill/>
                    </a:lnT>
                    <a:lnB>
                      <a:noFill/>
                    </a:lnB>
                    <a:noFill/>
                  </a:tcPr>
                </a:tc>
                <a:extLst>
                  <a:ext uri="{0D108BD9-81ED-4DB2-BD59-A6C34878D82A}">
                    <a16:rowId xmlns:a16="http://schemas.microsoft.com/office/drawing/2014/main" val="191081429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BD9-16F7-292F-8D32-606845CC7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4129F-02D1-49F8-EC8E-752EB3067135}"/>
              </a:ext>
            </a:extLst>
          </p:cNvPr>
          <p:cNvSpPr>
            <a:spLocks noGrp="1"/>
          </p:cNvSpPr>
          <p:nvPr>
            <p:ph type="ctrTitle"/>
          </p:nvPr>
        </p:nvSpPr>
        <p:spPr>
          <a:xfrm>
            <a:off x="2320413" y="322839"/>
            <a:ext cx="7551173" cy="974116"/>
          </a:xfrm>
        </p:spPr>
        <p:txBody>
          <a:bodyPr>
            <a:normAutofit/>
          </a:bodyPr>
          <a:lstStyle/>
          <a:p>
            <a:r>
              <a:rPr lang="en-US" dirty="0"/>
              <a:t>Literature survey</a:t>
            </a:r>
            <a:endParaRPr lang="en-IN" dirty="0"/>
          </a:p>
        </p:txBody>
      </p:sp>
      <p:graphicFrame>
        <p:nvGraphicFramePr>
          <p:cNvPr id="5" name="Table 4">
            <a:extLst>
              <a:ext uri="{FF2B5EF4-FFF2-40B4-BE49-F238E27FC236}">
                <a16:creationId xmlns:a16="http://schemas.microsoft.com/office/drawing/2014/main" id="{9EA516BA-E233-0131-24BD-C2C4F896A5D9}"/>
              </a:ext>
            </a:extLst>
          </p:cNvPr>
          <p:cNvGraphicFramePr>
            <a:graphicFrameLocks noGrp="1"/>
          </p:cNvGraphicFramePr>
          <p:nvPr>
            <p:extLst>
              <p:ext uri="{D42A27DB-BD31-4B8C-83A1-F6EECF244321}">
                <p14:modId xmlns:p14="http://schemas.microsoft.com/office/powerpoint/2010/main" val="2802563779"/>
              </p:ext>
            </p:extLst>
          </p:nvPr>
        </p:nvGraphicFramePr>
        <p:xfrm>
          <a:off x="87085" y="1384040"/>
          <a:ext cx="12017830" cy="4886131"/>
        </p:xfrm>
        <a:graphic>
          <a:graphicData uri="http://schemas.openxmlformats.org/drawingml/2006/table">
            <a:tbl>
              <a:tblPr/>
              <a:tblGrid>
                <a:gridCol w="751115">
                  <a:extLst>
                    <a:ext uri="{9D8B030D-6E8A-4147-A177-3AD203B41FA5}">
                      <a16:colId xmlns:a16="http://schemas.microsoft.com/office/drawing/2014/main" val="2960975740"/>
                    </a:ext>
                  </a:extLst>
                </a:gridCol>
                <a:gridCol w="3897086">
                  <a:extLst>
                    <a:ext uri="{9D8B030D-6E8A-4147-A177-3AD203B41FA5}">
                      <a16:colId xmlns:a16="http://schemas.microsoft.com/office/drawing/2014/main" val="2793262597"/>
                    </a:ext>
                  </a:extLst>
                </a:gridCol>
                <a:gridCol w="2188028">
                  <a:extLst>
                    <a:ext uri="{9D8B030D-6E8A-4147-A177-3AD203B41FA5}">
                      <a16:colId xmlns:a16="http://schemas.microsoft.com/office/drawing/2014/main" val="93678308"/>
                    </a:ext>
                  </a:extLst>
                </a:gridCol>
                <a:gridCol w="2778035">
                  <a:extLst>
                    <a:ext uri="{9D8B030D-6E8A-4147-A177-3AD203B41FA5}">
                      <a16:colId xmlns:a16="http://schemas.microsoft.com/office/drawing/2014/main" val="3839338759"/>
                    </a:ext>
                  </a:extLst>
                </a:gridCol>
                <a:gridCol w="2403566">
                  <a:extLst>
                    <a:ext uri="{9D8B030D-6E8A-4147-A177-3AD203B41FA5}">
                      <a16:colId xmlns:a16="http://schemas.microsoft.com/office/drawing/2014/main" val="2585031556"/>
                    </a:ext>
                  </a:extLst>
                </a:gridCol>
              </a:tblGrid>
              <a:tr h="618498">
                <a:tc>
                  <a:txBody>
                    <a:bodyPr/>
                    <a:lstStyle/>
                    <a:p>
                      <a:pPr>
                        <a:buNone/>
                      </a:pPr>
                      <a:r>
                        <a:rPr lang="en-IN" sz="1600" dirty="0">
                          <a:solidFill>
                            <a:schemeClr val="bg1"/>
                          </a:solidFill>
                        </a:rPr>
                        <a:t>S. No</a:t>
                      </a:r>
                    </a:p>
                  </a:txBody>
                  <a:tcPr marL="39266" marR="39266" marT="19633" marB="19633" anchor="ctr">
                    <a:lnL>
                      <a:noFill/>
                    </a:lnL>
                    <a:lnR>
                      <a:noFill/>
                    </a:lnR>
                    <a:lnT>
                      <a:noFill/>
                    </a:lnT>
                    <a:lnB>
                      <a:noFill/>
                    </a:lnB>
                    <a:noFill/>
                  </a:tcPr>
                </a:tc>
                <a:tc>
                  <a:txBody>
                    <a:bodyPr/>
                    <a:lstStyle/>
                    <a:p>
                      <a:pPr>
                        <a:buNone/>
                      </a:pPr>
                      <a:r>
                        <a:rPr lang="en-US" sz="1600" dirty="0">
                          <a:solidFill>
                            <a:schemeClr val="bg1"/>
                          </a:solidFill>
                        </a:rPr>
                        <a:t>Name of the research paper</a:t>
                      </a:r>
                    </a:p>
                  </a:txBody>
                  <a:tcPr marL="39266" marR="39266" marT="19633" marB="19633" anchor="ctr">
                    <a:lnL>
                      <a:noFill/>
                    </a:lnL>
                    <a:lnR>
                      <a:noFill/>
                    </a:lnR>
                    <a:lnT>
                      <a:noFill/>
                    </a:lnT>
                    <a:lnB>
                      <a:noFill/>
                    </a:lnB>
                    <a:noFill/>
                  </a:tcPr>
                </a:tc>
                <a:tc>
                  <a:txBody>
                    <a:bodyPr/>
                    <a:lstStyle/>
                    <a:p>
                      <a:pPr>
                        <a:buNone/>
                      </a:pPr>
                      <a:r>
                        <a:rPr lang="en-IN" sz="1600" dirty="0">
                          <a:solidFill>
                            <a:schemeClr val="bg1"/>
                          </a:solidFill>
                        </a:rPr>
                        <a:t>Author name</a:t>
                      </a:r>
                    </a:p>
                  </a:txBody>
                  <a:tcPr marL="39266" marR="39266" marT="19633" marB="19633" anchor="ctr">
                    <a:lnL>
                      <a:noFill/>
                    </a:lnL>
                    <a:lnR>
                      <a:noFill/>
                    </a:lnR>
                    <a:lnT>
                      <a:noFill/>
                    </a:lnT>
                    <a:lnB>
                      <a:noFill/>
                    </a:lnB>
                    <a:noFill/>
                  </a:tcPr>
                </a:tc>
                <a:tc>
                  <a:txBody>
                    <a:bodyPr/>
                    <a:lstStyle/>
                    <a:p>
                      <a:pPr>
                        <a:buNone/>
                      </a:pPr>
                      <a:r>
                        <a:rPr lang="en-IN" sz="1600" dirty="0">
                          <a:solidFill>
                            <a:schemeClr val="bg1"/>
                          </a:solidFill>
                        </a:rPr>
                        <a:t>Technologies used</a:t>
                      </a:r>
                    </a:p>
                  </a:txBody>
                  <a:tcPr marL="39266" marR="39266" marT="19633" marB="19633" anchor="ctr">
                    <a:lnL>
                      <a:noFill/>
                    </a:lnL>
                    <a:lnR>
                      <a:noFill/>
                    </a:lnR>
                    <a:lnT>
                      <a:noFill/>
                    </a:lnT>
                    <a:lnB>
                      <a:noFill/>
                    </a:lnB>
                    <a:noFill/>
                  </a:tcPr>
                </a:tc>
                <a:tc>
                  <a:txBody>
                    <a:bodyPr/>
                    <a:lstStyle/>
                    <a:p>
                      <a:pPr>
                        <a:buNone/>
                      </a:pPr>
                      <a:r>
                        <a:rPr lang="en-IN" sz="1600" dirty="0">
                          <a:solidFill>
                            <a:schemeClr val="bg1"/>
                          </a:solidFill>
                        </a:rPr>
                        <a:t>Advantages / Disadvantages</a:t>
                      </a:r>
                    </a:p>
                  </a:txBody>
                  <a:tcPr marL="39266" marR="39266" marT="19633" marB="19633" anchor="ctr">
                    <a:lnL>
                      <a:noFill/>
                    </a:lnL>
                    <a:lnR>
                      <a:noFill/>
                    </a:lnR>
                    <a:lnT>
                      <a:noFill/>
                    </a:lnT>
                    <a:lnB>
                      <a:noFill/>
                    </a:lnB>
                    <a:noFill/>
                  </a:tcPr>
                </a:tc>
                <a:extLst>
                  <a:ext uri="{0D108BD9-81ED-4DB2-BD59-A6C34878D82A}">
                    <a16:rowId xmlns:a16="http://schemas.microsoft.com/office/drawing/2014/main" val="3068740281"/>
                  </a:ext>
                </a:extLst>
              </a:tr>
              <a:tr h="1360694">
                <a:tc>
                  <a:txBody>
                    <a:bodyPr/>
                    <a:lstStyle/>
                    <a:p>
                      <a:pPr>
                        <a:buNone/>
                      </a:pPr>
                      <a:r>
                        <a:rPr lang="en-IN" sz="1600" dirty="0">
                          <a:solidFill>
                            <a:schemeClr val="bg1"/>
                          </a:solidFill>
                        </a:rPr>
                        <a:t>1</a:t>
                      </a:r>
                    </a:p>
                  </a:txBody>
                  <a:tcPr marL="39266" marR="39266" marT="19633" marB="19633" anchor="ctr">
                    <a:lnL>
                      <a:noFill/>
                    </a:lnL>
                    <a:lnR>
                      <a:noFill/>
                    </a:lnR>
                    <a:lnT>
                      <a:noFill/>
                    </a:lnT>
                    <a:lnB>
                      <a:noFill/>
                    </a:lnB>
                    <a:noFill/>
                  </a:tcPr>
                </a:tc>
                <a:tc>
                  <a:txBody>
                    <a:bodyPr/>
                    <a:lstStyle/>
                    <a:p>
                      <a:pPr>
                        <a:buNone/>
                      </a:pPr>
                      <a:r>
                        <a:rPr lang="en-US" sz="1600" dirty="0">
                          <a:solidFill>
                            <a:schemeClr val="bg1"/>
                          </a:solidFill>
                        </a:rPr>
                        <a:t>Crisis Event Detection using Social Media, 2016</a:t>
                      </a:r>
                    </a:p>
                  </a:txBody>
                  <a:tcPr marL="39266" marR="39266" marT="19633" marB="19633" anchor="ctr">
                    <a:lnL>
                      <a:noFill/>
                    </a:lnL>
                    <a:lnR>
                      <a:noFill/>
                    </a:lnR>
                    <a:lnT>
                      <a:noFill/>
                    </a:lnT>
                    <a:lnB>
                      <a:noFill/>
                    </a:lnB>
                    <a:noFill/>
                  </a:tcPr>
                </a:tc>
                <a:tc>
                  <a:txBody>
                    <a:bodyPr/>
                    <a:lstStyle/>
                    <a:p>
                      <a:pPr>
                        <a:buNone/>
                      </a:pPr>
                      <a:r>
                        <a:rPr lang="en-IN" sz="1600" dirty="0">
                          <a:solidFill>
                            <a:schemeClr val="bg1"/>
                          </a:solidFill>
                        </a:rPr>
                        <a:t>Carlos Castillo et al.</a:t>
                      </a:r>
                    </a:p>
                  </a:txBody>
                  <a:tcPr marL="39266" marR="39266" marT="19633" marB="19633" anchor="ctr">
                    <a:lnL>
                      <a:noFill/>
                    </a:lnL>
                    <a:lnR>
                      <a:noFill/>
                    </a:lnR>
                    <a:lnT>
                      <a:noFill/>
                    </a:lnT>
                    <a:lnB>
                      <a:noFill/>
                    </a:lnB>
                    <a:noFill/>
                  </a:tcPr>
                </a:tc>
                <a:tc>
                  <a:txBody>
                    <a:bodyPr/>
                    <a:lstStyle/>
                    <a:p>
                      <a:pPr>
                        <a:buNone/>
                      </a:pPr>
                      <a:r>
                        <a:rPr lang="en-IN" sz="1600" dirty="0">
                          <a:solidFill>
                            <a:schemeClr val="bg1"/>
                          </a:solidFill>
                        </a:rPr>
                        <a:t>NLP, Social Media Mining</a:t>
                      </a:r>
                    </a:p>
                  </a:txBody>
                  <a:tcPr marL="39266" marR="39266" marT="19633" marB="19633" anchor="ctr">
                    <a:lnL>
                      <a:noFill/>
                    </a:lnL>
                    <a:lnR>
                      <a:noFill/>
                    </a:lnR>
                    <a:lnT>
                      <a:noFill/>
                    </a:lnT>
                    <a:lnB>
                      <a:noFill/>
                    </a:lnB>
                    <a:noFill/>
                  </a:tcPr>
                </a:tc>
                <a:tc>
                  <a:txBody>
                    <a:bodyPr/>
                    <a:lstStyle/>
                    <a:p>
                      <a:pPr>
                        <a:buNone/>
                      </a:pPr>
                      <a:r>
                        <a:rPr lang="en-US" sz="1600" dirty="0">
                          <a:solidFill>
                            <a:schemeClr val="bg1"/>
                          </a:solidFill>
                        </a:rPr>
                        <a:t>Advantage: Real-time detection using tweets. Disadvantage: Noisy and unverified data</a:t>
                      </a:r>
                    </a:p>
                  </a:txBody>
                  <a:tcPr marL="39266" marR="39266" marT="19633" marB="19633" anchor="ctr">
                    <a:lnL>
                      <a:noFill/>
                    </a:lnL>
                    <a:lnR>
                      <a:noFill/>
                    </a:lnR>
                    <a:lnT>
                      <a:noFill/>
                    </a:lnT>
                    <a:lnB>
                      <a:noFill/>
                    </a:lnB>
                    <a:noFill/>
                  </a:tcPr>
                </a:tc>
                <a:extLst>
                  <a:ext uri="{0D108BD9-81ED-4DB2-BD59-A6C34878D82A}">
                    <a16:rowId xmlns:a16="http://schemas.microsoft.com/office/drawing/2014/main" val="2427924500"/>
                  </a:ext>
                </a:extLst>
              </a:tr>
              <a:tr h="1360694">
                <a:tc>
                  <a:txBody>
                    <a:bodyPr/>
                    <a:lstStyle/>
                    <a:p>
                      <a:pPr>
                        <a:buNone/>
                      </a:pPr>
                      <a:r>
                        <a:rPr lang="en-IN" sz="1600">
                          <a:solidFill>
                            <a:schemeClr val="bg1"/>
                          </a:solidFill>
                        </a:rPr>
                        <a:t>2</a:t>
                      </a:r>
                    </a:p>
                  </a:txBody>
                  <a:tcPr marL="39266" marR="39266" marT="19633" marB="19633" anchor="ctr">
                    <a:lnL>
                      <a:noFill/>
                    </a:lnL>
                    <a:lnR>
                      <a:noFill/>
                    </a:lnR>
                    <a:lnT>
                      <a:noFill/>
                    </a:lnT>
                    <a:lnB>
                      <a:noFill/>
                    </a:lnB>
                    <a:noFill/>
                  </a:tcPr>
                </a:tc>
                <a:tc>
                  <a:txBody>
                    <a:bodyPr/>
                    <a:lstStyle/>
                    <a:p>
                      <a:pPr>
                        <a:buNone/>
                      </a:pPr>
                      <a:r>
                        <a:rPr lang="en-US" sz="1600" dirty="0">
                          <a:solidFill>
                            <a:schemeClr val="bg1"/>
                          </a:solidFill>
                        </a:rPr>
                        <a:t>Real-Time Flood Detection using IoT and ML, 2019</a:t>
                      </a:r>
                    </a:p>
                  </a:txBody>
                  <a:tcPr marL="39266" marR="39266" marT="19633" marB="19633" anchor="ctr">
                    <a:lnL>
                      <a:noFill/>
                    </a:lnL>
                    <a:lnR>
                      <a:noFill/>
                    </a:lnR>
                    <a:lnT>
                      <a:noFill/>
                    </a:lnT>
                    <a:lnB>
                      <a:noFill/>
                    </a:lnB>
                    <a:noFill/>
                  </a:tcPr>
                </a:tc>
                <a:tc>
                  <a:txBody>
                    <a:bodyPr/>
                    <a:lstStyle/>
                    <a:p>
                      <a:pPr>
                        <a:buNone/>
                      </a:pPr>
                      <a:r>
                        <a:rPr lang="da-DK" sz="1600">
                          <a:solidFill>
                            <a:schemeClr val="bg1"/>
                          </a:solidFill>
                        </a:rPr>
                        <a:t>S. N. Shah et al.</a:t>
                      </a:r>
                    </a:p>
                  </a:txBody>
                  <a:tcPr marL="39266" marR="39266" marT="19633" marB="19633" anchor="ctr">
                    <a:lnL>
                      <a:noFill/>
                    </a:lnL>
                    <a:lnR>
                      <a:noFill/>
                    </a:lnR>
                    <a:lnT>
                      <a:noFill/>
                    </a:lnT>
                    <a:lnB>
                      <a:noFill/>
                    </a:lnB>
                    <a:noFill/>
                  </a:tcPr>
                </a:tc>
                <a:tc>
                  <a:txBody>
                    <a:bodyPr/>
                    <a:lstStyle/>
                    <a:p>
                      <a:pPr>
                        <a:buNone/>
                      </a:pPr>
                      <a:r>
                        <a:rPr lang="en-IN" sz="1600" dirty="0">
                          <a:solidFill>
                            <a:schemeClr val="bg1"/>
                          </a:solidFill>
                        </a:rPr>
                        <a:t>IoT Sensors, Machine Learning</a:t>
                      </a:r>
                    </a:p>
                  </a:txBody>
                  <a:tcPr marL="39266" marR="39266" marT="19633" marB="19633" anchor="ctr">
                    <a:lnL>
                      <a:noFill/>
                    </a:lnL>
                    <a:lnR>
                      <a:noFill/>
                    </a:lnR>
                    <a:lnT>
                      <a:noFill/>
                    </a:lnT>
                    <a:lnB>
                      <a:noFill/>
                    </a:lnB>
                    <a:noFill/>
                  </a:tcPr>
                </a:tc>
                <a:tc>
                  <a:txBody>
                    <a:bodyPr/>
                    <a:lstStyle/>
                    <a:p>
                      <a:pPr>
                        <a:buNone/>
                      </a:pPr>
                      <a:r>
                        <a:rPr lang="en-US" sz="1600">
                          <a:solidFill>
                            <a:schemeClr val="bg1"/>
                          </a:solidFill>
                        </a:rPr>
                        <a:t>Advantage: Early flood warnings. Disadvantage: Requires sensor infrastructure</a:t>
                      </a:r>
                    </a:p>
                  </a:txBody>
                  <a:tcPr marL="39266" marR="39266" marT="19633" marB="19633" anchor="ctr">
                    <a:lnL>
                      <a:noFill/>
                    </a:lnL>
                    <a:lnR>
                      <a:noFill/>
                    </a:lnR>
                    <a:lnT>
                      <a:noFill/>
                    </a:lnT>
                    <a:lnB>
                      <a:noFill/>
                    </a:lnB>
                    <a:noFill/>
                  </a:tcPr>
                </a:tc>
                <a:extLst>
                  <a:ext uri="{0D108BD9-81ED-4DB2-BD59-A6C34878D82A}">
                    <a16:rowId xmlns:a16="http://schemas.microsoft.com/office/drawing/2014/main" val="3805870246"/>
                  </a:ext>
                </a:extLst>
              </a:tr>
              <a:tr h="1546245">
                <a:tc>
                  <a:txBody>
                    <a:bodyPr/>
                    <a:lstStyle/>
                    <a:p>
                      <a:pPr>
                        <a:buNone/>
                      </a:pPr>
                      <a:r>
                        <a:rPr lang="en-IN" sz="1600">
                          <a:solidFill>
                            <a:schemeClr val="bg1"/>
                          </a:solidFill>
                        </a:rPr>
                        <a:t>3</a:t>
                      </a:r>
                    </a:p>
                  </a:txBody>
                  <a:tcPr marL="39266" marR="39266" marT="19633" marB="19633" anchor="ctr">
                    <a:lnL>
                      <a:noFill/>
                    </a:lnL>
                    <a:lnR>
                      <a:noFill/>
                    </a:lnR>
                    <a:lnT>
                      <a:noFill/>
                    </a:lnT>
                    <a:lnB>
                      <a:noFill/>
                    </a:lnB>
                    <a:noFill/>
                  </a:tcPr>
                </a:tc>
                <a:tc>
                  <a:txBody>
                    <a:bodyPr/>
                    <a:lstStyle/>
                    <a:p>
                      <a:pPr>
                        <a:buNone/>
                      </a:pPr>
                      <a:r>
                        <a:rPr lang="en-US" sz="1600">
                          <a:solidFill>
                            <a:schemeClr val="bg1"/>
                          </a:solidFill>
                        </a:rPr>
                        <a:t>Big Data Stream Processing with Apache Kafka and Spark, 2018</a:t>
                      </a:r>
                    </a:p>
                  </a:txBody>
                  <a:tcPr marL="39266" marR="39266" marT="19633" marB="19633" anchor="ctr">
                    <a:lnL>
                      <a:noFill/>
                    </a:lnL>
                    <a:lnR>
                      <a:noFill/>
                    </a:lnR>
                    <a:lnT>
                      <a:noFill/>
                    </a:lnT>
                    <a:lnB>
                      <a:noFill/>
                    </a:lnB>
                    <a:noFill/>
                  </a:tcPr>
                </a:tc>
                <a:tc>
                  <a:txBody>
                    <a:bodyPr/>
                    <a:lstStyle/>
                    <a:p>
                      <a:pPr>
                        <a:buNone/>
                      </a:pPr>
                      <a:r>
                        <a:rPr lang="en-IN" sz="1600">
                          <a:solidFill>
                            <a:schemeClr val="bg1"/>
                          </a:solidFill>
                        </a:rPr>
                        <a:t>Tyler Akidau et al.</a:t>
                      </a:r>
                    </a:p>
                  </a:txBody>
                  <a:tcPr marL="39266" marR="39266" marT="19633" marB="19633" anchor="ctr">
                    <a:lnL>
                      <a:noFill/>
                    </a:lnL>
                    <a:lnR>
                      <a:noFill/>
                    </a:lnR>
                    <a:lnT>
                      <a:noFill/>
                    </a:lnT>
                    <a:lnB>
                      <a:noFill/>
                    </a:lnB>
                    <a:noFill/>
                  </a:tcPr>
                </a:tc>
                <a:tc>
                  <a:txBody>
                    <a:bodyPr/>
                    <a:lstStyle/>
                    <a:p>
                      <a:pPr>
                        <a:buNone/>
                      </a:pPr>
                      <a:r>
                        <a:rPr lang="en-IN" sz="1600">
                          <a:solidFill>
                            <a:schemeClr val="bg1"/>
                          </a:solidFill>
                        </a:rPr>
                        <a:t>Kafka, Spark Streaming</a:t>
                      </a:r>
                    </a:p>
                  </a:txBody>
                  <a:tcPr marL="39266" marR="39266" marT="19633" marB="19633" anchor="ctr">
                    <a:lnL>
                      <a:noFill/>
                    </a:lnL>
                    <a:lnR>
                      <a:noFill/>
                    </a:lnR>
                    <a:lnT>
                      <a:noFill/>
                    </a:lnT>
                    <a:lnB>
                      <a:noFill/>
                    </a:lnB>
                    <a:noFill/>
                  </a:tcPr>
                </a:tc>
                <a:tc>
                  <a:txBody>
                    <a:bodyPr/>
                    <a:lstStyle/>
                    <a:p>
                      <a:pPr>
                        <a:buNone/>
                      </a:pPr>
                      <a:r>
                        <a:rPr lang="en-US" sz="1600" dirty="0">
                          <a:solidFill>
                            <a:schemeClr val="bg1"/>
                          </a:solidFill>
                        </a:rPr>
                        <a:t>Advantage: Handles large-scale streaming data. Disadvantage: Complex system setup</a:t>
                      </a:r>
                    </a:p>
                  </a:txBody>
                  <a:tcPr marL="39266" marR="39266" marT="19633" marB="19633" anchor="ctr">
                    <a:lnL>
                      <a:noFill/>
                    </a:lnL>
                    <a:lnR>
                      <a:noFill/>
                    </a:lnR>
                    <a:lnT>
                      <a:noFill/>
                    </a:lnT>
                    <a:lnB>
                      <a:noFill/>
                    </a:lnB>
                    <a:noFill/>
                  </a:tcPr>
                </a:tc>
                <a:extLst>
                  <a:ext uri="{0D108BD9-81ED-4DB2-BD59-A6C34878D82A}">
                    <a16:rowId xmlns:a16="http://schemas.microsoft.com/office/drawing/2014/main" val="1910814296"/>
                  </a:ext>
                </a:extLst>
              </a:tr>
            </a:tbl>
          </a:graphicData>
        </a:graphic>
      </p:graphicFrame>
    </p:spTree>
    <p:extLst>
      <p:ext uri="{BB962C8B-B14F-4D97-AF65-F5344CB8AC3E}">
        <p14:creationId xmlns:p14="http://schemas.microsoft.com/office/powerpoint/2010/main" val="3268716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05869-C878-8FA6-513E-C843DF4C9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333E5-55C7-BB2E-7489-C265D77E2971}"/>
              </a:ext>
            </a:extLst>
          </p:cNvPr>
          <p:cNvSpPr>
            <a:spLocks noGrp="1"/>
          </p:cNvSpPr>
          <p:nvPr>
            <p:ph type="ctrTitle"/>
          </p:nvPr>
        </p:nvSpPr>
        <p:spPr>
          <a:xfrm>
            <a:off x="2320413" y="322839"/>
            <a:ext cx="7551173" cy="974116"/>
          </a:xfrm>
        </p:spPr>
        <p:txBody>
          <a:bodyPr>
            <a:normAutofit/>
          </a:bodyPr>
          <a:lstStyle/>
          <a:p>
            <a:r>
              <a:rPr lang="en-US" dirty="0"/>
              <a:t>Literature survey</a:t>
            </a:r>
            <a:endParaRPr lang="en-IN" dirty="0"/>
          </a:p>
        </p:txBody>
      </p:sp>
      <p:graphicFrame>
        <p:nvGraphicFramePr>
          <p:cNvPr id="3" name="Table 2">
            <a:extLst>
              <a:ext uri="{FF2B5EF4-FFF2-40B4-BE49-F238E27FC236}">
                <a16:creationId xmlns:a16="http://schemas.microsoft.com/office/drawing/2014/main" id="{2648CE44-496F-881A-4E1F-58BD98D26E62}"/>
              </a:ext>
            </a:extLst>
          </p:cNvPr>
          <p:cNvGraphicFramePr>
            <a:graphicFrameLocks noGrp="1"/>
          </p:cNvGraphicFramePr>
          <p:nvPr>
            <p:extLst>
              <p:ext uri="{D42A27DB-BD31-4B8C-83A1-F6EECF244321}">
                <p14:modId xmlns:p14="http://schemas.microsoft.com/office/powerpoint/2010/main" val="2474137807"/>
              </p:ext>
            </p:extLst>
          </p:nvPr>
        </p:nvGraphicFramePr>
        <p:xfrm>
          <a:off x="119746" y="1296955"/>
          <a:ext cx="11952511" cy="5082074"/>
        </p:xfrm>
        <a:graphic>
          <a:graphicData uri="http://schemas.openxmlformats.org/drawingml/2006/table">
            <a:tbl>
              <a:tblPr/>
              <a:tblGrid>
                <a:gridCol w="700553">
                  <a:extLst>
                    <a:ext uri="{9D8B030D-6E8A-4147-A177-3AD203B41FA5}">
                      <a16:colId xmlns:a16="http://schemas.microsoft.com/office/drawing/2014/main" val="3974874255"/>
                    </a:ext>
                  </a:extLst>
                </a:gridCol>
                <a:gridCol w="3448877">
                  <a:extLst>
                    <a:ext uri="{9D8B030D-6E8A-4147-A177-3AD203B41FA5}">
                      <a16:colId xmlns:a16="http://schemas.microsoft.com/office/drawing/2014/main" val="128591277"/>
                    </a:ext>
                  </a:extLst>
                </a:gridCol>
                <a:gridCol w="2177103">
                  <a:extLst>
                    <a:ext uri="{9D8B030D-6E8A-4147-A177-3AD203B41FA5}">
                      <a16:colId xmlns:a16="http://schemas.microsoft.com/office/drawing/2014/main" val="2082415517"/>
                    </a:ext>
                  </a:extLst>
                </a:gridCol>
                <a:gridCol w="3235476">
                  <a:extLst>
                    <a:ext uri="{9D8B030D-6E8A-4147-A177-3AD203B41FA5}">
                      <a16:colId xmlns:a16="http://schemas.microsoft.com/office/drawing/2014/main" val="3119024143"/>
                    </a:ext>
                  </a:extLst>
                </a:gridCol>
                <a:gridCol w="2390502">
                  <a:extLst>
                    <a:ext uri="{9D8B030D-6E8A-4147-A177-3AD203B41FA5}">
                      <a16:colId xmlns:a16="http://schemas.microsoft.com/office/drawing/2014/main" val="49011032"/>
                    </a:ext>
                  </a:extLst>
                </a:gridCol>
              </a:tblGrid>
              <a:tr h="619765">
                <a:tc>
                  <a:txBody>
                    <a:bodyPr/>
                    <a:lstStyle/>
                    <a:p>
                      <a:pPr>
                        <a:buNone/>
                      </a:pPr>
                      <a:r>
                        <a:rPr lang="en-IN" sz="1600">
                          <a:solidFill>
                            <a:schemeClr val="bg1"/>
                          </a:solidFill>
                        </a:rPr>
                        <a:t>S. No</a:t>
                      </a:r>
                    </a:p>
                  </a:txBody>
                  <a:tcPr marL="37829" marR="37829" marT="18914" marB="18914" anchor="ctr">
                    <a:lnL>
                      <a:noFill/>
                    </a:lnL>
                    <a:lnR>
                      <a:noFill/>
                    </a:lnR>
                    <a:lnT>
                      <a:noFill/>
                    </a:lnT>
                    <a:lnB>
                      <a:noFill/>
                    </a:lnB>
                    <a:noFill/>
                  </a:tcPr>
                </a:tc>
                <a:tc>
                  <a:txBody>
                    <a:bodyPr/>
                    <a:lstStyle/>
                    <a:p>
                      <a:pPr>
                        <a:buNone/>
                      </a:pPr>
                      <a:r>
                        <a:rPr lang="en-US" sz="1600" dirty="0">
                          <a:solidFill>
                            <a:schemeClr val="bg1"/>
                          </a:solidFill>
                        </a:rPr>
                        <a:t>Name of the research paper</a:t>
                      </a:r>
                    </a:p>
                  </a:txBody>
                  <a:tcPr marL="37829" marR="37829" marT="18914" marB="18914" anchor="ctr">
                    <a:lnL>
                      <a:noFill/>
                    </a:lnL>
                    <a:lnR>
                      <a:noFill/>
                    </a:lnR>
                    <a:lnT>
                      <a:noFill/>
                    </a:lnT>
                    <a:lnB>
                      <a:noFill/>
                    </a:lnB>
                    <a:noFill/>
                  </a:tcPr>
                </a:tc>
                <a:tc>
                  <a:txBody>
                    <a:bodyPr/>
                    <a:lstStyle/>
                    <a:p>
                      <a:pPr>
                        <a:buNone/>
                      </a:pPr>
                      <a:r>
                        <a:rPr lang="en-IN" sz="1600">
                          <a:solidFill>
                            <a:schemeClr val="bg1"/>
                          </a:solidFill>
                        </a:rPr>
                        <a:t>Author name</a:t>
                      </a:r>
                    </a:p>
                  </a:txBody>
                  <a:tcPr marL="37829" marR="37829" marT="18914" marB="18914" anchor="ctr">
                    <a:lnL>
                      <a:noFill/>
                    </a:lnL>
                    <a:lnR>
                      <a:noFill/>
                    </a:lnR>
                    <a:lnT>
                      <a:noFill/>
                    </a:lnT>
                    <a:lnB>
                      <a:noFill/>
                    </a:lnB>
                    <a:noFill/>
                  </a:tcPr>
                </a:tc>
                <a:tc>
                  <a:txBody>
                    <a:bodyPr/>
                    <a:lstStyle/>
                    <a:p>
                      <a:pPr>
                        <a:buNone/>
                      </a:pPr>
                      <a:r>
                        <a:rPr lang="en-IN" sz="1600">
                          <a:solidFill>
                            <a:schemeClr val="bg1"/>
                          </a:solidFill>
                        </a:rPr>
                        <a:t>Technologies used</a:t>
                      </a:r>
                    </a:p>
                  </a:txBody>
                  <a:tcPr marL="37829" marR="37829" marT="18914" marB="18914" anchor="ctr">
                    <a:lnL>
                      <a:noFill/>
                    </a:lnL>
                    <a:lnR>
                      <a:noFill/>
                    </a:lnR>
                    <a:lnT>
                      <a:noFill/>
                    </a:lnT>
                    <a:lnB>
                      <a:noFill/>
                    </a:lnB>
                    <a:noFill/>
                  </a:tcPr>
                </a:tc>
                <a:tc>
                  <a:txBody>
                    <a:bodyPr/>
                    <a:lstStyle/>
                    <a:p>
                      <a:pPr>
                        <a:buNone/>
                      </a:pPr>
                      <a:r>
                        <a:rPr lang="en-IN" sz="1600">
                          <a:solidFill>
                            <a:schemeClr val="bg1"/>
                          </a:solidFill>
                        </a:rPr>
                        <a:t>Advantages / Disadvantages</a:t>
                      </a:r>
                    </a:p>
                  </a:txBody>
                  <a:tcPr marL="37829" marR="37829" marT="18914" marB="18914" anchor="ctr">
                    <a:lnL>
                      <a:noFill/>
                    </a:lnL>
                    <a:lnR>
                      <a:noFill/>
                    </a:lnR>
                    <a:lnT>
                      <a:noFill/>
                    </a:lnT>
                    <a:lnB>
                      <a:noFill/>
                    </a:lnB>
                    <a:noFill/>
                  </a:tcPr>
                </a:tc>
                <a:extLst>
                  <a:ext uri="{0D108BD9-81ED-4DB2-BD59-A6C34878D82A}">
                    <a16:rowId xmlns:a16="http://schemas.microsoft.com/office/drawing/2014/main" val="2469510554"/>
                  </a:ext>
                </a:extLst>
              </a:tr>
              <a:tr h="1549413">
                <a:tc>
                  <a:txBody>
                    <a:bodyPr/>
                    <a:lstStyle/>
                    <a:p>
                      <a:pPr>
                        <a:buNone/>
                      </a:pPr>
                      <a:r>
                        <a:rPr lang="en-IN" sz="1600">
                          <a:solidFill>
                            <a:schemeClr val="bg1"/>
                          </a:solidFill>
                        </a:rPr>
                        <a:t>4</a:t>
                      </a:r>
                    </a:p>
                  </a:txBody>
                  <a:tcPr marL="37829" marR="37829" marT="18914" marB="18914" anchor="ctr">
                    <a:lnL>
                      <a:noFill/>
                    </a:lnL>
                    <a:lnR>
                      <a:noFill/>
                    </a:lnR>
                    <a:lnT>
                      <a:noFill/>
                    </a:lnT>
                    <a:lnB>
                      <a:noFill/>
                    </a:lnB>
                    <a:noFill/>
                  </a:tcPr>
                </a:tc>
                <a:tc>
                  <a:txBody>
                    <a:bodyPr/>
                    <a:lstStyle/>
                    <a:p>
                      <a:pPr>
                        <a:buNone/>
                      </a:pPr>
                      <a:r>
                        <a:rPr lang="en-US" sz="1600" dirty="0">
                          <a:solidFill>
                            <a:schemeClr val="bg1"/>
                          </a:solidFill>
                        </a:rPr>
                        <a:t>Disaster Prediction using Machine Learning Techniques, 2020</a:t>
                      </a:r>
                    </a:p>
                  </a:txBody>
                  <a:tcPr marL="37829" marR="37829" marT="18914" marB="18914" anchor="ctr">
                    <a:lnL>
                      <a:noFill/>
                    </a:lnL>
                    <a:lnR>
                      <a:noFill/>
                    </a:lnR>
                    <a:lnT>
                      <a:noFill/>
                    </a:lnT>
                    <a:lnB>
                      <a:noFill/>
                    </a:lnB>
                    <a:noFill/>
                  </a:tcPr>
                </a:tc>
                <a:tc>
                  <a:txBody>
                    <a:bodyPr/>
                    <a:lstStyle/>
                    <a:p>
                      <a:pPr>
                        <a:buNone/>
                      </a:pPr>
                      <a:r>
                        <a:rPr lang="da-DK" sz="1600">
                          <a:solidFill>
                            <a:schemeClr val="bg1"/>
                          </a:solidFill>
                        </a:rPr>
                        <a:t>R. K. Singh et al.</a:t>
                      </a:r>
                    </a:p>
                  </a:txBody>
                  <a:tcPr marL="37829" marR="37829" marT="18914" marB="18914" anchor="ctr">
                    <a:lnL>
                      <a:noFill/>
                    </a:lnL>
                    <a:lnR>
                      <a:noFill/>
                    </a:lnR>
                    <a:lnT>
                      <a:noFill/>
                    </a:lnT>
                    <a:lnB>
                      <a:noFill/>
                    </a:lnB>
                    <a:noFill/>
                  </a:tcPr>
                </a:tc>
                <a:tc>
                  <a:txBody>
                    <a:bodyPr/>
                    <a:lstStyle/>
                    <a:p>
                      <a:pPr>
                        <a:buNone/>
                      </a:pPr>
                      <a:r>
                        <a:rPr lang="en-IN" sz="1600">
                          <a:solidFill>
                            <a:schemeClr val="bg1"/>
                          </a:solidFill>
                        </a:rPr>
                        <a:t>Random Forest, SVM</a:t>
                      </a:r>
                    </a:p>
                  </a:txBody>
                  <a:tcPr marL="37829" marR="37829" marT="18914" marB="18914" anchor="ctr">
                    <a:lnL>
                      <a:noFill/>
                    </a:lnL>
                    <a:lnR>
                      <a:noFill/>
                    </a:lnR>
                    <a:lnT>
                      <a:noFill/>
                    </a:lnT>
                    <a:lnB>
                      <a:noFill/>
                    </a:lnB>
                    <a:noFill/>
                  </a:tcPr>
                </a:tc>
                <a:tc>
                  <a:txBody>
                    <a:bodyPr/>
                    <a:lstStyle/>
                    <a:p>
                      <a:pPr>
                        <a:buNone/>
                      </a:pPr>
                      <a:r>
                        <a:rPr lang="en-US" sz="1600">
                          <a:solidFill>
                            <a:schemeClr val="bg1"/>
                          </a:solidFill>
                        </a:rPr>
                        <a:t>Advantage: Accurate prediction of disaster severity. Disadvantage: Needs large datasets</a:t>
                      </a:r>
                    </a:p>
                  </a:txBody>
                  <a:tcPr marL="37829" marR="37829" marT="18914" marB="18914" anchor="ctr">
                    <a:lnL>
                      <a:noFill/>
                    </a:lnL>
                    <a:lnR>
                      <a:noFill/>
                    </a:lnR>
                    <a:lnT>
                      <a:noFill/>
                    </a:lnT>
                    <a:lnB>
                      <a:noFill/>
                    </a:lnB>
                    <a:noFill/>
                  </a:tcPr>
                </a:tc>
                <a:extLst>
                  <a:ext uri="{0D108BD9-81ED-4DB2-BD59-A6C34878D82A}">
                    <a16:rowId xmlns:a16="http://schemas.microsoft.com/office/drawing/2014/main" val="1677962645"/>
                  </a:ext>
                </a:extLst>
              </a:tr>
              <a:tr h="1549413">
                <a:tc>
                  <a:txBody>
                    <a:bodyPr/>
                    <a:lstStyle/>
                    <a:p>
                      <a:pPr>
                        <a:buNone/>
                      </a:pPr>
                      <a:r>
                        <a:rPr lang="en-IN" sz="1600">
                          <a:solidFill>
                            <a:schemeClr val="bg1"/>
                          </a:solidFill>
                        </a:rPr>
                        <a:t>5</a:t>
                      </a:r>
                    </a:p>
                  </a:txBody>
                  <a:tcPr marL="37829" marR="37829" marT="18914" marB="18914" anchor="ctr">
                    <a:lnL>
                      <a:noFill/>
                    </a:lnL>
                    <a:lnR>
                      <a:noFill/>
                    </a:lnR>
                    <a:lnT>
                      <a:noFill/>
                    </a:lnT>
                    <a:lnB>
                      <a:noFill/>
                    </a:lnB>
                    <a:noFill/>
                  </a:tcPr>
                </a:tc>
                <a:tc>
                  <a:txBody>
                    <a:bodyPr/>
                    <a:lstStyle/>
                    <a:p>
                      <a:pPr>
                        <a:buNone/>
                      </a:pPr>
                      <a:r>
                        <a:rPr lang="en-US" sz="1600">
                          <a:solidFill>
                            <a:schemeClr val="bg1"/>
                          </a:solidFill>
                        </a:rPr>
                        <a:t>A Survey on Disaster Management using Big Data Analytics, 2021</a:t>
                      </a:r>
                    </a:p>
                  </a:txBody>
                  <a:tcPr marL="37829" marR="37829" marT="18914" marB="18914" anchor="ctr">
                    <a:lnL>
                      <a:noFill/>
                    </a:lnL>
                    <a:lnR>
                      <a:noFill/>
                    </a:lnR>
                    <a:lnT>
                      <a:noFill/>
                    </a:lnT>
                    <a:lnB>
                      <a:noFill/>
                    </a:lnB>
                    <a:noFill/>
                  </a:tcPr>
                </a:tc>
                <a:tc>
                  <a:txBody>
                    <a:bodyPr/>
                    <a:lstStyle/>
                    <a:p>
                      <a:pPr>
                        <a:buNone/>
                      </a:pPr>
                      <a:r>
                        <a:rPr lang="en-IN" sz="1600">
                          <a:solidFill>
                            <a:schemeClr val="bg1"/>
                          </a:solidFill>
                        </a:rPr>
                        <a:t>A. Sharma et al.</a:t>
                      </a:r>
                    </a:p>
                  </a:txBody>
                  <a:tcPr marL="37829" marR="37829" marT="18914" marB="18914" anchor="ctr">
                    <a:lnL>
                      <a:noFill/>
                    </a:lnL>
                    <a:lnR>
                      <a:noFill/>
                    </a:lnR>
                    <a:lnT>
                      <a:noFill/>
                    </a:lnT>
                    <a:lnB>
                      <a:noFill/>
                    </a:lnB>
                    <a:noFill/>
                  </a:tcPr>
                </a:tc>
                <a:tc>
                  <a:txBody>
                    <a:bodyPr/>
                    <a:lstStyle/>
                    <a:p>
                      <a:pPr>
                        <a:buNone/>
                      </a:pPr>
                      <a:r>
                        <a:rPr lang="en-IN" sz="1600" dirty="0">
                          <a:solidFill>
                            <a:schemeClr val="bg1"/>
                          </a:solidFill>
                        </a:rPr>
                        <a:t>Big Data, Cloud Computing</a:t>
                      </a:r>
                    </a:p>
                  </a:txBody>
                  <a:tcPr marL="37829" marR="37829" marT="18914" marB="18914" anchor="ctr">
                    <a:lnL>
                      <a:noFill/>
                    </a:lnL>
                    <a:lnR>
                      <a:noFill/>
                    </a:lnR>
                    <a:lnT>
                      <a:noFill/>
                    </a:lnT>
                    <a:lnB>
                      <a:noFill/>
                    </a:lnB>
                    <a:noFill/>
                  </a:tcPr>
                </a:tc>
                <a:tc>
                  <a:txBody>
                    <a:bodyPr/>
                    <a:lstStyle/>
                    <a:p>
                      <a:pPr>
                        <a:buNone/>
                      </a:pPr>
                      <a:r>
                        <a:rPr lang="en-US" sz="1600">
                          <a:solidFill>
                            <a:schemeClr val="bg1"/>
                          </a:solidFill>
                        </a:rPr>
                        <a:t>Advantage: Integrates multiple data sources. Disadvantage: High computational cost</a:t>
                      </a:r>
                    </a:p>
                  </a:txBody>
                  <a:tcPr marL="37829" marR="37829" marT="18914" marB="18914" anchor="ctr">
                    <a:lnL>
                      <a:noFill/>
                    </a:lnL>
                    <a:lnR>
                      <a:noFill/>
                    </a:lnR>
                    <a:lnT>
                      <a:noFill/>
                    </a:lnT>
                    <a:lnB>
                      <a:noFill/>
                    </a:lnB>
                    <a:noFill/>
                  </a:tcPr>
                </a:tc>
                <a:extLst>
                  <a:ext uri="{0D108BD9-81ED-4DB2-BD59-A6C34878D82A}">
                    <a16:rowId xmlns:a16="http://schemas.microsoft.com/office/drawing/2014/main" val="3799802597"/>
                  </a:ext>
                </a:extLst>
              </a:tr>
              <a:tr h="1363483">
                <a:tc>
                  <a:txBody>
                    <a:bodyPr/>
                    <a:lstStyle/>
                    <a:p>
                      <a:pPr>
                        <a:buNone/>
                      </a:pPr>
                      <a:r>
                        <a:rPr lang="en-IN" sz="1600">
                          <a:solidFill>
                            <a:schemeClr val="bg1"/>
                          </a:solidFill>
                        </a:rPr>
                        <a:t>6</a:t>
                      </a:r>
                    </a:p>
                  </a:txBody>
                  <a:tcPr marL="37829" marR="37829" marT="18914" marB="18914" anchor="ctr">
                    <a:lnL>
                      <a:noFill/>
                    </a:lnL>
                    <a:lnR>
                      <a:noFill/>
                    </a:lnR>
                    <a:lnT>
                      <a:noFill/>
                    </a:lnT>
                    <a:lnB>
                      <a:noFill/>
                    </a:lnB>
                    <a:noFill/>
                  </a:tcPr>
                </a:tc>
                <a:tc>
                  <a:txBody>
                    <a:bodyPr/>
                    <a:lstStyle/>
                    <a:p>
                      <a:pPr>
                        <a:buNone/>
                      </a:pPr>
                      <a:r>
                        <a:rPr lang="en-US" sz="1600">
                          <a:solidFill>
                            <a:schemeClr val="bg1"/>
                          </a:solidFill>
                        </a:rPr>
                        <a:t>Real-Time Event Detection System using Streaming Data, 2019</a:t>
                      </a:r>
                    </a:p>
                  </a:txBody>
                  <a:tcPr marL="37829" marR="37829" marT="18914" marB="18914" anchor="ctr">
                    <a:lnL>
                      <a:noFill/>
                    </a:lnL>
                    <a:lnR>
                      <a:noFill/>
                    </a:lnR>
                    <a:lnT>
                      <a:noFill/>
                    </a:lnT>
                    <a:lnB>
                      <a:noFill/>
                    </a:lnB>
                    <a:noFill/>
                  </a:tcPr>
                </a:tc>
                <a:tc>
                  <a:txBody>
                    <a:bodyPr/>
                    <a:lstStyle/>
                    <a:p>
                      <a:pPr>
                        <a:buNone/>
                      </a:pPr>
                      <a:r>
                        <a:rPr lang="en-IN" sz="1600">
                          <a:solidFill>
                            <a:schemeClr val="bg1"/>
                          </a:solidFill>
                        </a:rPr>
                        <a:t>J. Kreps et al.</a:t>
                      </a:r>
                    </a:p>
                  </a:txBody>
                  <a:tcPr marL="37829" marR="37829" marT="18914" marB="18914" anchor="ctr">
                    <a:lnL>
                      <a:noFill/>
                    </a:lnL>
                    <a:lnR>
                      <a:noFill/>
                    </a:lnR>
                    <a:lnT>
                      <a:noFill/>
                    </a:lnT>
                    <a:lnB>
                      <a:noFill/>
                    </a:lnB>
                    <a:noFill/>
                  </a:tcPr>
                </a:tc>
                <a:tc>
                  <a:txBody>
                    <a:bodyPr/>
                    <a:lstStyle/>
                    <a:p>
                      <a:pPr>
                        <a:buNone/>
                      </a:pPr>
                      <a:r>
                        <a:rPr lang="en-IN" sz="1600">
                          <a:solidFill>
                            <a:schemeClr val="bg1"/>
                          </a:solidFill>
                        </a:rPr>
                        <a:t>Kafka, Distributed Systems</a:t>
                      </a:r>
                    </a:p>
                  </a:txBody>
                  <a:tcPr marL="37829" marR="37829" marT="18914" marB="18914" anchor="ctr">
                    <a:lnL>
                      <a:noFill/>
                    </a:lnL>
                    <a:lnR>
                      <a:noFill/>
                    </a:lnR>
                    <a:lnT>
                      <a:noFill/>
                    </a:lnT>
                    <a:lnB>
                      <a:noFill/>
                    </a:lnB>
                    <a:noFill/>
                  </a:tcPr>
                </a:tc>
                <a:tc>
                  <a:txBody>
                    <a:bodyPr/>
                    <a:lstStyle/>
                    <a:p>
                      <a:pPr>
                        <a:buNone/>
                      </a:pPr>
                      <a:r>
                        <a:rPr lang="en-US" sz="1600" dirty="0">
                          <a:solidFill>
                            <a:schemeClr val="bg1"/>
                          </a:solidFill>
                        </a:rPr>
                        <a:t>Advantage: Low latency processing. Disadvantage: Requires proper configuration</a:t>
                      </a:r>
                    </a:p>
                  </a:txBody>
                  <a:tcPr marL="37829" marR="37829" marT="18914" marB="18914" anchor="ctr">
                    <a:lnL>
                      <a:noFill/>
                    </a:lnL>
                    <a:lnR>
                      <a:noFill/>
                    </a:lnR>
                    <a:lnT>
                      <a:noFill/>
                    </a:lnT>
                    <a:lnB>
                      <a:noFill/>
                    </a:lnB>
                    <a:noFill/>
                  </a:tcPr>
                </a:tc>
                <a:extLst>
                  <a:ext uri="{0D108BD9-81ED-4DB2-BD59-A6C34878D82A}">
                    <a16:rowId xmlns:a16="http://schemas.microsoft.com/office/drawing/2014/main" val="76918273"/>
                  </a:ext>
                </a:extLst>
              </a:tr>
            </a:tbl>
          </a:graphicData>
        </a:graphic>
      </p:graphicFrame>
    </p:spTree>
    <p:extLst>
      <p:ext uri="{BB962C8B-B14F-4D97-AF65-F5344CB8AC3E}">
        <p14:creationId xmlns:p14="http://schemas.microsoft.com/office/powerpoint/2010/main" val="644050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System Architecture</a:t>
            </a:r>
            <a:endParaRPr lang="en-IN" dirty="0"/>
          </a:p>
        </p:txBody>
      </p:sp>
      <p:sp>
        <p:nvSpPr>
          <p:cNvPr id="5" name="TextBox 4">
            <a:extLst>
              <a:ext uri="{FF2B5EF4-FFF2-40B4-BE49-F238E27FC236}">
                <a16:creationId xmlns:a16="http://schemas.microsoft.com/office/drawing/2014/main" id="{9055C126-5FBD-A73C-4C78-529EEA382E85}"/>
              </a:ext>
            </a:extLst>
          </p:cNvPr>
          <p:cNvSpPr txBox="1"/>
          <p:nvPr/>
        </p:nvSpPr>
        <p:spPr>
          <a:xfrm flipH="1">
            <a:off x="914706" y="1621549"/>
            <a:ext cx="10382249" cy="892552"/>
          </a:xfrm>
          <a:prstGeom prst="rect">
            <a:avLst/>
          </a:prstGeom>
          <a:noFill/>
        </p:spPr>
        <p:txBody>
          <a:bodyPr wrap="square" rtlCol="0">
            <a:spAutoFit/>
          </a:bodyPr>
          <a:lstStyle/>
          <a:p>
            <a:r>
              <a:rPr lang="en-US" sz="1300" dirty="0">
                <a:solidFill>
                  <a:schemeClr val="bg1"/>
                </a:solidFill>
              </a:rPr>
              <a:t>The system processes real-time disaster data by integrating multiple sources such as social media, weather APIs, news feeds, and IoT sensors through an automated data pipeline. Data is streamed using Kafka, processed with Spark, and analyzed using machine learning models to predict disaster severity and store results in HDFS. The output is delivered to a React dashboard for real-time visualization and alerts, ensuring scalability, reliability, and fast response.</a:t>
            </a:r>
            <a:endParaRPr lang="en-IN" sz="1300" dirty="0">
              <a:solidFill>
                <a:schemeClr val="bg1"/>
              </a:solidFill>
            </a:endParaRPr>
          </a:p>
        </p:txBody>
      </p:sp>
      <p:pic>
        <p:nvPicPr>
          <p:cNvPr id="7" name="Picture 6">
            <a:extLst>
              <a:ext uri="{FF2B5EF4-FFF2-40B4-BE49-F238E27FC236}">
                <a16:creationId xmlns:a16="http://schemas.microsoft.com/office/drawing/2014/main" id="{BFC43622-A7F6-147A-3BE2-2300C0CE16F0}"/>
              </a:ext>
            </a:extLst>
          </p:cNvPr>
          <p:cNvPicPr>
            <a:picLocks noChangeAspect="1"/>
          </p:cNvPicPr>
          <p:nvPr/>
        </p:nvPicPr>
        <p:blipFill>
          <a:blip r:embed="rId2"/>
          <a:stretch>
            <a:fillRect/>
          </a:stretch>
        </p:blipFill>
        <p:spPr>
          <a:xfrm>
            <a:off x="2316914" y="2514101"/>
            <a:ext cx="7558172" cy="4252510"/>
          </a:xfrm>
          <a:prstGeom prst="rect">
            <a:avLst/>
          </a:prstGeom>
        </p:spPr>
      </p:pic>
    </p:spTree>
    <p:extLst>
      <p:ext uri="{BB962C8B-B14F-4D97-AF65-F5344CB8AC3E}">
        <p14:creationId xmlns:p14="http://schemas.microsoft.com/office/powerpoint/2010/main" val="1667733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12A1-D91A-9567-F858-18F8FD227B5A}"/>
              </a:ext>
            </a:extLst>
          </p:cNvPr>
          <p:cNvSpPr>
            <a:spLocks noGrp="1"/>
          </p:cNvSpPr>
          <p:nvPr>
            <p:ph type="ctrTitle"/>
          </p:nvPr>
        </p:nvSpPr>
        <p:spPr>
          <a:xfrm>
            <a:off x="1600200" y="380144"/>
            <a:ext cx="8991600" cy="999923"/>
          </a:xfrm>
        </p:spPr>
        <p:txBody>
          <a:bodyPr/>
          <a:lstStyle/>
          <a:p>
            <a:r>
              <a:rPr lang="en-IN" dirty="0" err="1"/>
              <a:t>Uml</a:t>
            </a:r>
            <a:r>
              <a:rPr lang="en-IN" dirty="0"/>
              <a:t> diagram</a:t>
            </a:r>
          </a:p>
        </p:txBody>
      </p:sp>
      <p:pic>
        <p:nvPicPr>
          <p:cNvPr id="9" name="Picture 8">
            <a:extLst>
              <a:ext uri="{FF2B5EF4-FFF2-40B4-BE49-F238E27FC236}">
                <a16:creationId xmlns:a16="http://schemas.microsoft.com/office/drawing/2014/main" id="{CFB94561-D916-3336-8DA3-2DD0CCF16B99}"/>
              </a:ext>
            </a:extLst>
          </p:cNvPr>
          <p:cNvPicPr>
            <a:picLocks noChangeAspect="1"/>
          </p:cNvPicPr>
          <p:nvPr/>
        </p:nvPicPr>
        <p:blipFill>
          <a:blip r:embed="rId2"/>
          <a:stretch>
            <a:fillRect/>
          </a:stretch>
        </p:blipFill>
        <p:spPr>
          <a:xfrm>
            <a:off x="2163052" y="1518973"/>
            <a:ext cx="8058634" cy="5177439"/>
          </a:xfrm>
          <a:prstGeom prst="rect">
            <a:avLst/>
          </a:prstGeom>
        </p:spPr>
      </p:pic>
    </p:spTree>
    <p:extLst>
      <p:ext uri="{BB962C8B-B14F-4D97-AF65-F5344CB8AC3E}">
        <p14:creationId xmlns:p14="http://schemas.microsoft.com/office/powerpoint/2010/main" val="1445065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9666-4762-8632-DE15-1C167596B785}"/>
              </a:ext>
            </a:extLst>
          </p:cNvPr>
          <p:cNvSpPr>
            <a:spLocks noGrp="1"/>
          </p:cNvSpPr>
          <p:nvPr>
            <p:ph type="ctrTitle"/>
          </p:nvPr>
        </p:nvSpPr>
        <p:spPr>
          <a:xfrm>
            <a:off x="1600200" y="414868"/>
            <a:ext cx="8991600" cy="999066"/>
          </a:xfrm>
        </p:spPr>
        <p:txBody>
          <a:bodyPr/>
          <a:lstStyle/>
          <a:p>
            <a:r>
              <a:rPr lang="en-IN" dirty="0"/>
              <a:t>Activity diagram</a:t>
            </a:r>
          </a:p>
        </p:txBody>
      </p:sp>
      <p:sp>
        <p:nvSpPr>
          <p:cNvPr id="3" name="Subtitle 2">
            <a:extLst>
              <a:ext uri="{FF2B5EF4-FFF2-40B4-BE49-F238E27FC236}">
                <a16:creationId xmlns:a16="http://schemas.microsoft.com/office/drawing/2014/main" id="{1D05DB0B-82D3-C796-2751-3D25312A07F0}"/>
              </a:ext>
            </a:extLst>
          </p:cNvPr>
          <p:cNvSpPr>
            <a:spLocks noGrp="1"/>
          </p:cNvSpPr>
          <p:nvPr>
            <p:ph type="subTitle" idx="1"/>
          </p:nvPr>
        </p:nvSpPr>
        <p:spPr>
          <a:xfrm>
            <a:off x="2695194" y="2015067"/>
            <a:ext cx="6801612" cy="3577371"/>
          </a:xfrm>
        </p:spPr>
        <p:txBody>
          <a:bodyPr/>
          <a:lstStyle/>
          <a:p>
            <a:endParaRPr lang="en-IN" dirty="0"/>
          </a:p>
        </p:txBody>
      </p:sp>
      <p:pic>
        <p:nvPicPr>
          <p:cNvPr id="4" name="Picture 3">
            <a:extLst>
              <a:ext uri="{FF2B5EF4-FFF2-40B4-BE49-F238E27FC236}">
                <a16:creationId xmlns:a16="http://schemas.microsoft.com/office/drawing/2014/main" id="{2435E82D-89BE-74DE-E351-2FA57E5C0336}"/>
              </a:ext>
            </a:extLst>
          </p:cNvPr>
          <p:cNvPicPr>
            <a:picLocks noChangeAspect="1"/>
          </p:cNvPicPr>
          <p:nvPr/>
        </p:nvPicPr>
        <p:blipFill>
          <a:blip r:embed="rId2"/>
          <a:stretch>
            <a:fillRect/>
          </a:stretch>
        </p:blipFill>
        <p:spPr>
          <a:xfrm>
            <a:off x="2148326" y="1556868"/>
            <a:ext cx="7895348" cy="5072532"/>
          </a:xfrm>
          <a:prstGeom prst="rect">
            <a:avLst/>
          </a:prstGeom>
        </p:spPr>
      </p:pic>
    </p:spTree>
    <p:extLst>
      <p:ext uri="{BB962C8B-B14F-4D97-AF65-F5344CB8AC3E}">
        <p14:creationId xmlns:p14="http://schemas.microsoft.com/office/powerpoint/2010/main" val="2547450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E257-8A76-FAE5-BE9D-AF1C24333988}"/>
              </a:ext>
            </a:extLst>
          </p:cNvPr>
          <p:cNvSpPr>
            <a:spLocks noGrp="1"/>
          </p:cNvSpPr>
          <p:nvPr>
            <p:ph type="ctrTitle"/>
          </p:nvPr>
        </p:nvSpPr>
        <p:spPr>
          <a:xfrm>
            <a:off x="1600200" y="347134"/>
            <a:ext cx="8991600" cy="1239894"/>
          </a:xfrm>
        </p:spPr>
        <p:txBody>
          <a:bodyPr/>
          <a:lstStyle/>
          <a:p>
            <a:r>
              <a:rPr lang="en-IN" dirty="0"/>
              <a:t>Module design</a:t>
            </a:r>
          </a:p>
        </p:txBody>
      </p:sp>
      <p:pic>
        <p:nvPicPr>
          <p:cNvPr id="6" name="Picture 5">
            <a:extLst>
              <a:ext uri="{FF2B5EF4-FFF2-40B4-BE49-F238E27FC236}">
                <a16:creationId xmlns:a16="http://schemas.microsoft.com/office/drawing/2014/main" id="{7E210E55-ABA7-8015-7CFD-A9E38D95D0BD}"/>
              </a:ext>
            </a:extLst>
          </p:cNvPr>
          <p:cNvPicPr>
            <a:picLocks noChangeAspect="1"/>
          </p:cNvPicPr>
          <p:nvPr/>
        </p:nvPicPr>
        <p:blipFill>
          <a:blip r:embed="rId2"/>
          <a:stretch>
            <a:fillRect/>
          </a:stretch>
        </p:blipFill>
        <p:spPr>
          <a:xfrm>
            <a:off x="2292162" y="1839660"/>
            <a:ext cx="7607675" cy="4887711"/>
          </a:xfrm>
          <a:prstGeom prst="rect">
            <a:avLst/>
          </a:prstGeom>
        </p:spPr>
      </p:pic>
    </p:spTree>
    <p:extLst>
      <p:ext uri="{BB962C8B-B14F-4D97-AF65-F5344CB8AC3E}">
        <p14:creationId xmlns:p14="http://schemas.microsoft.com/office/powerpoint/2010/main" val="2185265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38D9977-3599-9D98-5444-768A6924E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99757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1105</TotalTime>
  <Words>1431</Words>
  <Application>Microsoft Office PowerPoint</Application>
  <PresentationFormat>Widescreen</PresentationFormat>
  <Paragraphs>163</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Gill Sans MT</vt:lpstr>
      <vt:lpstr>Times New Roman</vt:lpstr>
      <vt:lpstr>Wingdings</vt:lpstr>
      <vt:lpstr>Parcel</vt:lpstr>
      <vt:lpstr>India Shield AI – Real-Time Disaster Intelligence System</vt:lpstr>
      <vt:lpstr>Table of contents</vt:lpstr>
      <vt:lpstr>Review – 2 comments addressed</vt:lpstr>
      <vt:lpstr>ABSTRACT</vt:lpstr>
      <vt:lpstr>Introduction</vt:lpstr>
      <vt:lpstr>Existing system</vt:lpstr>
      <vt:lpstr>Proposed system</vt:lpstr>
      <vt:lpstr>Objectives</vt:lpstr>
      <vt:lpstr>Software requirements</vt:lpstr>
      <vt:lpstr>Hardware requirements</vt:lpstr>
      <vt:lpstr>FUNCTIONAL  requirements</vt:lpstr>
      <vt:lpstr>Non - functional requirements</vt:lpstr>
      <vt:lpstr>Literature survey</vt:lpstr>
      <vt:lpstr>Literature survey</vt:lpstr>
      <vt:lpstr>Literature survey</vt:lpstr>
      <vt:lpstr>System Architecture</vt:lpstr>
      <vt:lpstr>Uml diagram</vt:lpstr>
      <vt:lpstr>Activity diagram</vt:lpstr>
      <vt:lpstr>Module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Preserving performance of ml models using MLOps</dc:title>
  <dc:creator>Varshika Dasari</dc:creator>
  <cp:lastModifiedBy>Sai Abhiram Amrutaluri</cp:lastModifiedBy>
  <cp:revision>17</cp:revision>
  <dcterms:created xsi:type="dcterms:W3CDTF">2022-09-15T19:17:00Z</dcterms:created>
  <dcterms:modified xsi:type="dcterms:W3CDTF">2026-03-25T16:23:26Z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3936C35BB73A4955AF09C77BF7191492</vt:lpwstr>
  </property>
  <property fmtid="{D5CDD505-2E9C-101B-9397-08002B2CF9AE}" pid="3" name="KSOProductBuildVer">
    <vt:lpwstr>1033-11.2.0.11306</vt:lpwstr>
  </property>
</Properties>
</file>