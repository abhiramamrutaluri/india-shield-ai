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 id="2147483660" r:id="rId2"/>
  </p:sldMasterIdLst>
  <p:notesMasterIdLst>
    <p:notesMasterId r:id="rId16"/>
  </p:notesMasterIdLst>
  <p:sldIdLst>
    <p:sldId id="256" r:id="rId3"/>
    <p:sldId id="257" r:id="rId4"/>
    <p:sldId id="268" r:id="rId5"/>
    <p:sldId id="258" r:id="rId6"/>
    <p:sldId id="259" r:id="rId7"/>
    <p:sldId id="260" r:id="rId8"/>
    <p:sldId id="261" r:id="rId9"/>
    <p:sldId id="266" r:id="rId10"/>
    <p:sldId id="262" r:id="rId11"/>
    <p:sldId id="267" r:id="rId12"/>
    <p:sldId id="263" r:id="rId13"/>
    <p:sldId id="264" r:id="rId14"/>
    <p:sldId id="265" r:id="rId15"/>
  </p:sldIdLst>
  <p:sldSz cx="12192000" cy="6858000"/>
  <p:notesSz cx="7102475" cy="9037638"/>
  <p:defaultTextStyle>
    <a:defPPr lvl="0">
      <a:defRPr lang="en-US"/>
    </a:defPPr>
    <a:lvl1pPr marL="0" lvl="0" algn="l" defTabSz="914400" rtl="0" eaLnBrk="1" latinLnBrk="0" hangingPunct="1">
      <a:defRPr sz="1800" kern="1200">
        <a:solidFill>
          <a:schemeClr val="tx1"/>
        </a:solidFill>
        <a:latin typeface="+mn-lt"/>
        <a:ea typeface="+mn-ea"/>
        <a:cs typeface="+mn-cs"/>
      </a:defRPr>
    </a:lvl1pPr>
    <a:lvl2pPr marL="457200" lvl="1" algn="l" defTabSz="914400" rtl="0" eaLnBrk="1" latinLnBrk="0" hangingPunct="1">
      <a:defRPr sz="1800" kern="1200">
        <a:solidFill>
          <a:schemeClr val="tx1"/>
        </a:solidFill>
        <a:latin typeface="+mn-lt"/>
        <a:ea typeface="+mn-ea"/>
        <a:cs typeface="+mn-cs"/>
      </a:defRPr>
    </a:lvl2pPr>
    <a:lvl3pPr marL="914400" lvl="2" algn="l" defTabSz="914400" rtl="0" eaLnBrk="1" latinLnBrk="0" hangingPunct="1">
      <a:defRPr sz="1800" kern="1200">
        <a:solidFill>
          <a:schemeClr val="tx1"/>
        </a:solidFill>
        <a:latin typeface="+mn-lt"/>
        <a:ea typeface="+mn-ea"/>
        <a:cs typeface="+mn-cs"/>
      </a:defRPr>
    </a:lvl3pPr>
    <a:lvl4pPr marL="1371600" lvl="3" algn="l" defTabSz="914400" rtl="0" eaLnBrk="1" latinLnBrk="0" hangingPunct="1">
      <a:defRPr sz="1800" kern="1200">
        <a:solidFill>
          <a:schemeClr val="tx1"/>
        </a:solidFill>
        <a:latin typeface="+mn-lt"/>
        <a:ea typeface="+mn-ea"/>
        <a:cs typeface="+mn-cs"/>
      </a:defRPr>
    </a:lvl4pPr>
    <a:lvl5pPr marL="1828800" lvl="4" algn="l" defTabSz="914400" rtl="0" eaLnBrk="1" latinLnBrk="0" hangingPunct="1">
      <a:defRPr sz="1800" kern="1200">
        <a:solidFill>
          <a:schemeClr val="tx1"/>
        </a:solidFill>
        <a:latin typeface="+mn-lt"/>
        <a:ea typeface="+mn-ea"/>
        <a:cs typeface="+mn-cs"/>
      </a:defRPr>
    </a:lvl5pPr>
    <a:lvl6pPr marL="2286000" lvl="5" algn="l" defTabSz="914400" rtl="0" eaLnBrk="1" latinLnBrk="0" hangingPunct="1">
      <a:defRPr sz="1800" kern="1200">
        <a:solidFill>
          <a:schemeClr val="tx1"/>
        </a:solidFill>
        <a:latin typeface="+mn-lt"/>
        <a:ea typeface="+mn-ea"/>
        <a:cs typeface="+mn-cs"/>
      </a:defRPr>
    </a:lvl6pPr>
    <a:lvl7pPr marL="2743200" lvl="6" algn="l" defTabSz="914400" rtl="0" eaLnBrk="1" latinLnBrk="0" hangingPunct="1">
      <a:defRPr sz="1800" kern="1200">
        <a:solidFill>
          <a:schemeClr val="tx1"/>
        </a:solidFill>
        <a:latin typeface="+mn-lt"/>
        <a:ea typeface="+mn-ea"/>
        <a:cs typeface="+mn-cs"/>
      </a:defRPr>
    </a:lvl7pPr>
    <a:lvl8pPr marL="3200400" lvl="7" algn="l" defTabSz="914400" rtl="0" eaLnBrk="1" latinLnBrk="0" hangingPunct="1">
      <a:defRPr sz="1800" kern="1200">
        <a:solidFill>
          <a:schemeClr val="tx1"/>
        </a:solidFill>
        <a:latin typeface="+mn-lt"/>
        <a:ea typeface="+mn-ea"/>
        <a:cs typeface="+mn-cs"/>
      </a:defRPr>
    </a:lvl8pPr>
    <a:lvl9pPr marL="3657600" lvl="8"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8" d="100"/>
          <a:sy n="78" d="100"/>
        </p:scale>
        <p:origin x="850"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7739" cy="453451"/>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023092" y="0"/>
            <a:ext cx="3077739" cy="453451"/>
          </a:xfrm>
          <a:prstGeom prst="rect">
            <a:avLst/>
          </a:prstGeom>
        </p:spPr>
        <p:txBody>
          <a:bodyPr vert="horz" lIns="91440" tIns="45720" rIns="91440" bIns="45720" rtlCol="0"/>
          <a:lstStyle>
            <a:lvl1pPr algn="r">
              <a:defRPr sz="1200"/>
            </a:lvl1pPr>
          </a:lstStyle>
          <a:p>
            <a:fld id="{85A854B6-73EE-3647-B9F0-9FDDAF047BDA}" type="datetimeFigureOut">
              <a:rPr lang="en-US" smtClean="0"/>
              <a:t>3/11/2026</a:t>
            </a:fld>
            <a:endParaRPr lang="en-US"/>
          </a:p>
        </p:txBody>
      </p:sp>
      <p:sp>
        <p:nvSpPr>
          <p:cNvPr id="4" name="Slide Image Placeholder 3"/>
          <p:cNvSpPr>
            <a:spLocks noGrp="1" noRot="1" noChangeAspect="1"/>
          </p:cNvSpPr>
          <p:nvPr>
            <p:ph type="sldImg" idx="2"/>
          </p:nvPr>
        </p:nvSpPr>
        <p:spPr>
          <a:xfrm>
            <a:off x="839788" y="1130300"/>
            <a:ext cx="5422900" cy="30495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10248" y="4349363"/>
            <a:ext cx="5681980" cy="355857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584188"/>
            <a:ext cx="3077739" cy="4534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023092" y="8584188"/>
            <a:ext cx="3077739" cy="453450"/>
          </a:xfrm>
          <a:prstGeom prst="rect">
            <a:avLst/>
          </a:prstGeom>
        </p:spPr>
        <p:txBody>
          <a:bodyPr vert="horz" lIns="91440" tIns="45720" rIns="91440" bIns="45720" rtlCol="0" anchor="b"/>
          <a:lstStyle>
            <a:lvl1pPr algn="r">
              <a:defRPr sz="1200"/>
            </a:lvl1pPr>
          </a:lstStyle>
          <a:p>
            <a:fld id="{68329816-4D5E-3B44-810B-F5C416F14AE8}"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C548D4DF-21A2-8343-9008-710997EFE372}"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C7A4DE8B-8D6B-8C46-B882-6A2CD2BC96F0}"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
        <p:nvSpPr>
          <p:cNvPr id="8" name="Rectangle 7"/>
          <p:cNvSpPr/>
          <p:nvPr userDrawn="1"/>
        </p:nvSpPr>
        <p:spPr>
          <a:xfrm>
            <a:off x="87228" y="60325"/>
            <a:ext cx="1532022" cy="620712"/>
          </a:xfrm>
          <a:prstGeom prst="rect">
            <a:avLst/>
          </a:prstGeom>
          <a:blipFill dpi="0" rotWithShape="1">
            <a:blip r:embed="rId2">
              <a:alphaModFix amt="78101"/>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587173D6-3CEE-8F48-B559-8A1AAA479881}"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2B0238AD-5BCA-FB4D-BB92-A9506EB125DE}" type="datetime1">
              <a:rPr lang="en-IN" smtClean="0"/>
              <a:t>11-03-2026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9D2E14E3-1A4B-E147-9C43-AF22F573C146}" type="datetime1">
              <a:rPr lang="en-IN" smtClean="0"/>
              <a:t>11-03-2026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2"/>
          <p:cNvSpPr>
            <a:spLocks noGrp="1"/>
          </p:cNvSpPr>
          <p:nvPr>
            <p:ph type="dt" sz="half" idx="10"/>
          </p:nvPr>
        </p:nvSpPr>
        <p:spPr/>
        <p:txBody>
          <a:bodyPr/>
          <a:lstStyle/>
          <a:p>
            <a:fld id="{7BE5FDD8-A8EC-434C-9DC5-9C830FFCBBBE}" type="datetime1">
              <a:rPr lang="en-IN" smtClean="0"/>
              <a:t>11-03-2026</a:t>
            </a:fld>
            <a:endParaRPr lang="en-US"/>
          </a:p>
        </p:txBody>
      </p:sp>
      <p:sp>
        <p:nvSpPr>
          <p:cNvPr id="4" name="Footer Placeholder 3"/>
          <p:cNvSpPr>
            <a:spLocks noGrp="1"/>
          </p:cNvSpPr>
          <p:nvPr>
            <p:ph type="ftr" sz="quarter" idx="11"/>
          </p:nvPr>
        </p:nvSpPr>
        <p:spPr/>
        <p:txBody>
          <a:bodyPr/>
          <a:lstStyle/>
          <a:p>
            <a:r>
              <a:rPr lang="en-US"/>
              <a:t>REVIEW – 1 / 2 / 3    173030211    Department of CSE</a:t>
            </a:r>
          </a:p>
        </p:txBody>
      </p:sp>
      <p:sp>
        <p:nvSpPr>
          <p:cNvPr id="5" name="Slide Number Placeholder 4"/>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649A9-55B9-CC4B-9F14-A826BCB3F81D}" type="datetime1">
              <a:rPr lang="en-IN" smtClean="0"/>
              <a:t>11-03-2026</a:t>
            </a:fld>
            <a:endParaRPr lang="en-US"/>
          </a:p>
        </p:txBody>
      </p:sp>
      <p:sp>
        <p:nvSpPr>
          <p:cNvPr id="3" name="Footer Placeholder 2"/>
          <p:cNvSpPr>
            <a:spLocks noGrp="1"/>
          </p:cNvSpPr>
          <p:nvPr>
            <p:ph type="ftr" sz="quarter" idx="11"/>
          </p:nvPr>
        </p:nvSpPr>
        <p:spPr/>
        <p:txBody>
          <a:bodyPr/>
          <a:lstStyle/>
          <a:p>
            <a:r>
              <a:rPr lang="en-US"/>
              <a:t>REVIEW – 1 / 2 / 3    173030211    Department of CSE</a:t>
            </a:r>
          </a:p>
        </p:txBody>
      </p:sp>
      <p:sp>
        <p:nvSpPr>
          <p:cNvPr id="4" name="Slide Number Placeholder 3"/>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89DDB05C-DA09-D54E-BE90-A914E23C1D37}" type="datetime1">
              <a:rPr lang="en-IN" smtClean="0"/>
              <a:t>11-03-2026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CDE2264A-0DD4-554E-9BAF-72F2B974B4C3}" type="datetime1">
              <a:rPr lang="en-IN" smtClean="0"/>
              <a:t>11-03-2026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9EDEFDC3-8E95-594C-90F9-D4BFD51367E6}"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E3B2C79A-A4F9-4646-8C8F-7091881D2F89}"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B961B71F-4B40-8942-BB88-E0F5C0B46E10}" type="slidenum">
              <a:rPr lang="en-US" smtClean="0"/>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p:cNvSpPr>
            <a:spLocks noGrp="1"/>
          </p:cNvSpPr>
          <p:nvPr>
            <p:ph type="dt" sz="half" idx="10"/>
          </p:nvPr>
        </p:nvSpPr>
        <p:spPr/>
        <p:txBody>
          <a:bodyPr/>
          <a:lstStyle/>
          <a:p>
            <a:fld id="{113F1655-6176-8843-98F6-F743980649D1}"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10"/>
          </p:nvPr>
        </p:nvSpPr>
        <p:spPr/>
        <p:txBody>
          <a:bodyPr/>
          <a:lstStyle/>
          <a:p>
            <a:fld id="{ACC23D11-2585-D24D-93CA-1B3685649544}"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634EACA4-A1C6-9F4F-978A-D3AE7141A61E}" type="datetime1">
              <a:rPr lang="en-IN" smtClean="0"/>
              <a:t>11-03-2026</a:t>
            </a:fld>
            <a:endParaRPr lang="en-US"/>
          </a:p>
        </p:txBody>
      </p:sp>
      <p:sp>
        <p:nvSpPr>
          <p:cNvPr id="5" name="Footer Placeholder 4"/>
          <p:cNvSpPr>
            <a:spLocks noGrp="1"/>
          </p:cNvSpPr>
          <p:nvPr>
            <p:ph type="ftr" sz="quarter" idx="11"/>
          </p:nvPr>
        </p:nvSpPr>
        <p:spPr/>
        <p:txBody>
          <a:bodyPr/>
          <a:lstStyle/>
          <a:p>
            <a:r>
              <a:rPr lang="en-US"/>
              <a:t>REVIEW – 1 / 2 / 3    173030211    Department of CSE</a:t>
            </a:r>
          </a:p>
        </p:txBody>
      </p:sp>
      <p:sp>
        <p:nvSpPr>
          <p:cNvPr id="6" name="Slide Number Placeholder 5"/>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p:cNvSpPr>
            <a:spLocks noGrp="1"/>
          </p:cNvSpPr>
          <p:nvPr>
            <p:ph type="dt" sz="half" idx="10"/>
          </p:nvPr>
        </p:nvSpPr>
        <p:spPr/>
        <p:txBody>
          <a:bodyPr/>
          <a:lstStyle/>
          <a:p>
            <a:fld id="{DA2F10E6-0672-C24B-8BA7-69AD3847874C}" type="datetime1">
              <a:rPr lang="en-IN" smtClean="0"/>
              <a:t>11-03-2026</a:t>
            </a:fld>
            <a:endParaRPr lang="en-US"/>
          </a:p>
        </p:txBody>
      </p:sp>
      <p:sp>
        <p:nvSpPr>
          <p:cNvPr id="6" name="Footer Placeholder 5"/>
          <p:cNvSpPr>
            <a:spLocks noGrp="1"/>
          </p:cNvSpPr>
          <p:nvPr>
            <p:ph type="ftr" sz="quarter" idx="11"/>
          </p:nvPr>
        </p:nvSpPr>
        <p:spPr/>
        <p:txBody>
          <a:bodyPr/>
          <a:lstStyle/>
          <a:p>
            <a:r>
              <a:rPr lang="en-US"/>
              <a:t>REVIEW – 1 / 2 / 3    173030211    Department of CSE</a:t>
            </a:r>
          </a:p>
        </p:txBody>
      </p:sp>
      <p:sp>
        <p:nvSpPr>
          <p:cNvPr id="7" name="Slide Number Placeholder 6"/>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p:cNvSpPr>
            <a:spLocks noGrp="1"/>
          </p:cNvSpPr>
          <p:nvPr>
            <p:ph type="dt" sz="half" idx="10"/>
          </p:nvPr>
        </p:nvSpPr>
        <p:spPr/>
        <p:txBody>
          <a:bodyPr/>
          <a:lstStyle/>
          <a:p>
            <a:fld id="{C3C70737-B6DD-A042-B94C-464B3C8698F2}" type="datetime1">
              <a:rPr lang="en-IN" smtClean="0"/>
              <a:t>11-03-2026</a:t>
            </a:fld>
            <a:endParaRPr lang="en-US"/>
          </a:p>
        </p:txBody>
      </p:sp>
      <p:sp>
        <p:nvSpPr>
          <p:cNvPr id="8" name="Footer Placeholder 7"/>
          <p:cNvSpPr>
            <a:spLocks noGrp="1"/>
          </p:cNvSpPr>
          <p:nvPr>
            <p:ph type="ftr" sz="quarter" idx="11"/>
          </p:nvPr>
        </p:nvSpPr>
        <p:spPr/>
        <p:txBody>
          <a:bodyPr/>
          <a:lstStyle/>
          <a:p>
            <a:r>
              <a:rPr lang="en-US"/>
              <a:t>REVIEW – 1 / 2 / 3    173030211    Department of CSE</a:t>
            </a:r>
          </a:p>
        </p:txBody>
      </p:sp>
      <p:sp>
        <p:nvSpPr>
          <p:cNvPr id="9" name="Slide Number Placeholder 8"/>
          <p:cNvSpPr>
            <a:spLocks noGrp="1"/>
          </p:cNvSpPr>
          <p:nvPr>
            <p:ph type="sldNum" sz="quarter" idx="12"/>
          </p:nvPr>
        </p:nvSpPr>
        <p:spPr/>
        <p:txBody>
          <a:bodyPr/>
          <a:lstStyle/>
          <a:p>
            <a:fld id="{D6396F81-1074-6B40-A92F-A06CCD3B4178}"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theme" Target="../theme/theme2.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B1E405-5A0A-8F4C-9EC6-8C8112FD4D9F}" type="datetime1">
              <a:rPr lang="en-IN" smtClean="0"/>
              <a:t>11-03-2026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961B71F-4B40-8942-BB88-E0F5C0B46E10}"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47A86FA-D70B-B047-9EE8-E3556A998703}" type="datetime1">
              <a:rPr lang="en-IN" smtClean="0"/>
              <a:t>11-03-2026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REVIEW – 1 / 2 / 3    173030211    Department of CSE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6396F81-1074-6B40-A92F-A06CCD3B4178}"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a:xfrm>
            <a:off x="952500" y="136525"/>
            <a:ext cx="10515600" cy="1635213"/>
          </a:xfrm>
        </p:spPr>
        <p:txBody>
          <a:bodyPr>
            <a:noAutofit/>
          </a:bodyPr>
          <a:lstStyle/>
          <a:p>
            <a:pPr algn="ctr">
              <a:lnSpc>
                <a:spcPct val="100000"/>
              </a:lnSpc>
            </a:pPr>
            <a:b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br>
            <a:r>
              <a:rPr lang="da-DK" sz="2400" b="1" dirty="0">
                <a:solidFill>
                  <a:schemeClr val="accent5">
                    <a:lumMod val="60000"/>
                    <a:lumOff val="40000"/>
                  </a:schemeClr>
                </a:solidFill>
                <a:latin typeface="Times New Roman" panose="02020603050405020304" pitchFamily="18" charset="0"/>
                <a:cs typeface="Times New Roman" panose="02020603050405020304" pitchFamily="18" charset="0"/>
              </a:rPr>
              <a:t>Big Data Technologies</a:t>
            </a:r>
            <a:br>
              <a:rPr lang="da-DK" sz="2400" b="1" dirty="0">
                <a:latin typeface="Times New Roman" panose="02020603050405020304" pitchFamily="18" charset="0"/>
                <a:cs typeface="Times New Roman" panose="02020603050405020304" pitchFamily="18" charset="0"/>
              </a:rPr>
            </a:br>
            <a:r>
              <a:rPr lang="en-US" sz="2400" b="1" dirty="0">
                <a:latin typeface="Times New Roman" panose="02020603050405020304" pitchFamily="18" charset="0"/>
                <a:cs typeface="Times New Roman" panose="02020603050405020304" pitchFamily="18" charset="0"/>
              </a:rPr>
              <a:t>REVIEW – 2</a:t>
            </a:r>
            <a:br>
              <a:rPr lang="en-US" sz="2400" b="1" dirty="0">
                <a:latin typeface="Times New Roman" panose="02020603050405020304" pitchFamily="18" charset="0"/>
                <a:cs typeface="Times New Roman" panose="02020603050405020304" pitchFamily="18" charset="0"/>
              </a:rPr>
            </a:br>
            <a:r>
              <a:rPr lang="en-US" sz="2400" b="1" dirty="0">
                <a:solidFill>
                  <a:srgbClr val="FF0000"/>
                </a:solidFill>
                <a:latin typeface="Times New Roman" panose="02020603050405020304" pitchFamily="18" charset="0"/>
                <a:cs typeface="Times New Roman" panose="02020603050405020304" pitchFamily="18" charset="0"/>
              </a:rPr>
              <a:t>IndiaShield: An AI-Powered Real-Time Disaster Detection and Emergency Intelligence System</a:t>
            </a:r>
            <a:br>
              <a:rPr lang="en-US" sz="2400" b="1" dirty="0">
                <a:solidFill>
                  <a:srgbClr val="FF0000"/>
                </a:solidFill>
                <a:latin typeface="Times New Roman" panose="02020603050405020304" pitchFamily="18" charset="0"/>
                <a:cs typeface="Times New Roman" panose="02020603050405020304" pitchFamily="18" charset="0"/>
              </a:rPr>
            </a:br>
            <a:endParaRPr lang="en-US" altLang="en-US" sz="2400" b="1" dirty="0">
              <a:solidFill>
                <a:srgbClr val="FF00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sz="half" idx="1"/>
          </p:nvPr>
        </p:nvSpPr>
        <p:spPr>
          <a:xfrm>
            <a:off x="961418" y="1737503"/>
            <a:ext cx="10515600" cy="1097555"/>
          </a:xfrm>
        </p:spPr>
        <p:txBody>
          <a:bodyPr>
            <a:noAutofit/>
          </a:bodyPr>
          <a:lstStyle/>
          <a:p>
            <a:pPr marL="0" indent="0" algn="ctr">
              <a:buNone/>
            </a:pPr>
            <a:r>
              <a:rPr lang="en-IN" sz="2000" b="1" dirty="0"/>
              <a:t>Team No-18</a:t>
            </a:r>
          </a:p>
          <a:p>
            <a:pPr marL="0" indent="0" algn="ctr">
              <a:buNone/>
            </a:pPr>
            <a:r>
              <a:rPr lang="en-IN" sz="2000" b="1" dirty="0"/>
              <a:t>Roll No		Name</a:t>
            </a:r>
            <a:endParaRPr lang="en-US" sz="2000" b="1" dirty="0"/>
          </a:p>
          <a:p>
            <a:pPr marL="0" indent="0" algn="ctr">
              <a:buNone/>
            </a:pPr>
            <a:r>
              <a:rPr lang="en-US" sz="2000" b="1" dirty="0"/>
              <a:t> </a:t>
            </a:r>
          </a:p>
          <a:p>
            <a:pPr marL="0" indent="0" algn="ctr">
              <a:buNone/>
            </a:pPr>
            <a:endParaRPr lang="en-US" sz="2000" b="1" dirty="0"/>
          </a:p>
          <a:p>
            <a:pPr marL="0" indent="0" algn="ctr">
              <a:buNone/>
            </a:pPr>
            <a:endParaRPr lang="en-US" sz="1400" b="1" dirty="0"/>
          </a:p>
        </p:txBody>
      </p:sp>
      <p:sp>
        <p:nvSpPr>
          <p:cNvPr id="6" name="Date Placeholder 5"/>
          <p:cNvSpPr>
            <a:spLocks noGrp="1"/>
          </p:cNvSpPr>
          <p:nvPr>
            <p:ph type="dt" sz="half" idx="10"/>
          </p:nvPr>
        </p:nvSpPr>
        <p:spPr/>
        <p:txBody>
          <a:bodyPr/>
          <a:lstStyle/>
          <a:p>
            <a:fld id="{437923A7-D8E7-1742-AE5C-E3C19725FB52}" type="datetime1">
              <a:rPr lang="en-IN" smtClean="0"/>
              <a:t>11-03-2026</a:t>
            </a:fld>
            <a:endParaRPr lang="en-US"/>
          </a:p>
        </p:txBody>
      </p:sp>
      <p:sp>
        <p:nvSpPr>
          <p:cNvPr id="9" name="Content Placeholder 3"/>
          <p:cNvSpPr txBox="1"/>
          <p:nvPr/>
        </p:nvSpPr>
        <p:spPr>
          <a:xfrm>
            <a:off x="952500" y="5213541"/>
            <a:ext cx="10506683" cy="1380753"/>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endParaRPr lang="en-US" sz="1800" b="1" dirty="0">
              <a:solidFill>
                <a:srgbClr val="C00000"/>
              </a:solidFill>
            </a:endParaRPr>
          </a:p>
          <a:p>
            <a:pPr marL="0" indent="0" algn="ctr">
              <a:buFont typeface="Arial" panose="020B0604020202020204" pitchFamily="34" charset="0"/>
              <a:buNone/>
            </a:pPr>
            <a:r>
              <a:rPr lang="en-US" sz="1800" b="1" dirty="0">
                <a:solidFill>
                  <a:srgbClr val="C00000"/>
                </a:solidFill>
              </a:rPr>
              <a:t>KONERU LAKSHMAIAH EDUCATION FOUNDATION</a:t>
            </a:r>
          </a:p>
          <a:p>
            <a:pPr marL="0" indent="0">
              <a:buFont typeface="Arial" panose="020B0604020202020204" pitchFamily="34" charset="0"/>
              <a:buNone/>
            </a:pPr>
            <a:endParaRPr lang="en-US" sz="1800" b="1" dirty="0">
              <a:solidFill>
                <a:srgbClr val="0070C0"/>
              </a:solidFill>
            </a:endParaRPr>
          </a:p>
        </p:txBody>
      </p:sp>
      <p:sp>
        <p:nvSpPr>
          <p:cNvPr id="10" name="Content Placeholder 3"/>
          <p:cNvSpPr txBox="1"/>
          <p:nvPr/>
        </p:nvSpPr>
        <p:spPr>
          <a:xfrm>
            <a:off x="961418" y="3407249"/>
            <a:ext cx="10515600" cy="180629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endParaRPr lang="en-US" sz="2400" dirty="0">
              <a:solidFill>
                <a:srgbClr val="00B050"/>
              </a:solidFill>
            </a:endParaRPr>
          </a:p>
          <a:p>
            <a:pPr marL="0" indent="0" algn="ctr">
              <a:buNone/>
            </a:pPr>
            <a:r>
              <a:rPr lang="en-US" sz="2400" dirty="0">
                <a:solidFill>
                  <a:srgbClr val="00B050"/>
                </a:solidFill>
              </a:rPr>
              <a:t>Department of Computer Science and Engineering</a:t>
            </a:r>
          </a:p>
          <a:p>
            <a:pPr marL="0" indent="0">
              <a:buFont typeface="Arial" panose="020B0604020202020204" pitchFamily="34" charset="0"/>
              <a:buNone/>
            </a:pPr>
            <a:endParaRPr lang="en-US" sz="2400" dirty="0">
              <a:solidFill>
                <a:srgbClr val="00B050"/>
              </a:solidFill>
            </a:endParaRPr>
          </a:p>
        </p:txBody>
      </p:sp>
      <p:sp>
        <p:nvSpPr>
          <p:cNvPr id="5" name="Slide Number Placeholder 4"/>
          <p:cNvSpPr>
            <a:spLocks noGrp="1"/>
          </p:cNvSpPr>
          <p:nvPr>
            <p:ph type="sldNum" sz="quarter" idx="12"/>
          </p:nvPr>
        </p:nvSpPr>
        <p:spPr/>
        <p:txBody>
          <a:bodyPr/>
          <a:lstStyle/>
          <a:p>
            <a:fld id="{B961B71F-4B40-8942-BB88-E0F5C0B46E10}" type="slidenum">
              <a:rPr lang="en-US" smtClean="0"/>
              <a:t>1</a:t>
            </a:fld>
            <a:endParaRPr lang="en-US" dirty="0"/>
          </a:p>
        </p:txBody>
      </p:sp>
      <p:pic>
        <p:nvPicPr>
          <p:cNvPr id="7" name="Picture 6"/>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08095" y="5213541"/>
            <a:ext cx="2175809" cy="1032698"/>
          </a:xfrm>
          <a:prstGeom prst="rect">
            <a:avLst/>
          </a:prstGeom>
        </p:spPr>
      </p:pic>
      <p:pic>
        <p:nvPicPr>
          <p:cNvPr id="8" name="Picture 7"/>
          <p:cNvPicPr>
            <a:picLocks noChangeAspect="1"/>
          </p:cNvPicPr>
          <p:nvPr/>
        </p:nvPicPr>
        <p:blipFill>
          <a:blip r:embed="rId3"/>
          <a:stretch>
            <a:fillRect/>
          </a:stretch>
        </p:blipFill>
        <p:spPr>
          <a:xfrm>
            <a:off x="1" y="-396"/>
            <a:ext cx="1458484" cy="690861"/>
          </a:xfrm>
          <a:prstGeom prst="rect">
            <a:avLst/>
          </a:prstGeom>
        </p:spPr>
      </p:pic>
      <p:sp>
        <p:nvSpPr>
          <p:cNvPr id="11" name="TextBox 10">
            <a:extLst>
              <a:ext uri="{FF2B5EF4-FFF2-40B4-BE49-F238E27FC236}">
                <a16:creationId xmlns:a16="http://schemas.microsoft.com/office/drawing/2014/main" id="{17287C7C-397C-A713-8AD2-07C39736DECD}"/>
              </a:ext>
            </a:extLst>
          </p:cNvPr>
          <p:cNvSpPr txBox="1"/>
          <p:nvPr/>
        </p:nvSpPr>
        <p:spPr>
          <a:xfrm>
            <a:off x="4385187" y="2664542"/>
            <a:ext cx="4021394" cy="1754326"/>
          </a:xfrm>
          <a:prstGeom prst="rect">
            <a:avLst/>
          </a:prstGeom>
          <a:noFill/>
        </p:spPr>
        <p:txBody>
          <a:bodyPr wrap="square" rtlCol="0">
            <a:spAutoFit/>
          </a:bodyPr>
          <a:lstStyle/>
          <a:p>
            <a:r>
              <a:rPr lang="en-IN" dirty="0"/>
              <a:t>       2320030077                A. Abhiram</a:t>
            </a:r>
          </a:p>
          <a:p>
            <a:r>
              <a:rPr lang="en-IN" dirty="0"/>
              <a:t>        </a:t>
            </a:r>
          </a:p>
          <a:p>
            <a:r>
              <a:rPr lang="en-IN" dirty="0"/>
              <a:t>       2320030459                N.Nandini</a:t>
            </a:r>
          </a:p>
          <a:p>
            <a:endParaRPr lang="en-IN" dirty="0"/>
          </a:p>
          <a:p>
            <a:r>
              <a:rPr lang="en-IN" dirty="0"/>
              <a:t>       2320030110               </a:t>
            </a:r>
            <a:r>
              <a:rPr lang="en-IN" dirty="0" err="1"/>
              <a:t>P.Prajwal</a:t>
            </a:r>
            <a:endParaRPr lang="en-IN" dirty="0"/>
          </a:p>
          <a:p>
            <a:endParaRPr lang="en-IN" dirty="0"/>
          </a:p>
        </p:txBody>
      </p:sp>
      <p:sp>
        <p:nvSpPr>
          <p:cNvPr id="4" name="TextBox 3">
            <a:extLst>
              <a:ext uri="{FF2B5EF4-FFF2-40B4-BE49-F238E27FC236}">
                <a16:creationId xmlns:a16="http://schemas.microsoft.com/office/drawing/2014/main" id="{19CB8D31-4B20-E03A-CB81-07F306BD4D58}"/>
              </a:ext>
            </a:extLst>
          </p:cNvPr>
          <p:cNvSpPr txBox="1"/>
          <p:nvPr/>
        </p:nvSpPr>
        <p:spPr>
          <a:xfrm>
            <a:off x="4606413" y="4354539"/>
            <a:ext cx="3578942" cy="461665"/>
          </a:xfrm>
          <a:prstGeom prst="rect">
            <a:avLst/>
          </a:prstGeom>
          <a:noFill/>
        </p:spPr>
        <p:txBody>
          <a:bodyPr wrap="square" rtlCol="0">
            <a:spAutoFit/>
          </a:bodyPr>
          <a:lstStyle/>
          <a:p>
            <a:r>
              <a:rPr lang="en-IN" sz="2400" dirty="0">
                <a:solidFill>
                  <a:srgbClr val="FF0000"/>
                </a:solidFill>
              </a:rPr>
              <a:t>Faculty- N.Shirisha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 name="Title 7"/>
          <p:cNvSpPr>
            <a:spLocks noGrp="1"/>
          </p:cNvSpPr>
          <p:nvPr>
            <p:ph type="title"/>
          </p:nvPr>
        </p:nvSpPr>
        <p:spPr>
          <a:xfrm>
            <a:off x="1180618" y="365125"/>
            <a:ext cx="10173182" cy="1128009"/>
          </a:xfrm>
        </p:spPr>
        <p:txBody>
          <a:bodyPr/>
          <a:lstStyle/>
          <a:p>
            <a:r>
              <a:t>OUTLINE</a:t>
            </a:r>
          </a:p>
        </p:txBody>
      </p:sp>
      <p:sp>
        <p:nvSpPr>
          <p:cNvPr id="9" name="Content Placeholder 8"/>
          <p:cNvSpPr>
            <a:spLocks noGrp="1"/>
          </p:cNvSpPr>
          <p:nvPr>
            <p:ph idx="1"/>
          </p:nvPr>
        </p:nvSpPr>
        <p:spPr>
          <a:xfrm>
            <a:off x="838200" y="1250731"/>
            <a:ext cx="10515600" cy="5002923"/>
          </a:xfrm>
        </p:spPr>
        <p:txBody>
          <a:bodyPr>
            <a:normAutofit/>
          </a:bodyPr>
          <a:lstStyle/>
          <a:p>
            <a:pPr marL="0" indent="0">
              <a:buNone/>
            </a:pPr>
            <a:r>
              <a:rPr lang="en-IN" dirty="0">
                <a:latin typeface="Times New Roman" panose="02020603050405020304" pitchFamily="18" charset="0"/>
                <a:cs typeface="Times New Roman" panose="02020603050405020304" pitchFamily="18" charset="0"/>
              </a:rPr>
              <a:t>• Abstract</a:t>
            </a:r>
          </a:p>
          <a:p>
            <a:pPr marL="0" indent="0">
              <a:buNone/>
            </a:pPr>
            <a:r>
              <a:rPr lang="en-IN" dirty="0">
                <a:latin typeface="Times New Roman" panose="02020603050405020304" pitchFamily="18" charset="0"/>
                <a:cs typeface="Times New Roman" panose="02020603050405020304" pitchFamily="18" charset="0"/>
              </a:rPr>
              <a:t>• Introduction</a:t>
            </a:r>
          </a:p>
          <a:p>
            <a:pPr marL="0" indent="0">
              <a:buNone/>
            </a:pPr>
            <a:r>
              <a:rPr lang="en-IN" dirty="0">
                <a:latin typeface="Times New Roman" panose="02020603050405020304" pitchFamily="18" charset="0"/>
                <a:cs typeface="Times New Roman" panose="02020603050405020304" pitchFamily="18" charset="0"/>
              </a:rPr>
              <a:t>• Objectives</a:t>
            </a:r>
          </a:p>
          <a:p>
            <a:pPr marL="0" indent="0">
              <a:buNone/>
            </a:pPr>
            <a:r>
              <a:rPr lang="en-IN" dirty="0">
                <a:latin typeface="Times New Roman" panose="02020603050405020304" pitchFamily="18" charset="0"/>
                <a:cs typeface="Times New Roman" panose="02020603050405020304" pitchFamily="18" charset="0"/>
              </a:rPr>
              <a:t>• Literature Survey</a:t>
            </a:r>
          </a:p>
          <a:p>
            <a:pPr marL="0" indent="0">
              <a:buNone/>
            </a:pPr>
            <a:r>
              <a:rPr lang="en-IN" dirty="0">
                <a:latin typeface="Times New Roman" panose="02020603050405020304" pitchFamily="18" charset="0"/>
                <a:cs typeface="Times New Roman" panose="02020603050405020304" pitchFamily="18" charset="0"/>
              </a:rPr>
              <a:t>• Implementation</a:t>
            </a:r>
          </a:p>
          <a:p>
            <a:pPr marL="0" indent="0">
              <a:buNone/>
            </a:pPr>
            <a:r>
              <a:rPr lang="en-IN" dirty="0">
                <a:latin typeface="Times New Roman" panose="02020603050405020304" pitchFamily="18" charset="0"/>
                <a:cs typeface="Times New Roman" panose="02020603050405020304" pitchFamily="18" charset="0"/>
              </a:rPr>
              <a:t>• Conclusion</a:t>
            </a:r>
          </a:p>
          <a:p>
            <a:pPr marL="0" indent="0">
              <a:buNone/>
            </a:pPr>
            <a:r>
              <a:rPr lang="en-IN" dirty="0">
                <a:latin typeface="Times New Roman" panose="02020603050405020304" pitchFamily="18" charset="0"/>
                <a:cs typeface="Times New Roman" panose="02020603050405020304" pitchFamily="18" charset="0"/>
              </a:rPr>
              <a:t>• References</a:t>
            </a:r>
          </a:p>
        </p:txBody>
      </p:sp>
      <p:sp>
        <p:nvSpPr>
          <p:cNvPr id="5" name="Date Placeholder 4"/>
          <p:cNvSpPr>
            <a:spLocks noGrp="1"/>
          </p:cNvSpPr>
          <p:nvPr>
            <p:ph type="dt" sz="half" idx="10"/>
          </p:nvPr>
        </p:nvSpPr>
        <p:spPr/>
        <p:txBody>
          <a:bodyPr/>
          <a:lstStyle/>
          <a:p>
            <a:fld id="{196CB346-A29B-614A-90B7-3F58220E4132}" type="datetime1">
              <a:rPr lang="en-IN" smtClean="0"/>
              <a:t>11-03-2026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2</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3" name="Footer Placeholder 2"/>
          <p:cNvSpPr>
            <a:spLocks noGrp="1"/>
          </p:cNvSpPr>
          <p:nvPr>
            <p:ph type="ftr" sz="quarter" idx="11"/>
          </p:nvPr>
        </p:nvSpPr>
        <p:spPr/>
        <p:txBody>
          <a:bodyPr/>
          <a:lstStyle/>
          <a:p>
            <a:r>
              <a:rPr lang="en-US" dirty="0"/>
              <a:t>REVIEW – 2    </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EE2EA3D-A732-E32A-FA6B-E08385F3C30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2E310BB-3511-7192-EFCE-C737FE6D4E5C}"/>
              </a:ext>
            </a:extLst>
          </p:cNvPr>
          <p:cNvSpPr>
            <a:spLocks noGrp="1"/>
          </p:cNvSpPr>
          <p:nvPr>
            <p:ph type="title"/>
          </p:nvPr>
        </p:nvSpPr>
        <p:spPr>
          <a:xfrm>
            <a:off x="1180618" y="365125"/>
            <a:ext cx="10173182" cy="1128009"/>
          </a:xfrm>
        </p:spPr>
        <p:txBody>
          <a:bodyPr>
            <a:normAutofit/>
          </a:bodyPr>
          <a:lstStyle/>
          <a:p>
            <a:r>
              <a:rPr lang="en-IN" dirty="0"/>
              <a:t>Abstract:</a:t>
            </a:r>
            <a:endParaRPr dirty="0"/>
          </a:p>
        </p:txBody>
      </p:sp>
      <p:sp>
        <p:nvSpPr>
          <p:cNvPr id="9" name="Content Placeholder 8">
            <a:extLst>
              <a:ext uri="{FF2B5EF4-FFF2-40B4-BE49-F238E27FC236}">
                <a16:creationId xmlns:a16="http://schemas.microsoft.com/office/drawing/2014/main" id="{48E26F05-E699-EA95-36F8-DDCE099ED9CB}"/>
              </a:ext>
            </a:extLst>
          </p:cNvPr>
          <p:cNvSpPr>
            <a:spLocks noGrp="1"/>
          </p:cNvSpPr>
          <p:nvPr>
            <p:ph idx="1"/>
          </p:nvPr>
        </p:nvSpPr>
        <p:spPr>
          <a:xfrm>
            <a:off x="838200" y="1194985"/>
            <a:ext cx="10515600" cy="5002923"/>
          </a:xfrm>
        </p:spPr>
        <p:txBody>
          <a:bodyPr>
            <a:noAutofit/>
          </a:bodyPr>
          <a:lstStyle/>
          <a:p>
            <a:r>
              <a:rPr lang="en-US" sz="2200" dirty="0"/>
              <a:t>India is rapidly moving toward digital transformation, but with this growth comes significant challenges such as cybercrime, data breaches, online fraud, identity theft, misinformation, and threats to national digital infrastructure. Many citizens and organizations lack proper awareness and tools to detect and respond to these threats in real time. In addition, public safety concerns such as suspicious activities, emergency incidents, and security vulnerabilities require faster reporting and intelligent monitoring systems. To address these issues, the India Shield project proposes a smart digital platform designed to enhance national safety through technology. The system integrates modern technologies such as artificial intelligence, real-time data monitoring, and intelligent alert systems to detect suspicious activities, analyze potential risks, and provide early warnings to users and authorities. India Shield enables users to report incidents, track security alerts, and receive guidance on preventing cyber threats and safety risks. The platform also provides dashboards for monitoring incidents, analyzing trends, and helping authorities respond more efficiently. By combining citizen participation with intelligent technology, India Shield aims to build a proactive safety ecosystem that improves awareness, strengthens digital security, and contributes to a safer and more resilient India.</a:t>
            </a:r>
            <a:endParaRPr sz="2200" dirty="0"/>
          </a:p>
        </p:txBody>
      </p:sp>
      <p:sp>
        <p:nvSpPr>
          <p:cNvPr id="5" name="Date Placeholder 4">
            <a:extLst>
              <a:ext uri="{FF2B5EF4-FFF2-40B4-BE49-F238E27FC236}">
                <a16:creationId xmlns:a16="http://schemas.microsoft.com/office/drawing/2014/main" id="{AB890C67-8141-5E3F-4C8F-56FB9B0272DB}"/>
              </a:ext>
            </a:extLst>
          </p:cNvPr>
          <p:cNvSpPr>
            <a:spLocks noGrp="1"/>
          </p:cNvSpPr>
          <p:nvPr>
            <p:ph type="dt" sz="half" idx="10"/>
          </p:nvPr>
        </p:nvSpPr>
        <p:spPr/>
        <p:txBody>
          <a:bodyPr/>
          <a:lstStyle/>
          <a:p>
            <a:fld id="{196CB346-A29B-614A-90B7-3F58220E4132}" type="datetime1">
              <a:rPr lang="en-IN" smtClean="0"/>
              <a:t>11-03-2026</a:t>
            </a:fld>
            <a:endParaRPr lang="en-US"/>
          </a:p>
        </p:txBody>
      </p:sp>
      <p:sp>
        <p:nvSpPr>
          <p:cNvPr id="7" name="Slide Number Placeholder 6">
            <a:extLst>
              <a:ext uri="{FF2B5EF4-FFF2-40B4-BE49-F238E27FC236}">
                <a16:creationId xmlns:a16="http://schemas.microsoft.com/office/drawing/2014/main" id="{E15FA2CF-1028-AC09-A4CC-FED3EA624147}"/>
              </a:ext>
            </a:extLst>
          </p:cNvPr>
          <p:cNvSpPr>
            <a:spLocks noGrp="1"/>
          </p:cNvSpPr>
          <p:nvPr>
            <p:ph type="sldNum" sz="quarter" idx="12"/>
          </p:nvPr>
        </p:nvSpPr>
        <p:spPr/>
        <p:txBody>
          <a:bodyPr/>
          <a:lstStyle/>
          <a:p>
            <a:fld id="{B961B71F-4B40-8942-BB88-E0F5C0B46E10}" type="slidenum">
              <a:rPr lang="en-US" smtClean="0"/>
              <a:t>3</a:t>
            </a:fld>
            <a:endParaRPr lang="en-US"/>
          </a:p>
        </p:txBody>
      </p:sp>
      <p:pic>
        <p:nvPicPr>
          <p:cNvPr id="2" name="Picture 1">
            <a:extLst>
              <a:ext uri="{FF2B5EF4-FFF2-40B4-BE49-F238E27FC236}">
                <a16:creationId xmlns:a16="http://schemas.microsoft.com/office/drawing/2014/main" id="{C49AD611-C36F-F28B-616E-A66D1F575976}"/>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0F3F6007-90FC-482A-D943-BCBD60275871}"/>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871998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4522124-E786-BCBD-47AD-A1A7AA1DA56E}"/>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F12C2661-5AB9-3306-326F-7FD2F83DB2B0}"/>
              </a:ext>
            </a:extLst>
          </p:cNvPr>
          <p:cNvSpPr>
            <a:spLocks noGrp="1"/>
          </p:cNvSpPr>
          <p:nvPr>
            <p:ph type="title"/>
          </p:nvPr>
        </p:nvSpPr>
        <p:spPr>
          <a:xfrm>
            <a:off x="1180618" y="365125"/>
            <a:ext cx="10173182" cy="1128009"/>
          </a:xfrm>
        </p:spPr>
        <p:txBody>
          <a:bodyPr>
            <a:normAutofit/>
          </a:bodyPr>
          <a:lstStyle/>
          <a:p>
            <a:r>
              <a:rPr dirty="0"/>
              <a:t>Introduction</a:t>
            </a:r>
            <a:r>
              <a:rPr lang="en-IN" dirty="0"/>
              <a:t>:</a:t>
            </a:r>
            <a:endParaRPr dirty="0"/>
          </a:p>
        </p:txBody>
      </p:sp>
      <p:sp>
        <p:nvSpPr>
          <p:cNvPr id="9" name="Content Placeholder 8">
            <a:extLst>
              <a:ext uri="{FF2B5EF4-FFF2-40B4-BE49-F238E27FC236}">
                <a16:creationId xmlns:a16="http://schemas.microsoft.com/office/drawing/2014/main" id="{B7B926EC-3DBE-8D00-A4DE-40000C0B9746}"/>
              </a:ext>
            </a:extLst>
          </p:cNvPr>
          <p:cNvSpPr>
            <a:spLocks noGrp="1"/>
          </p:cNvSpPr>
          <p:nvPr>
            <p:ph idx="1"/>
          </p:nvPr>
        </p:nvSpPr>
        <p:spPr>
          <a:xfrm>
            <a:off x="838200" y="927538"/>
            <a:ext cx="10515600" cy="5002923"/>
          </a:xfrm>
        </p:spPr>
        <p:txBody>
          <a:bodyPr>
            <a:normAutofit fontScale="77500" lnSpcReduction="20000"/>
          </a:bodyPr>
          <a:lstStyle/>
          <a:p>
            <a:pPr marL="0" indent="0">
              <a:buNone/>
            </a:pPr>
            <a:endParaRPr lang="en-US" dirty="0"/>
          </a:p>
          <a:p>
            <a:r>
              <a:rPr lang="en-US" dirty="0"/>
              <a:t> In today’s rapidly evolving digital world, ensuring the safety and security of citizens has become increasingly challenging. With the rise of cybercrime, online fraud, misinformation, identity theft, and suspicious digital activities, individuals and organizations are constantly exposed to potential risks. Traditional monitoring and reporting systems often rely on manual processes and delayed responses, making it difficult to detect threats in real time. Additionally, many citizens lack awareness and accessible platforms to report incidents or receive timely alerts about security threats. This creates a gap between emerging security challenges and the ability of existing systems to effectively manage and respond to them.</a:t>
            </a:r>
          </a:p>
          <a:p>
            <a:r>
              <a:rPr lang="en-US" dirty="0"/>
              <a:t> This project proposes India Shield – an Intelligent Security and Incident Monitoring Platform designed to enhance public and digital safety using modern technologies. The system allows users to report suspicious activities, receive real-time alerts, and access safety information through a centralized platform. By integrating technologies such as real-time data monitoring, intelligent analysis, and interactive dashboards, the platform helps identify potential risks and provides actionable insights for both citizens and authorities. India Shield aims to create a proactive safety ecosystem that improves awareness, enables faster response to incidents, and contributes to building a safer and more secure digital environment for India.</a:t>
            </a:r>
          </a:p>
          <a:p>
            <a:endParaRPr dirty="0"/>
          </a:p>
        </p:txBody>
      </p:sp>
      <p:sp>
        <p:nvSpPr>
          <p:cNvPr id="5" name="Date Placeholder 4">
            <a:extLst>
              <a:ext uri="{FF2B5EF4-FFF2-40B4-BE49-F238E27FC236}">
                <a16:creationId xmlns:a16="http://schemas.microsoft.com/office/drawing/2014/main" id="{7B8C7DBE-8B58-804A-6C39-91193A7ECF4F}"/>
              </a:ext>
            </a:extLst>
          </p:cNvPr>
          <p:cNvSpPr>
            <a:spLocks noGrp="1"/>
          </p:cNvSpPr>
          <p:nvPr>
            <p:ph type="dt" sz="half" idx="10"/>
          </p:nvPr>
        </p:nvSpPr>
        <p:spPr/>
        <p:txBody>
          <a:bodyPr/>
          <a:lstStyle/>
          <a:p>
            <a:fld id="{196CB346-A29B-614A-90B7-3F58220E4132}" type="datetime1">
              <a:rPr lang="en-IN" smtClean="0"/>
              <a:t>11-03-2026</a:t>
            </a:fld>
            <a:endParaRPr lang="en-US"/>
          </a:p>
        </p:txBody>
      </p:sp>
      <p:sp>
        <p:nvSpPr>
          <p:cNvPr id="7" name="Slide Number Placeholder 6">
            <a:extLst>
              <a:ext uri="{FF2B5EF4-FFF2-40B4-BE49-F238E27FC236}">
                <a16:creationId xmlns:a16="http://schemas.microsoft.com/office/drawing/2014/main" id="{7B53D3A6-F1ED-0DAD-DE43-F3A755A78A23}"/>
              </a:ext>
            </a:extLst>
          </p:cNvPr>
          <p:cNvSpPr>
            <a:spLocks noGrp="1"/>
          </p:cNvSpPr>
          <p:nvPr>
            <p:ph type="sldNum" sz="quarter" idx="12"/>
          </p:nvPr>
        </p:nvSpPr>
        <p:spPr/>
        <p:txBody>
          <a:bodyPr/>
          <a:lstStyle/>
          <a:p>
            <a:fld id="{B961B71F-4B40-8942-BB88-E0F5C0B46E10}" type="slidenum">
              <a:rPr lang="en-US" smtClean="0"/>
              <a:t>4</a:t>
            </a:fld>
            <a:endParaRPr lang="en-US"/>
          </a:p>
        </p:txBody>
      </p:sp>
      <p:pic>
        <p:nvPicPr>
          <p:cNvPr id="2" name="Picture 1">
            <a:extLst>
              <a:ext uri="{FF2B5EF4-FFF2-40B4-BE49-F238E27FC236}">
                <a16:creationId xmlns:a16="http://schemas.microsoft.com/office/drawing/2014/main" id="{ABEFA699-0799-F3B0-1E5B-DEAFB30C59B0}"/>
              </a:ext>
            </a:extLst>
          </p:cNvPr>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6246225C-C486-FED1-DA4D-888BE9F6A86C}"/>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011599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DF4ED40-408F-6A27-E4F0-6FCB8E7B6BE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C946B85-3126-D2FB-6BBE-D431774EDF2B}"/>
              </a:ext>
            </a:extLst>
          </p:cNvPr>
          <p:cNvSpPr>
            <a:spLocks noGrp="1"/>
          </p:cNvSpPr>
          <p:nvPr>
            <p:ph type="title"/>
          </p:nvPr>
        </p:nvSpPr>
        <p:spPr>
          <a:xfrm>
            <a:off x="1180618" y="365125"/>
            <a:ext cx="10173182" cy="1128009"/>
          </a:xfrm>
        </p:spPr>
        <p:txBody>
          <a:bodyPr/>
          <a:lstStyle/>
          <a:p>
            <a:r>
              <a:rPr dirty="0"/>
              <a:t>Objectives</a:t>
            </a:r>
            <a:r>
              <a:rPr lang="en-IN" dirty="0"/>
              <a:t>:</a:t>
            </a:r>
            <a:endParaRPr dirty="0"/>
          </a:p>
        </p:txBody>
      </p:sp>
      <p:sp>
        <p:nvSpPr>
          <p:cNvPr id="9" name="Content Placeholder 8">
            <a:extLst>
              <a:ext uri="{FF2B5EF4-FFF2-40B4-BE49-F238E27FC236}">
                <a16:creationId xmlns:a16="http://schemas.microsoft.com/office/drawing/2014/main" id="{207DCC41-9625-D8BE-ED8E-A41DE68AA126}"/>
              </a:ext>
            </a:extLst>
          </p:cNvPr>
          <p:cNvSpPr>
            <a:spLocks noGrp="1"/>
          </p:cNvSpPr>
          <p:nvPr>
            <p:ph idx="1"/>
          </p:nvPr>
        </p:nvSpPr>
        <p:spPr>
          <a:xfrm>
            <a:off x="729243" y="1423281"/>
            <a:ext cx="10515600" cy="5002923"/>
          </a:xfrm>
        </p:spPr>
        <p:txBody>
          <a:bodyPr>
            <a:normAutofit/>
          </a:bodyPr>
          <a:lstStyle/>
          <a:p>
            <a:r>
              <a:rPr lang="en-US" sz="2200" dirty="0"/>
              <a:t>The main objective of the IndiaShield system is to develop an intelligent platform that can monitor disaster-related information in real time and assist in faster decision-making during emergency situations.</a:t>
            </a:r>
          </a:p>
          <a:p>
            <a:r>
              <a:rPr lang="en-US" sz="2200" dirty="0"/>
              <a:t>The expected outcomes of the project include the ability to automatically detect disaster-related events from multiple data sources such as social media posts, weather updates, and news feeds.</a:t>
            </a:r>
          </a:p>
          <a:p>
            <a:r>
              <a:rPr lang="en-US" sz="2200" dirty="0"/>
              <a:t>The system will generate real-time alerts and insights about disasters, helping authorities and organizations understand the severity and location of emergency events quickly.</a:t>
            </a:r>
          </a:p>
          <a:p>
            <a:r>
              <a:rPr lang="en-US" sz="2200" dirty="0"/>
              <a:t>Another outcome of the project is the development of an interactive dashboard that visually displays disaster alerts, analytics, and geographical locations on a map of India.</a:t>
            </a:r>
          </a:p>
          <a:p>
            <a:r>
              <a:rPr lang="en-US" sz="2200" dirty="0"/>
              <a:t>Overall, the project aims to provide a scalable and intelligent disaster monitoring system that improves disaster awareness, response time, and public safety.</a:t>
            </a:r>
          </a:p>
          <a:p>
            <a:endParaRPr sz="2200" dirty="0"/>
          </a:p>
        </p:txBody>
      </p:sp>
      <p:sp>
        <p:nvSpPr>
          <p:cNvPr id="5" name="Date Placeholder 4">
            <a:extLst>
              <a:ext uri="{FF2B5EF4-FFF2-40B4-BE49-F238E27FC236}">
                <a16:creationId xmlns:a16="http://schemas.microsoft.com/office/drawing/2014/main" id="{47AB615F-134B-83C4-E306-B5062B74B49D}"/>
              </a:ext>
            </a:extLst>
          </p:cNvPr>
          <p:cNvSpPr>
            <a:spLocks noGrp="1"/>
          </p:cNvSpPr>
          <p:nvPr>
            <p:ph type="dt" sz="half" idx="10"/>
          </p:nvPr>
        </p:nvSpPr>
        <p:spPr/>
        <p:txBody>
          <a:bodyPr/>
          <a:lstStyle/>
          <a:p>
            <a:fld id="{196CB346-A29B-614A-90B7-3F58220E4132}" type="datetime1">
              <a:rPr lang="en-IN" smtClean="0"/>
              <a:t>11-03-2026</a:t>
            </a:fld>
            <a:endParaRPr lang="en-US"/>
          </a:p>
        </p:txBody>
      </p:sp>
      <p:sp>
        <p:nvSpPr>
          <p:cNvPr id="7" name="Slide Number Placeholder 6">
            <a:extLst>
              <a:ext uri="{FF2B5EF4-FFF2-40B4-BE49-F238E27FC236}">
                <a16:creationId xmlns:a16="http://schemas.microsoft.com/office/drawing/2014/main" id="{56B58078-A2DB-3337-E1DB-4073478F184D}"/>
              </a:ext>
            </a:extLst>
          </p:cNvPr>
          <p:cNvSpPr>
            <a:spLocks noGrp="1"/>
          </p:cNvSpPr>
          <p:nvPr>
            <p:ph type="sldNum" sz="quarter" idx="12"/>
          </p:nvPr>
        </p:nvSpPr>
        <p:spPr/>
        <p:txBody>
          <a:bodyPr/>
          <a:lstStyle/>
          <a:p>
            <a:fld id="{B961B71F-4B40-8942-BB88-E0F5C0B46E10}" type="slidenum">
              <a:rPr lang="en-US" smtClean="0"/>
              <a:t>5</a:t>
            </a:fld>
            <a:endParaRPr lang="en-US"/>
          </a:p>
        </p:txBody>
      </p:sp>
      <p:pic>
        <p:nvPicPr>
          <p:cNvPr id="2" name="Picture 1">
            <a:extLst>
              <a:ext uri="{FF2B5EF4-FFF2-40B4-BE49-F238E27FC236}">
                <a16:creationId xmlns:a16="http://schemas.microsoft.com/office/drawing/2014/main" id="{3635B6A2-90DB-9DF8-4F42-DFC3BA3D4CDC}"/>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EB56FACB-3BE6-7710-5AF6-30246594A4B1}"/>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40084045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2205BF8-E8B4-C589-5006-CAF232FB4E78}"/>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215234DD-6ED1-D656-1294-FA28B66E4582}"/>
              </a:ext>
            </a:extLst>
          </p:cNvPr>
          <p:cNvSpPr>
            <a:spLocks noGrp="1"/>
          </p:cNvSpPr>
          <p:nvPr>
            <p:ph type="title"/>
          </p:nvPr>
        </p:nvSpPr>
        <p:spPr>
          <a:xfrm>
            <a:off x="1180617" y="365521"/>
            <a:ext cx="10173182" cy="1128009"/>
          </a:xfrm>
        </p:spPr>
        <p:txBody>
          <a:bodyPr/>
          <a:lstStyle/>
          <a:p>
            <a:r>
              <a:rPr dirty="0"/>
              <a:t>Literature Survey</a:t>
            </a:r>
          </a:p>
        </p:txBody>
      </p:sp>
      <p:sp>
        <p:nvSpPr>
          <p:cNvPr id="5" name="Date Placeholder 4">
            <a:extLst>
              <a:ext uri="{FF2B5EF4-FFF2-40B4-BE49-F238E27FC236}">
                <a16:creationId xmlns:a16="http://schemas.microsoft.com/office/drawing/2014/main" id="{B10130AF-494E-777F-45AE-C50709DBF558}"/>
              </a:ext>
            </a:extLst>
          </p:cNvPr>
          <p:cNvSpPr>
            <a:spLocks noGrp="1"/>
          </p:cNvSpPr>
          <p:nvPr>
            <p:ph type="dt" sz="half" idx="10"/>
          </p:nvPr>
        </p:nvSpPr>
        <p:spPr>
          <a:xfrm>
            <a:off x="838199" y="6356746"/>
            <a:ext cx="2743200" cy="365125"/>
          </a:xfrm>
        </p:spPr>
        <p:txBody>
          <a:bodyPr/>
          <a:lstStyle/>
          <a:p>
            <a:fld id="{196CB346-A29B-614A-90B7-3F58220E4132}" type="datetime1">
              <a:rPr lang="en-IN" smtClean="0"/>
              <a:t>11-03-2026</a:t>
            </a:fld>
            <a:endParaRPr lang="en-US" dirty="0"/>
          </a:p>
        </p:txBody>
      </p:sp>
      <p:sp>
        <p:nvSpPr>
          <p:cNvPr id="7" name="Slide Number Placeholder 6">
            <a:extLst>
              <a:ext uri="{FF2B5EF4-FFF2-40B4-BE49-F238E27FC236}">
                <a16:creationId xmlns:a16="http://schemas.microsoft.com/office/drawing/2014/main" id="{1E301E54-71CD-371A-5333-489712DC684B}"/>
              </a:ext>
            </a:extLst>
          </p:cNvPr>
          <p:cNvSpPr>
            <a:spLocks noGrp="1"/>
          </p:cNvSpPr>
          <p:nvPr>
            <p:ph type="sldNum" sz="quarter" idx="12"/>
          </p:nvPr>
        </p:nvSpPr>
        <p:spPr>
          <a:xfrm>
            <a:off x="8610599" y="6356746"/>
            <a:ext cx="2743200" cy="365125"/>
          </a:xfrm>
        </p:spPr>
        <p:txBody>
          <a:bodyPr/>
          <a:lstStyle/>
          <a:p>
            <a:fld id="{B961B71F-4B40-8942-BB88-E0F5C0B46E10}" type="slidenum">
              <a:rPr lang="en-US" smtClean="0"/>
              <a:t>6</a:t>
            </a:fld>
            <a:endParaRPr lang="en-US"/>
          </a:p>
        </p:txBody>
      </p:sp>
      <p:pic>
        <p:nvPicPr>
          <p:cNvPr id="2" name="Picture 1">
            <a:extLst>
              <a:ext uri="{FF2B5EF4-FFF2-40B4-BE49-F238E27FC236}">
                <a16:creationId xmlns:a16="http://schemas.microsoft.com/office/drawing/2014/main" id="{46E32AD9-12A7-7C40-05A0-8D056D1960B2}"/>
              </a:ext>
            </a:extLst>
          </p:cNvPr>
          <p:cNvPicPr>
            <a:picLocks noChangeAspect="1"/>
          </p:cNvPicPr>
          <p:nvPr/>
        </p:nvPicPr>
        <p:blipFill>
          <a:blip r:embed="rId2"/>
          <a:stretch>
            <a:fillRect/>
          </a:stretch>
        </p:blipFill>
        <p:spPr>
          <a:xfrm>
            <a:off x="0" y="0"/>
            <a:ext cx="1458484" cy="690861"/>
          </a:xfrm>
          <a:prstGeom prst="rect">
            <a:avLst/>
          </a:prstGeom>
        </p:spPr>
      </p:pic>
      <p:sp>
        <p:nvSpPr>
          <p:cNvPr id="10" name="Footer Placeholder 2">
            <a:extLst>
              <a:ext uri="{FF2B5EF4-FFF2-40B4-BE49-F238E27FC236}">
                <a16:creationId xmlns:a16="http://schemas.microsoft.com/office/drawing/2014/main" id="{AEA843F7-8A62-A540-2018-E141BD34A93C}"/>
              </a:ext>
            </a:extLst>
          </p:cNvPr>
          <p:cNvSpPr>
            <a:spLocks noGrp="1"/>
          </p:cNvSpPr>
          <p:nvPr>
            <p:ph type="ftr" sz="quarter" idx="11"/>
          </p:nvPr>
        </p:nvSpPr>
        <p:spPr>
          <a:xfrm>
            <a:off x="4038599" y="6356746"/>
            <a:ext cx="4114800" cy="365125"/>
          </a:xfrm>
        </p:spPr>
        <p:txBody>
          <a:bodyPr/>
          <a:lstStyle/>
          <a:p>
            <a:r>
              <a:rPr lang="en-US" dirty="0"/>
              <a:t>REVIEW – 2    </a:t>
            </a:r>
          </a:p>
        </p:txBody>
      </p:sp>
      <p:graphicFrame>
        <p:nvGraphicFramePr>
          <p:cNvPr id="11" name="Table 10">
            <a:extLst>
              <a:ext uri="{FF2B5EF4-FFF2-40B4-BE49-F238E27FC236}">
                <a16:creationId xmlns:a16="http://schemas.microsoft.com/office/drawing/2014/main" id="{92B313CE-5FEC-4C43-7EBC-1C7282010C3D}"/>
              </a:ext>
            </a:extLst>
          </p:cNvPr>
          <p:cNvGraphicFramePr>
            <a:graphicFrameLocks noGrp="1"/>
          </p:cNvGraphicFramePr>
          <p:nvPr>
            <p:extLst>
              <p:ext uri="{D42A27DB-BD31-4B8C-83A1-F6EECF244321}">
                <p14:modId xmlns:p14="http://schemas.microsoft.com/office/powerpoint/2010/main" val="2820119532"/>
              </p:ext>
            </p:extLst>
          </p:nvPr>
        </p:nvGraphicFramePr>
        <p:xfrm>
          <a:off x="838199" y="3818810"/>
          <a:ext cx="10515600" cy="365760"/>
        </p:xfrm>
        <a:graphic>
          <a:graphicData uri="http://schemas.openxmlformats.org/drawingml/2006/table">
            <a:tbl>
              <a:tblPr/>
              <a:tblGrid>
                <a:gridCol w="10515600">
                  <a:extLst>
                    <a:ext uri="{9D8B030D-6E8A-4147-A177-3AD203B41FA5}">
                      <a16:colId xmlns:a16="http://schemas.microsoft.com/office/drawing/2014/main" val="1621147012"/>
                    </a:ext>
                  </a:extLst>
                </a:gridCol>
              </a:tblGrid>
              <a:tr h="0">
                <a:tc>
                  <a:txBody>
                    <a:bodyPr/>
                    <a:lstStyle/>
                    <a:p>
                      <a:pPr>
                        <a:buNone/>
                      </a:pPr>
                      <a:endParaRPr lang="en-IN" dirty="0"/>
                    </a:p>
                  </a:txBody>
                  <a:tcPr anchor="ctr">
                    <a:lnL>
                      <a:noFill/>
                    </a:lnL>
                    <a:lnR>
                      <a:noFill/>
                    </a:lnR>
                    <a:lnT>
                      <a:noFill/>
                    </a:lnT>
                    <a:lnB>
                      <a:noFill/>
                    </a:lnB>
                    <a:noFill/>
                  </a:tcPr>
                </a:tc>
                <a:extLst>
                  <a:ext uri="{0D108BD9-81ED-4DB2-BD59-A6C34878D82A}">
                    <a16:rowId xmlns:a16="http://schemas.microsoft.com/office/drawing/2014/main" val="4136684601"/>
                  </a:ext>
                </a:extLst>
              </a:tr>
            </a:tbl>
          </a:graphicData>
        </a:graphic>
      </p:graphicFrame>
      <p:graphicFrame>
        <p:nvGraphicFramePr>
          <p:cNvPr id="31" name="Table 30">
            <a:extLst>
              <a:ext uri="{FF2B5EF4-FFF2-40B4-BE49-F238E27FC236}">
                <a16:creationId xmlns:a16="http://schemas.microsoft.com/office/drawing/2014/main" id="{C8172B3E-234D-E032-A7C7-E5156E79445E}"/>
              </a:ext>
            </a:extLst>
          </p:cNvPr>
          <p:cNvGraphicFramePr>
            <a:graphicFrameLocks noGrp="1"/>
          </p:cNvGraphicFramePr>
          <p:nvPr>
            <p:extLst>
              <p:ext uri="{D42A27DB-BD31-4B8C-83A1-F6EECF244321}">
                <p14:modId xmlns:p14="http://schemas.microsoft.com/office/powerpoint/2010/main" val="1631784632"/>
              </p:ext>
            </p:extLst>
          </p:nvPr>
        </p:nvGraphicFramePr>
        <p:xfrm>
          <a:off x="161487" y="1253331"/>
          <a:ext cx="11676552" cy="5103415"/>
        </p:xfrm>
        <a:graphic>
          <a:graphicData uri="http://schemas.openxmlformats.org/drawingml/2006/table">
            <a:tbl>
              <a:tblPr/>
              <a:tblGrid>
                <a:gridCol w="973046">
                  <a:extLst>
                    <a:ext uri="{9D8B030D-6E8A-4147-A177-3AD203B41FA5}">
                      <a16:colId xmlns:a16="http://schemas.microsoft.com/office/drawing/2014/main" val="271876423"/>
                    </a:ext>
                  </a:extLst>
                </a:gridCol>
                <a:gridCol w="973046">
                  <a:extLst>
                    <a:ext uri="{9D8B030D-6E8A-4147-A177-3AD203B41FA5}">
                      <a16:colId xmlns:a16="http://schemas.microsoft.com/office/drawing/2014/main" val="2014687357"/>
                    </a:ext>
                  </a:extLst>
                </a:gridCol>
                <a:gridCol w="973046">
                  <a:extLst>
                    <a:ext uri="{9D8B030D-6E8A-4147-A177-3AD203B41FA5}">
                      <a16:colId xmlns:a16="http://schemas.microsoft.com/office/drawing/2014/main" val="2826248886"/>
                    </a:ext>
                  </a:extLst>
                </a:gridCol>
                <a:gridCol w="973046">
                  <a:extLst>
                    <a:ext uri="{9D8B030D-6E8A-4147-A177-3AD203B41FA5}">
                      <a16:colId xmlns:a16="http://schemas.microsoft.com/office/drawing/2014/main" val="2380424315"/>
                    </a:ext>
                  </a:extLst>
                </a:gridCol>
                <a:gridCol w="973046">
                  <a:extLst>
                    <a:ext uri="{9D8B030D-6E8A-4147-A177-3AD203B41FA5}">
                      <a16:colId xmlns:a16="http://schemas.microsoft.com/office/drawing/2014/main" val="1489401976"/>
                    </a:ext>
                  </a:extLst>
                </a:gridCol>
                <a:gridCol w="973046">
                  <a:extLst>
                    <a:ext uri="{9D8B030D-6E8A-4147-A177-3AD203B41FA5}">
                      <a16:colId xmlns:a16="http://schemas.microsoft.com/office/drawing/2014/main" val="3344994985"/>
                    </a:ext>
                  </a:extLst>
                </a:gridCol>
                <a:gridCol w="973046">
                  <a:extLst>
                    <a:ext uri="{9D8B030D-6E8A-4147-A177-3AD203B41FA5}">
                      <a16:colId xmlns:a16="http://schemas.microsoft.com/office/drawing/2014/main" val="1003384269"/>
                    </a:ext>
                  </a:extLst>
                </a:gridCol>
                <a:gridCol w="973046">
                  <a:extLst>
                    <a:ext uri="{9D8B030D-6E8A-4147-A177-3AD203B41FA5}">
                      <a16:colId xmlns:a16="http://schemas.microsoft.com/office/drawing/2014/main" val="1765023560"/>
                    </a:ext>
                  </a:extLst>
                </a:gridCol>
                <a:gridCol w="973046">
                  <a:extLst>
                    <a:ext uri="{9D8B030D-6E8A-4147-A177-3AD203B41FA5}">
                      <a16:colId xmlns:a16="http://schemas.microsoft.com/office/drawing/2014/main" val="2418034178"/>
                    </a:ext>
                  </a:extLst>
                </a:gridCol>
                <a:gridCol w="973046">
                  <a:extLst>
                    <a:ext uri="{9D8B030D-6E8A-4147-A177-3AD203B41FA5}">
                      <a16:colId xmlns:a16="http://schemas.microsoft.com/office/drawing/2014/main" val="1146364600"/>
                    </a:ext>
                  </a:extLst>
                </a:gridCol>
                <a:gridCol w="973046">
                  <a:extLst>
                    <a:ext uri="{9D8B030D-6E8A-4147-A177-3AD203B41FA5}">
                      <a16:colId xmlns:a16="http://schemas.microsoft.com/office/drawing/2014/main" val="248838733"/>
                    </a:ext>
                  </a:extLst>
                </a:gridCol>
                <a:gridCol w="973046">
                  <a:extLst>
                    <a:ext uri="{9D8B030D-6E8A-4147-A177-3AD203B41FA5}">
                      <a16:colId xmlns:a16="http://schemas.microsoft.com/office/drawing/2014/main" val="766257417"/>
                    </a:ext>
                  </a:extLst>
                </a:gridCol>
              </a:tblGrid>
              <a:tr h="457548">
                <a:tc>
                  <a:txBody>
                    <a:bodyPr/>
                    <a:lstStyle/>
                    <a:p>
                      <a:pPr>
                        <a:buNone/>
                      </a:pPr>
                      <a:r>
                        <a:rPr lang="en-IN" sz="1100"/>
                        <a:t>Sl No</a:t>
                      </a:r>
                    </a:p>
                  </a:txBody>
                  <a:tcPr marL="30009" marR="30009" marT="15005" marB="15005" anchor="ctr">
                    <a:lnL>
                      <a:noFill/>
                    </a:lnL>
                    <a:lnR>
                      <a:noFill/>
                    </a:lnR>
                    <a:lnT>
                      <a:noFill/>
                    </a:lnT>
                    <a:lnB>
                      <a:noFill/>
                    </a:lnB>
                    <a:noFill/>
                  </a:tcPr>
                </a:tc>
                <a:tc>
                  <a:txBody>
                    <a:bodyPr/>
                    <a:lstStyle/>
                    <a:p>
                      <a:pPr>
                        <a:buNone/>
                      </a:pPr>
                      <a:r>
                        <a:rPr lang="en-IN" sz="1100"/>
                        <a:t>Year</a:t>
                      </a:r>
                    </a:p>
                  </a:txBody>
                  <a:tcPr marL="30009" marR="30009" marT="15005" marB="15005" anchor="ctr">
                    <a:lnL>
                      <a:noFill/>
                    </a:lnL>
                    <a:lnR>
                      <a:noFill/>
                    </a:lnR>
                    <a:lnT>
                      <a:noFill/>
                    </a:lnT>
                    <a:lnB>
                      <a:noFill/>
                    </a:lnB>
                    <a:noFill/>
                  </a:tcPr>
                </a:tc>
                <a:tc>
                  <a:txBody>
                    <a:bodyPr/>
                    <a:lstStyle/>
                    <a:p>
                      <a:pPr>
                        <a:buNone/>
                      </a:pPr>
                      <a:r>
                        <a:rPr lang="en-IN" sz="1100"/>
                        <a:t>Authors</a:t>
                      </a:r>
                    </a:p>
                  </a:txBody>
                  <a:tcPr marL="30009" marR="30009" marT="15005" marB="15005" anchor="ctr">
                    <a:lnL>
                      <a:noFill/>
                    </a:lnL>
                    <a:lnR>
                      <a:noFill/>
                    </a:lnR>
                    <a:lnT>
                      <a:noFill/>
                    </a:lnT>
                    <a:lnB>
                      <a:noFill/>
                    </a:lnB>
                    <a:noFill/>
                  </a:tcPr>
                </a:tc>
                <a:tc>
                  <a:txBody>
                    <a:bodyPr/>
                    <a:lstStyle/>
                    <a:p>
                      <a:pPr>
                        <a:buNone/>
                      </a:pPr>
                      <a:r>
                        <a:rPr lang="en-IN" sz="1100"/>
                        <a:t>Title of the paper</a:t>
                      </a:r>
                    </a:p>
                  </a:txBody>
                  <a:tcPr marL="30009" marR="30009" marT="15005" marB="15005" anchor="ctr">
                    <a:lnL>
                      <a:noFill/>
                    </a:lnL>
                    <a:lnR>
                      <a:noFill/>
                    </a:lnR>
                    <a:lnT>
                      <a:noFill/>
                    </a:lnT>
                    <a:lnB>
                      <a:noFill/>
                    </a:lnB>
                    <a:noFill/>
                  </a:tcPr>
                </a:tc>
                <a:tc>
                  <a:txBody>
                    <a:bodyPr/>
                    <a:lstStyle/>
                    <a:p>
                      <a:pPr>
                        <a:buNone/>
                      </a:pPr>
                      <a:r>
                        <a:rPr lang="en-IN" sz="1100"/>
                        <a:t>Source</a:t>
                      </a:r>
                    </a:p>
                  </a:txBody>
                  <a:tcPr marL="30009" marR="30009" marT="15005" marB="15005" anchor="ctr">
                    <a:lnL>
                      <a:noFill/>
                    </a:lnL>
                    <a:lnR>
                      <a:noFill/>
                    </a:lnR>
                    <a:lnT>
                      <a:noFill/>
                    </a:lnT>
                    <a:lnB>
                      <a:noFill/>
                    </a:lnB>
                    <a:noFill/>
                  </a:tcPr>
                </a:tc>
                <a:tc>
                  <a:txBody>
                    <a:bodyPr/>
                    <a:lstStyle/>
                    <a:p>
                      <a:pPr>
                        <a:buNone/>
                      </a:pPr>
                      <a:r>
                        <a:rPr lang="en-IN" sz="1100"/>
                        <a:t>Objective</a:t>
                      </a:r>
                    </a:p>
                  </a:txBody>
                  <a:tcPr marL="30009" marR="30009" marT="15005" marB="15005" anchor="ctr">
                    <a:lnL>
                      <a:noFill/>
                    </a:lnL>
                    <a:lnR>
                      <a:noFill/>
                    </a:lnR>
                    <a:lnT>
                      <a:noFill/>
                    </a:lnT>
                    <a:lnB>
                      <a:noFill/>
                    </a:lnB>
                    <a:noFill/>
                  </a:tcPr>
                </a:tc>
                <a:tc>
                  <a:txBody>
                    <a:bodyPr/>
                    <a:lstStyle/>
                    <a:p>
                      <a:pPr>
                        <a:buNone/>
                      </a:pPr>
                      <a:r>
                        <a:rPr lang="en-IN" sz="1100"/>
                        <a:t>Techniques Used</a:t>
                      </a:r>
                    </a:p>
                  </a:txBody>
                  <a:tcPr marL="30009" marR="30009" marT="15005" marB="15005" anchor="ctr">
                    <a:lnL>
                      <a:noFill/>
                    </a:lnL>
                    <a:lnR>
                      <a:noFill/>
                    </a:lnR>
                    <a:lnT>
                      <a:noFill/>
                    </a:lnT>
                    <a:lnB>
                      <a:noFill/>
                    </a:lnB>
                    <a:noFill/>
                  </a:tcPr>
                </a:tc>
                <a:tc>
                  <a:txBody>
                    <a:bodyPr/>
                    <a:lstStyle/>
                    <a:p>
                      <a:pPr>
                        <a:buNone/>
                      </a:pPr>
                      <a:r>
                        <a:rPr lang="en-IN" sz="1100"/>
                        <a:t>Dataset Used</a:t>
                      </a:r>
                    </a:p>
                  </a:txBody>
                  <a:tcPr marL="30009" marR="30009" marT="15005" marB="15005" anchor="ctr">
                    <a:lnL>
                      <a:noFill/>
                    </a:lnL>
                    <a:lnR>
                      <a:noFill/>
                    </a:lnR>
                    <a:lnT>
                      <a:noFill/>
                    </a:lnT>
                    <a:lnB>
                      <a:noFill/>
                    </a:lnB>
                    <a:noFill/>
                  </a:tcPr>
                </a:tc>
                <a:tc>
                  <a:txBody>
                    <a:bodyPr/>
                    <a:lstStyle/>
                    <a:p>
                      <a:pPr>
                        <a:buNone/>
                      </a:pPr>
                      <a:r>
                        <a:rPr lang="en-IN" sz="1100"/>
                        <a:t>Parameters Analysed</a:t>
                      </a:r>
                    </a:p>
                  </a:txBody>
                  <a:tcPr marL="30009" marR="30009" marT="15005" marB="15005" anchor="ctr">
                    <a:lnL>
                      <a:noFill/>
                    </a:lnL>
                    <a:lnR>
                      <a:noFill/>
                    </a:lnR>
                    <a:lnT>
                      <a:noFill/>
                    </a:lnT>
                    <a:lnB>
                      <a:noFill/>
                    </a:lnB>
                    <a:noFill/>
                  </a:tcPr>
                </a:tc>
                <a:tc>
                  <a:txBody>
                    <a:bodyPr/>
                    <a:lstStyle/>
                    <a:p>
                      <a:pPr>
                        <a:buNone/>
                      </a:pPr>
                      <a:r>
                        <a:rPr lang="en-IN" sz="1100"/>
                        <a:t>Research Inference</a:t>
                      </a:r>
                    </a:p>
                  </a:txBody>
                  <a:tcPr marL="30009" marR="30009" marT="15005" marB="15005" anchor="ctr">
                    <a:lnL>
                      <a:noFill/>
                    </a:lnL>
                    <a:lnR>
                      <a:noFill/>
                    </a:lnR>
                    <a:lnT>
                      <a:noFill/>
                    </a:lnT>
                    <a:lnB>
                      <a:noFill/>
                    </a:lnB>
                    <a:noFill/>
                  </a:tcPr>
                </a:tc>
                <a:tc>
                  <a:txBody>
                    <a:bodyPr/>
                    <a:lstStyle/>
                    <a:p>
                      <a:pPr>
                        <a:buNone/>
                      </a:pPr>
                      <a:r>
                        <a:rPr lang="en-IN" sz="1100"/>
                        <a:t>Research Gap</a:t>
                      </a:r>
                    </a:p>
                  </a:txBody>
                  <a:tcPr marL="30009" marR="30009" marT="15005" marB="15005" anchor="ctr">
                    <a:lnL>
                      <a:noFill/>
                    </a:lnL>
                    <a:lnR>
                      <a:noFill/>
                    </a:lnR>
                    <a:lnT>
                      <a:noFill/>
                    </a:lnT>
                    <a:lnB>
                      <a:noFill/>
                    </a:lnB>
                    <a:noFill/>
                  </a:tcPr>
                </a:tc>
                <a:tc>
                  <a:txBody>
                    <a:bodyPr/>
                    <a:lstStyle/>
                    <a:p>
                      <a:pPr>
                        <a:buNone/>
                      </a:pPr>
                      <a:r>
                        <a:rPr lang="en-IN" sz="1100"/>
                        <a:t>DOI</a:t>
                      </a:r>
                    </a:p>
                  </a:txBody>
                  <a:tcPr marL="30009" marR="30009" marT="15005" marB="15005" anchor="ctr">
                    <a:lnL>
                      <a:noFill/>
                    </a:lnL>
                    <a:lnR>
                      <a:noFill/>
                    </a:lnR>
                    <a:lnT>
                      <a:noFill/>
                    </a:lnT>
                    <a:lnB>
                      <a:noFill/>
                    </a:lnB>
                    <a:noFill/>
                  </a:tcPr>
                </a:tc>
                <a:extLst>
                  <a:ext uri="{0D108BD9-81ED-4DB2-BD59-A6C34878D82A}">
                    <a16:rowId xmlns:a16="http://schemas.microsoft.com/office/drawing/2014/main" val="884709870"/>
                  </a:ext>
                </a:extLst>
              </a:tr>
              <a:tr h="1407839">
                <a:tc>
                  <a:txBody>
                    <a:bodyPr/>
                    <a:lstStyle/>
                    <a:p>
                      <a:pPr>
                        <a:buNone/>
                      </a:pPr>
                      <a:r>
                        <a:rPr lang="en-IN" sz="1100"/>
                        <a:t>1</a:t>
                      </a:r>
                    </a:p>
                  </a:txBody>
                  <a:tcPr marL="30009" marR="30009" marT="15005" marB="15005" anchor="ctr">
                    <a:lnL>
                      <a:noFill/>
                    </a:lnL>
                    <a:lnR>
                      <a:noFill/>
                    </a:lnR>
                    <a:lnT>
                      <a:noFill/>
                    </a:lnT>
                    <a:lnB>
                      <a:noFill/>
                    </a:lnB>
                    <a:noFill/>
                  </a:tcPr>
                </a:tc>
                <a:tc>
                  <a:txBody>
                    <a:bodyPr/>
                    <a:lstStyle/>
                    <a:p>
                      <a:pPr>
                        <a:buNone/>
                      </a:pPr>
                      <a:r>
                        <a:rPr lang="en-IN" sz="1100"/>
                        <a:t>2020</a:t>
                      </a:r>
                    </a:p>
                  </a:txBody>
                  <a:tcPr marL="30009" marR="30009" marT="15005" marB="15005" anchor="ctr">
                    <a:lnL>
                      <a:noFill/>
                    </a:lnL>
                    <a:lnR>
                      <a:noFill/>
                    </a:lnR>
                    <a:lnT>
                      <a:noFill/>
                    </a:lnT>
                    <a:lnB>
                      <a:noFill/>
                    </a:lnB>
                    <a:noFill/>
                  </a:tcPr>
                </a:tc>
                <a:tc>
                  <a:txBody>
                    <a:bodyPr/>
                    <a:lstStyle/>
                    <a:p>
                      <a:pPr>
                        <a:buNone/>
                      </a:pPr>
                      <a:r>
                        <a:rPr lang="en-IN" sz="1100"/>
                        <a:t>M. Imran, C. Castillo</a:t>
                      </a:r>
                    </a:p>
                  </a:txBody>
                  <a:tcPr marL="30009" marR="30009" marT="15005" marB="15005" anchor="ctr">
                    <a:lnL>
                      <a:noFill/>
                    </a:lnL>
                    <a:lnR>
                      <a:noFill/>
                    </a:lnR>
                    <a:lnT>
                      <a:noFill/>
                    </a:lnT>
                    <a:lnB>
                      <a:noFill/>
                    </a:lnB>
                    <a:noFill/>
                  </a:tcPr>
                </a:tc>
                <a:tc>
                  <a:txBody>
                    <a:bodyPr/>
                    <a:lstStyle/>
                    <a:p>
                      <a:pPr>
                        <a:buNone/>
                      </a:pPr>
                      <a:r>
                        <a:rPr lang="en-US" sz="1100"/>
                        <a:t>Processing Social Media Messages in Mass Emergency</a:t>
                      </a:r>
                    </a:p>
                  </a:txBody>
                  <a:tcPr marL="30009" marR="30009" marT="15005" marB="15005" anchor="ctr">
                    <a:lnL>
                      <a:noFill/>
                    </a:lnL>
                    <a:lnR>
                      <a:noFill/>
                    </a:lnR>
                    <a:lnT>
                      <a:noFill/>
                    </a:lnT>
                    <a:lnB>
                      <a:noFill/>
                    </a:lnB>
                    <a:noFill/>
                  </a:tcPr>
                </a:tc>
                <a:tc>
                  <a:txBody>
                    <a:bodyPr/>
                    <a:lstStyle/>
                    <a:p>
                      <a:pPr>
                        <a:buNone/>
                      </a:pPr>
                      <a:r>
                        <a:rPr lang="en-IN" sz="1100"/>
                        <a:t>ACM Computing Surveys</a:t>
                      </a:r>
                    </a:p>
                  </a:txBody>
                  <a:tcPr marL="30009" marR="30009" marT="15005" marB="15005" anchor="ctr">
                    <a:lnL>
                      <a:noFill/>
                    </a:lnL>
                    <a:lnR>
                      <a:noFill/>
                    </a:lnR>
                    <a:lnT>
                      <a:noFill/>
                    </a:lnT>
                    <a:lnB>
                      <a:noFill/>
                    </a:lnB>
                    <a:noFill/>
                  </a:tcPr>
                </a:tc>
                <a:tc>
                  <a:txBody>
                    <a:bodyPr/>
                    <a:lstStyle/>
                    <a:p>
                      <a:pPr>
                        <a:buNone/>
                      </a:pPr>
                      <a:r>
                        <a:rPr lang="en-IN" sz="1100" dirty="0"/>
                        <a:t>To analyze social media data for disaster detection</a:t>
                      </a:r>
                    </a:p>
                  </a:txBody>
                  <a:tcPr marL="30009" marR="30009" marT="15005" marB="15005" anchor="ctr">
                    <a:lnL>
                      <a:noFill/>
                    </a:lnL>
                    <a:lnR>
                      <a:noFill/>
                    </a:lnR>
                    <a:lnT>
                      <a:noFill/>
                    </a:lnT>
                    <a:lnB>
                      <a:noFill/>
                    </a:lnB>
                    <a:noFill/>
                  </a:tcPr>
                </a:tc>
                <a:tc>
                  <a:txBody>
                    <a:bodyPr/>
                    <a:lstStyle/>
                    <a:p>
                      <a:pPr>
                        <a:buNone/>
                      </a:pPr>
                      <a:r>
                        <a:rPr lang="en-US" sz="1100" dirty="0"/>
                        <a:t>Natural Language Processing, </a:t>
                      </a:r>
                    </a:p>
                    <a:p>
                      <a:pPr>
                        <a:buNone/>
                      </a:pPr>
                      <a:r>
                        <a:rPr lang="en-US" sz="1100" dirty="0"/>
                        <a:t>Text Mining</a:t>
                      </a:r>
                    </a:p>
                  </a:txBody>
                  <a:tcPr marL="30009" marR="30009" marT="15005" marB="15005" anchor="ctr">
                    <a:lnL>
                      <a:noFill/>
                    </a:lnL>
                    <a:lnR>
                      <a:noFill/>
                    </a:lnR>
                    <a:lnT>
                      <a:noFill/>
                    </a:lnT>
                    <a:lnB>
                      <a:noFill/>
                    </a:lnB>
                    <a:noFill/>
                  </a:tcPr>
                </a:tc>
                <a:tc>
                  <a:txBody>
                    <a:bodyPr/>
                    <a:lstStyle/>
                    <a:p>
                      <a:pPr>
                        <a:buNone/>
                      </a:pPr>
                      <a:r>
                        <a:rPr lang="en-IN" sz="1100"/>
                        <a:t>Twitter disaster dataset</a:t>
                      </a:r>
                    </a:p>
                  </a:txBody>
                  <a:tcPr marL="30009" marR="30009" marT="15005" marB="15005" anchor="ctr">
                    <a:lnL>
                      <a:noFill/>
                    </a:lnL>
                    <a:lnR>
                      <a:noFill/>
                    </a:lnR>
                    <a:lnT>
                      <a:noFill/>
                    </a:lnT>
                    <a:lnB>
                      <a:noFill/>
                    </a:lnB>
                    <a:noFill/>
                  </a:tcPr>
                </a:tc>
                <a:tc>
                  <a:txBody>
                    <a:bodyPr/>
                    <a:lstStyle/>
                    <a:p>
                      <a:pPr>
                        <a:buNone/>
                      </a:pPr>
                      <a:r>
                        <a:rPr lang="en-IN" sz="1100"/>
                        <a:t>Accuracy, Precision, Recall</a:t>
                      </a:r>
                    </a:p>
                  </a:txBody>
                  <a:tcPr marL="30009" marR="30009" marT="15005" marB="15005" anchor="ctr">
                    <a:lnL>
                      <a:noFill/>
                    </a:lnL>
                    <a:lnR>
                      <a:noFill/>
                    </a:lnR>
                    <a:lnT>
                      <a:noFill/>
                    </a:lnT>
                    <a:lnB>
                      <a:noFill/>
                    </a:lnB>
                    <a:noFill/>
                  </a:tcPr>
                </a:tc>
                <a:tc>
                  <a:txBody>
                    <a:bodyPr/>
                    <a:lstStyle/>
                    <a:p>
                      <a:pPr>
                        <a:buNone/>
                      </a:pPr>
                      <a:r>
                        <a:rPr lang="en-US" sz="1100"/>
                        <a:t>Social media can provide real-time information during disasters.</a:t>
                      </a:r>
                    </a:p>
                  </a:txBody>
                  <a:tcPr marL="30009" marR="30009" marT="15005" marB="15005" anchor="ctr">
                    <a:lnL>
                      <a:noFill/>
                    </a:lnL>
                    <a:lnR>
                      <a:noFill/>
                    </a:lnR>
                    <a:lnT>
                      <a:noFill/>
                    </a:lnT>
                    <a:lnB>
                      <a:noFill/>
                    </a:lnB>
                    <a:noFill/>
                  </a:tcPr>
                </a:tc>
                <a:tc>
                  <a:txBody>
                    <a:bodyPr/>
                    <a:lstStyle/>
                    <a:p>
                      <a:pPr>
                        <a:buNone/>
                      </a:pPr>
                      <a:r>
                        <a:rPr lang="en-US" sz="1100"/>
                        <a:t>Does not support real-time big data streaming and visualization dashboards.</a:t>
                      </a:r>
                    </a:p>
                  </a:txBody>
                  <a:tcPr marL="30009" marR="30009" marT="15005" marB="15005" anchor="ctr">
                    <a:lnL>
                      <a:noFill/>
                    </a:lnL>
                    <a:lnR>
                      <a:noFill/>
                    </a:lnR>
                    <a:lnT>
                      <a:noFill/>
                    </a:lnT>
                    <a:lnB>
                      <a:noFill/>
                    </a:lnB>
                    <a:noFill/>
                  </a:tcPr>
                </a:tc>
                <a:tc>
                  <a:txBody>
                    <a:bodyPr/>
                    <a:lstStyle/>
                    <a:p>
                      <a:pPr>
                        <a:buNone/>
                      </a:pPr>
                      <a:r>
                        <a:rPr lang="en-IN" sz="1100"/>
                        <a:t>10.1145/2771588</a:t>
                      </a:r>
                    </a:p>
                  </a:txBody>
                  <a:tcPr marL="30009" marR="30009" marT="15005" marB="15005" anchor="ctr">
                    <a:lnL>
                      <a:noFill/>
                    </a:lnL>
                    <a:lnR>
                      <a:noFill/>
                    </a:lnR>
                    <a:lnT>
                      <a:noFill/>
                    </a:lnT>
                    <a:lnB>
                      <a:noFill/>
                    </a:lnB>
                    <a:noFill/>
                  </a:tcPr>
                </a:tc>
                <a:extLst>
                  <a:ext uri="{0D108BD9-81ED-4DB2-BD59-A6C34878D82A}">
                    <a16:rowId xmlns:a16="http://schemas.microsoft.com/office/drawing/2014/main" val="878914345"/>
                  </a:ext>
                </a:extLst>
              </a:tr>
              <a:tr h="1619014">
                <a:tc>
                  <a:txBody>
                    <a:bodyPr/>
                    <a:lstStyle/>
                    <a:p>
                      <a:pPr>
                        <a:buNone/>
                      </a:pPr>
                      <a:r>
                        <a:rPr lang="en-IN" sz="1100"/>
                        <a:t>2</a:t>
                      </a:r>
                    </a:p>
                  </a:txBody>
                  <a:tcPr marL="30009" marR="30009" marT="15005" marB="15005" anchor="ctr">
                    <a:lnL>
                      <a:noFill/>
                    </a:lnL>
                    <a:lnR>
                      <a:noFill/>
                    </a:lnR>
                    <a:lnT>
                      <a:noFill/>
                    </a:lnT>
                    <a:lnB>
                      <a:noFill/>
                    </a:lnB>
                    <a:noFill/>
                  </a:tcPr>
                </a:tc>
                <a:tc>
                  <a:txBody>
                    <a:bodyPr/>
                    <a:lstStyle/>
                    <a:p>
                      <a:pPr>
                        <a:buNone/>
                      </a:pPr>
                      <a:r>
                        <a:rPr lang="en-IN" sz="1100"/>
                        <a:t>2021</a:t>
                      </a:r>
                    </a:p>
                  </a:txBody>
                  <a:tcPr marL="30009" marR="30009" marT="15005" marB="15005" anchor="ctr">
                    <a:lnL>
                      <a:noFill/>
                    </a:lnL>
                    <a:lnR>
                      <a:noFill/>
                    </a:lnR>
                    <a:lnT>
                      <a:noFill/>
                    </a:lnT>
                    <a:lnB>
                      <a:noFill/>
                    </a:lnB>
                    <a:noFill/>
                  </a:tcPr>
                </a:tc>
                <a:tc>
                  <a:txBody>
                    <a:bodyPr/>
                    <a:lstStyle/>
                    <a:p>
                      <a:pPr>
                        <a:buNone/>
                      </a:pPr>
                      <a:r>
                        <a:rPr lang="pl-PL" sz="1100"/>
                        <a:t>T. Sakaki, M. Okazaki, Y. Matsuo</a:t>
                      </a:r>
                    </a:p>
                  </a:txBody>
                  <a:tcPr marL="30009" marR="30009" marT="15005" marB="15005" anchor="ctr">
                    <a:lnL>
                      <a:noFill/>
                    </a:lnL>
                    <a:lnR>
                      <a:noFill/>
                    </a:lnR>
                    <a:lnT>
                      <a:noFill/>
                    </a:lnT>
                    <a:lnB>
                      <a:noFill/>
                    </a:lnB>
                    <a:noFill/>
                  </a:tcPr>
                </a:tc>
                <a:tc>
                  <a:txBody>
                    <a:bodyPr/>
                    <a:lstStyle/>
                    <a:p>
                      <a:pPr>
                        <a:buNone/>
                      </a:pPr>
                      <a:r>
                        <a:rPr lang="en-IN" sz="1100" dirty="0"/>
                        <a:t>Earthquake Shakes Twitter Users</a:t>
                      </a:r>
                    </a:p>
                  </a:txBody>
                  <a:tcPr marL="30009" marR="30009" marT="15005" marB="15005" anchor="ctr">
                    <a:lnL>
                      <a:noFill/>
                    </a:lnL>
                    <a:lnR>
                      <a:noFill/>
                    </a:lnR>
                    <a:lnT>
                      <a:noFill/>
                    </a:lnT>
                    <a:lnB>
                      <a:noFill/>
                    </a:lnB>
                    <a:noFill/>
                  </a:tcPr>
                </a:tc>
                <a:tc>
                  <a:txBody>
                    <a:bodyPr/>
                    <a:lstStyle/>
                    <a:p>
                      <a:pPr>
                        <a:buNone/>
                      </a:pPr>
                      <a:r>
                        <a:rPr lang="en-IN" sz="1100"/>
                        <a:t>WWW Conference</a:t>
                      </a:r>
                    </a:p>
                  </a:txBody>
                  <a:tcPr marL="30009" marR="30009" marT="15005" marB="15005" anchor="ctr">
                    <a:lnL>
                      <a:noFill/>
                    </a:lnL>
                    <a:lnR>
                      <a:noFill/>
                    </a:lnR>
                    <a:lnT>
                      <a:noFill/>
                    </a:lnT>
                    <a:lnB>
                      <a:noFill/>
                    </a:lnB>
                    <a:noFill/>
                  </a:tcPr>
                </a:tc>
                <a:tc>
                  <a:txBody>
                    <a:bodyPr/>
                    <a:lstStyle/>
                    <a:p>
                      <a:pPr>
                        <a:buNone/>
                      </a:pPr>
                      <a:r>
                        <a:rPr lang="en-US" sz="1100"/>
                        <a:t>To detect earthquake events using Twitter data.</a:t>
                      </a:r>
                    </a:p>
                  </a:txBody>
                  <a:tcPr marL="30009" marR="30009" marT="15005" marB="15005" anchor="ctr">
                    <a:lnL>
                      <a:noFill/>
                    </a:lnL>
                    <a:lnR>
                      <a:noFill/>
                    </a:lnR>
                    <a:lnT>
                      <a:noFill/>
                    </a:lnT>
                    <a:lnB>
                      <a:noFill/>
                    </a:lnB>
                    <a:noFill/>
                  </a:tcPr>
                </a:tc>
                <a:tc>
                  <a:txBody>
                    <a:bodyPr/>
                    <a:lstStyle/>
                    <a:p>
                      <a:pPr>
                        <a:buNone/>
                      </a:pPr>
                      <a:r>
                        <a:rPr lang="en-IN" sz="1100"/>
                        <a:t>Machine Learning, Event Detection</a:t>
                      </a:r>
                    </a:p>
                  </a:txBody>
                  <a:tcPr marL="30009" marR="30009" marT="15005" marB="15005" anchor="ctr">
                    <a:lnL>
                      <a:noFill/>
                    </a:lnL>
                    <a:lnR>
                      <a:noFill/>
                    </a:lnR>
                    <a:lnT>
                      <a:noFill/>
                    </a:lnT>
                    <a:lnB>
                      <a:noFill/>
                    </a:lnB>
                    <a:noFill/>
                  </a:tcPr>
                </a:tc>
                <a:tc>
                  <a:txBody>
                    <a:bodyPr/>
                    <a:lstStyle/>
                    <a:p>
                      <a:pPr>
                        <a:buNone/>
                      </a:pPr>
                      <a:r>
                        <a:rPr lang="en-IN" sz="1100"/>
                        <a:t>Twitter streaming data</a:t>
                      </a:r>
                    </a:p>
                  </a:txBody>
                  <a:tcPr marL="30009" marR="30009" marT="15005" marB="15005" anchor="ctr">
                    <a:lnL>
                      <a:noFill/>
                    </a:lnL>
                    <a:lnR>
                      <a:noFill/>
                    </a:lnR>
                    <a:lnT>
                      <a:noFill/>
                    </a:lnT>
                    <a:lnB>
                      <a:noFill/>
                    </a:lnB>
                    <a:noFill/>
                  </a:tcPr>
                </a:tc>
                <a:tc>
                  <a:txBody>
                    <a:bodyPr/>
                    <a:lstStyle/>
                    <a:p>
                      <a:pPr>
                        <a:buNone/>
                      </a:pPr>
                      <a:r>
                        <a:rPr lang="en-IN" sz="1100"/>
                        <a:t>Detection Accuracy</a:t>
                      </a:r>
                    </a:p>
                  </a:txBody>
                  <a:tcPr marL="30009" marR="30009" marT="15005" marB="15005" anchor="ctr">
                    <a:lnL>
                      <a:noFill/>
                    </a:lnL>
                    <a:lnR>
                      <a:noFill/>
                    </a:lnR>
                    <a:lnT>
                      <a:noFill/>
                    </a:lnT>
                    <a:lnB>
                      <a:noFill/>
                    </a:lnB>
                    <a:noFill/>
                  </a:tcPr>
                </a:tc>
                <a:tc>
                  <a:txBody>
                    <a:bodyPr/>
                    <a:lstStyle/>
                    <a:p>
                      <a:pPr>
                        <a:buNone/>
                      </a:pPr>
                      <a:r>
                        <a:rPr lang="en-US" sz="1100"/>
                        <a:t>Social media data can detect disasters faster than traditional monitoring systems.</a:t>
                      </a:r>
                    </a:p>
                  </a:txBody>
                  <a:tcPr marL="30009" marR="30009" marT="15005" marB="15005" anchor="ctr">
                    <a:lnL>
                      <a:noFill/>
                    </a:lnL>
                    <a:lnR>
                      <a:noFill/>
                    </a:lnR>
                    <a:lnT>
                      <a:noFill/>
                    </a:lnT>
                    <a:lnB>
                      <a:noFill/>
                    </a:lnB>
                    <a:noFill/>
                  </a:tcPr>
                </a:tc>
                <a:tc>
                  <a:txBody>
                    <a:bodyPr/>
                    <a:lstStyle/>
                    <a:p>
                      <a:pPr>
                        <a:buNone/>
                      </a:pPr>
                      <a:r>
                        <a:rPr lang="en-US" sz="1100"/>
                        <a:t>Focused only on earthquake detection and uses a single data source.</a:t>
                      </a:r>
                    </a:p>
                  </a:txBody>
                  <a:tcPr marL="30009" marR="30009" marT="15005" marB="15005" anchor="ctr">
                    <a:lnL>
                      <a:noFill/>
                    </a:lnL>
                    <a:lnR>
                      <a:noFill/>
                    </a:lnR>
                    <a:lnT>
                      <a:noFill/>
                    </a:lnT>
                    <a:lnB>
                      <a:noFill/>
                    </a:lnB>
                    <a:noFill/>
                  </a:tcPr>
                </a:tc>
                <a:tc>
                  <a:txBody>
                    <a:bodyPr/>
                    <a:lstStyle/>
                    <a:p>
                      <a:pPr>
                        <a:buNone/>
                      </a:pPr>
                      <a:r>
                        <a:rPr lang="en-IN" sz="1100"/>
                        <a:t>10.1145/1772690</a:t>
                      </a:r>
                    </a:p>
                  </a:txBody>
                  <a:tcPr marL="30009" marR="30009" marT="15005" marB="15005" anchor="ctr">
                    <a:lnL>
                      <a:noFill/>
                    </a:lnL>
                    <a:lnR>
                      <a:noFill/>
                    </a:lnR>
                    <a:lnT>
                      <a:noFill/>
                    </a:lnT>
                    <a:lnB>
                      <a:noFill/>
                    </a:lnB>
                    <a:noFill/>
                  </a:tcPr>
                </a:tc>
                <a:extLst>
                  <a:ext uri="{0D108BD9-81ED-4DB2-BD59-A6C34878D82A}">
                    <a16:rowId xmlns:a16="http://schemas.microsoft.com/office/drawing/2014/main" val="565161367"/>
                  </a:ext>
                </a:extLst>
              </a:tr>
              <a:tr h="1619014">
                <a:tc>
                  <a:txBody>
                    <a:bodyPr/>
                    <a:lstStyle/>
                    <a:p>
                      <a:pPr>
                        <a:buNone/>
                      </a:pPr>
                      <a:r>
                        <a:rPr lang="en-IN" sz="1100"/>
                        <a:t>3</a:t>
                      </a:r>
                    </a:p>
                  </a:txBody>
                  <a:tcPr marL="30009" marR="30009" marT="15005" marB="15005" anchor="ctr">
                    <a:lnL>
                      <a:noFill/>
                    </a:lnL>
                    <a:lnR>
                      <a:noFill/>
                    </a:lnR>
                    <a:lnT>
                      <a:noFill/>
                    </a:lnT>
                    <a:lnB>
                      <a:noFill/>
                    </a:lnB>
                    <a:noFill/>
                  </a:tcPr>
                </a:tc>
                <a:tc>
                  <a:txBody>
                    <a:bodyPr/>
                    <a:lstStyle/>
                    <a:p>
                      <a:pPr>
                        <a:buNone/>
                      </a:pPr>
                      <a:r>
                        <a:rPr lang="en-IN" sz="1100"/>
                        <a:t>2022</a:t>
                      </a:r>
                    </a:p>
                  </a:txBody>
                  <a:tcPr marL="30009" marR="30009" marT="15005" marB="15005" anchor="ctr">
                    <a:lnL>
                      <a:noFill/>
                    </a:lnL>
                    <a:lnR>
                      <a:noFill/>
                    </a:lnR>
                    <a:lnT>
                      <a:noFill/>
                    </a:lnT>
                    <a:lnB>
                      <a:noFill/>
                    </a:lnB>
                    <a:noFill/>
                  </a:tcPr>
                </a:tc>
                <a:tc>
                  <a:txBody>
                    <a:bodyPr/>
                    <a:lstStyle/>
                    <a:p>
                      <a:pPr>
                        <a:buNone/>
                      </a:pPr>
                      <a:r>
                        <a:rPr lang="en-IN" sz="1100"/>
                        <a:t>M. Atzori, J. Poletti</a:t>
                      </a:r>
                    </a:p>
                  </a:txBody>
                  <a:tcPr marL="30009" marR="30009" marT="15005" marB="15005" anchor="ctr">
                    <a:lnL>
                      <a:noFill/>
                    </a:lnL>
                    <a:lnR>
                      <a:noFill/>
                    </a:lnR>
                    <a:lnT>
                      <a:noFill/>
                    </a:lnT>
                    <a:lnB>
                      <a:noFill/>
                    </a:lnB>
                    <a:noFill/>
                  </a:tcPr>
                </a:tc>
                <a:tc>
                  <a:txBody>
                    <a:bodyPr/>
                    <a:lstStyle/>
                    <a:p>
                      <a:pPr>
                        <a:buNone/>
                      </a:pPr>
                      <a:r>
                        <a:rPr lang="en-US" sz="1100"/>
                        <a:t>Cloud-Based Big Data Architecture for Disaster Monitoring</a:t>
                      </a:r>
                    </a:p>
                  </a:txBody>
                  <a:tcPr marL="30009" marR="30009" marT="15005" marB="15005" anchor="ctr">
                    <a:lnL>
                      <a:noFill/>
                    </a:lnL>
                    <a:lnR>
                      <a:noFill/>
                    </a:lnR>
                    <a:lnT>
                      <a:noFill/>
                    </a:lnT>
                    <a:lnB>
                      <a:noFill/>
                    </a:lnB>
                    <a:noFill/>
                  </a:tcPr>
                </a:tc>
                <a:tc>
                  <a:txBody>
                    <a:bodyPr/>
                    <a:lstStyle/>
                    <a:p>
                      <a:pPr>
                        <a:buNone/>
                      </a:pPr>
                      <a:r>
                        <a:rPr lang="en-IN" sz="1100"/>
                        <a:t>IEEE Access</a:t>
                      </a:r>
                    </a:p>
                  </a:txBody>
                  <a:tcPr marL="30009" marR="30009" marT="15005" marB="15005" anchor="ctr">
                    <a:lnL>
                      <a:noFill/>
                    </a:lnL>
                    <a:lnR>
                      <a:noFill/>
                    </a:lnR>
                    <a:lnT>
                      <a:noFill/>
                    </a:lnT>
                    <a:lnB>
                      <a:noFill/>
                    </a:lnB>
                    <a:noFill/>
                  </a:tcPr>
                </a:tc>
                <a:tc>
                  <a:txBody>
                    <a:bodyPr/>
                    <a:lstStyle/>
                    <a:p>
                      <a:pPr>
                        <a:buNone/>
                      </a:pPr>
                      <a:r>
                        <a:rPr lang="en-US" sz="1100"/>
                        <a:t>To design a scalable architecture for disaster monitoring.</a:t>
                      </a:r>
                    </a:p>
                  </a:txBody>
                  <a:tcPr marL="30009" marR="30009" marT="15005" marB="15005" anchor="ctr">
                    <a:lnL>
                      <a:noFill/>
                    </a:lnL>
                    <a:lnR>
                      <a:noFill/>
                    </a:lnR>
                    <a:lnT>
                      <a:noFill/>
                    </a:lnT>
                    <a:lnB>
                      <a:noFill/>
                    </a:lnB>
                    <a:noFill/>
                  </a:tcPr>
                </a:tc>
                <a:tc>
                  <a:txBody>
                    <a:bodyPr/>
                    <a:lstStyle/>
                    <a:p>
                      <a:pPr>
                        <a:buNone/>
                      </a:pPr>
                      <a:r>
                        <a:rPr lang="en-IN" sz="1100"/>
                        <a:t>Apache Kafka, Hadoop</a:t>
                      </a:r>
                    </a:p>
                  </a:txBody>
                  <a:tcPr marL="30009" marR="30009" marT="15005" marB="15005" anchor="ctr">
                    <a:lnL>
                      <a:noFill/>
                    </a:lnL>
                    <a:lnR>
                      <a:noFill/>
                    </a:lnR>
                    <a:lnT>
                      <a:noFill/>
                    </a:lnT>
                    <a:lnB>
                      <a:noFill/>
                    </a:lnB>
                    <a:noFill/>
                  </a:tcPr>
                </a:tc>
                <a:tc>
                  <a:txBody>
                    <a:bodyPr/>
                    <a:lstStyle/>
                    <a:p>
                      <a:pPr>
                        <a:buNone/>
                      </a:pPr>
                      <a:r>
                        <a:rPr lang="en-IN" sz="1100"/>
                        <a:t>Public hazard datasets</a:t>
                      </a:r>
                    </a:p>
                  </a:txBody>
                  <a:tcPr marL="30009" marR="30009" marT="15005" marB="15005" anchor="ctr">
                    <a:lnL>
                      <a:noFill/>
                    </a:lnL>
                    <a:lnR>
                      <a:noFill/>
                    </a:lnR>
                    <a:lnT>
                      <a:noFill/>
                    </a:lnT>
                    <a:lnB>
                      <a:noFill/>
                    </a:lnB>
                    <a:noFill/>
                  </a:tcPr>
                </a:tc>
                <a:tc>
                  <a:txBody>
                    <a:bodyPr/>
                    <a:lstStyle/>
                    <a:p>
                      <a:pPr>
                        <a:buNone/>
                      </a:pPr>
                      <a:r>
                        <a:rPr lang="en-IN" sz="1100"/>
                        <a:t>Latency, System scalability</a:t>
                      </a:r>
                    </a:p>
                  </a:txBody>
                  <a:tcPr marL="30009" marR="30009" marT="15005" marB="15005" anchor="ctr">
                    <a:lnL>
                      <a:noFill/>
                    </a:lnL>
                    <a:lnR>
                      <a:noFill/>
                    </a:lnR>
                    <a:lnT>
                      <a:noFill/>
                    </a:lnT>
                    <a:lnB>
                      <a:noFill/>
                    </a:lnB>
                    <a:noFill/>
                  </a:tcPr>
                </a:tc>
                <a:tc>
                  <a:txBody>
                    <a:bodyPr/>
                    <a:lstStyle/>
                    <a:p>
                      <a:pPr>
                        <a:buNone/>
                      </a:pPr>
                      <a:r>
                        <a:rPr lang="en-IN" sz="1100"/>
                        <a:t>Big data technologies improve large-scale disaster monitoring.</a:t>
                      </a:r>
                    </a:p>
                  </a:txBody>
                  <a:tcPr marL="30009" marR="30009" marT="15005" marB="15005" anchor="ctr">
                    <a:lnL>
                      <a:noFill/>
                    </a:lnL>
                    <a:lnR>
                      <a:noFill/>
                    </a:lnR>
                    <a:lnT>
                      <a:noFill/>
                    </a:lnT>
                    <a:lnB>
                      <a:noFill/>
                    </a:lnB>
                    <a:noFill/>
                  </a:tcPr>
                </a:tc>
                <a:tc>
                  <a:txBody>
                    <a:bodyPr/>
                    <a:lstStyle/>
                    <a:p>
                      <a:pPr>
                        <a:buNone/>
                      </a:pPr>
                      <a:r>
                        <a:rPr lang="en-US" sz="1100"/>
                        <a:t>Does not include AI-based severity prediction or interactive disaster dashboards.</a:t>
                      </a:r>
                    </a:p>
                  </a:txBody>
                  <a:tcPr marL="30009" marR="30009" marT="15005" marB="15005" anchor="ctr">
                    <a:lnL>
                      <a:noFill/>
                    </a:lnL>
                    <a:lnR>
                      <a:noFill/>
                    </a:lnR>
                    <a:lnT>
                      <a:noFill/>
                    </a:lnT>
                    <a:lnB>
                      <a:noFill/>
                    </a:lnB>
                    <a:noFill/>
                  </a:tcPr>
                </a:tc>
                <a:tc>
                  <a:txBody>
                    <a:bodyPr/>
                    <a:lstStyle/>
                    <a:p>
                      <a:pPr>
                        <a:buNone/>
                      </a:pPr>
                      <a:r>
                        <a:rPr lang="en-IN" sz="1100" dirty="0"/>
                        <a:t>10.1109/ACCESS.2020</a:t>
                      </a:r>
                    </a:p>
                  </a:txBody>
                  <a:tcPr marL="30009" marR="30009" marT="15005" marB="15005" anchor="ctr">
                    <a:lnL>
                      <a:noFill/>
                    </a:lnL>
                    <a:lnR>
                      <a:noFill/>
                    </a:lnR>
                    <a:lnT>
                      <a:noFill/>
                    </a:lnT>
                    <a:lnB>
                      <a:noFill/>
                    </a:lnB>
                    <a:noFill/>
                  </a:tcPr>
                </a:tc>
                <a:extLst>
                  <a:ext uri="{0D108BD9-81ED-4DB2-BD59-A6C34878D82A}">
                    <a16:rowId xmlns:a16="http://schemas.microsoft.com/office/drawing/2014/main" val="896567824"/>
                  </a:ext>
                </a:extLst>
              </a:tr>
            </a:tbl>
          </a:graphicData>
        </a:graphic>
      </p:graphicFrame>
    </p:spTree>
    <p:extLst>
      <p:ext uri="{BB962C8B-B14F-4D97-AF65-F5344CB8AC3E}">
        <p14:creationId xmlns:p14="http://schemas.microsoft.com/office/powerpoint/2010/main" val="3610881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3B54B581-3E21-4B4E-2A35-F67D3096E59F}"/>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048C83F0-76BD-4B96-85D5-C1FAD7356279}"/>
              </a:ext>
            </a:extLst>
          </p:cNvPr>
          <p:cNvSpPr>
            <a:spLocks noGrp="1"/>
          </p:cNvSpPr>
          <p:nvPr>
            <p:ph type="title"/>
          </p:nvPr>
        </p:nvSpPr>
        <p:spPr>
          <a:xfrm>
            <a:off x="1180618" y="365125"/>
            <a:ext cx="10173182" cy="1128009"/>
          </a:xfrm>
        </p:spPr>
        <p:txBody>
          <a:bodyPr/>
          <a:lstStyle/>
          <a:p>
            <a:r>
              <a:t>Proposed Method</a:t>
            </a:r>
          </a:p>
        </p:txBody>
      </p:sp>
      <p:sp>
        <p:nvSpPr>
          <p:cNvPr id="9" name="Content Placeholder 8">
            <a:extLst>
              <a:ext uri="{FF2B5EF4-FFF2-40B4-BE49-F238E27FC236}">
                <a16:creationId xmlns:a16="http://schemas.microsoft.com/office/drawing/2014/main" id="{552B6941-B56F-78EF-6572-0086C4B21BD4}"/>
              </a:ext>
            </a:extLst>
          </p:cNvPr>
          <p:cNvSpPr>
            <a:spLocks noGrp="1"/>
          </p:cNvSpPr>
          <p:nvPr>
            <p:ph idx="1"/>
          </p:nvPr>
        </p:nvSpPr>
        <p:spPr>
          <a:xfrm>
            <a:off x="838200" y="1250731"/>
            <a:ext cx="10515600" cy="5002923"/>
          </a:xfrm>
        </p:spPr>
        <p:txBody>
          <a:bodyPr>
            <a:normAutofit/>
          </a:bodyPr>
          <a:lstStyle/>
          <a:p>
            <a:r>
              <a:rPr lang="en-US" sz="2200" dirty="0"/>
              <a:t>The proposed system begins by collecting disaster-related information from multiple sources such as weather APIs, social media platforms, and news feeds.</a:t>
            </a:r>
          </a:p>
          <a:p>
            <a:r>
              <a:rPr lang="en-US" sz="2200" dirty="0"/>
              <a:t>The collected data is streamed in real time using Apache Kafka, which manages the continuous flow of incoming information.</a:t>
            </a:r>
          </a:p>
          <a:p>
            <a:r>
              <a:rPr lang="en-US" sz="2200" dirty="0"/>
              <a:t>Next, the streaming data is processed using Apache Spark, where Natural Language Processing techniques such as tokenization, stop-word removal, and feature extraction are applied to identify disaster-related text.</a:t>
            </a:r>
          </a:p>
          <a:p>
            <a:r>
              <a:rPr lang="en-US" sz="2200" dirty="0"/>
              <a:t>A machine learning model is then used to classify the detected events and estimate the severity level of disasters.</a:t>
            </a:r>
          </a:p>
          <a:p>
            <a:r>
              <a:rPr lang="en-US" sz="2200" dirty="0"/>
              <a:t>The processed data is stored in Hadoop HDFS, and analytical queries are performed using Apache Hive to extract insights and historical trends.</a:t>
            </a:r>
          </a:p>
          <a:p>
            <a:r>
              <a:rPr lang="en-US" sz="2200" dirty="0"/>
              <a:t>Finally, the results are visualized on a web-based dashboard, where disaster alerts and their locations are displayed on an interactive map for monitoring and decision support.</a:t>
            </a:r>
          </a:p>
          <a:p>
            <a:endParaRPr sz="2200" dirty="0"/>
          </a:p>
        </p:txBody>
      </p:sp>
      <p:sp>
        <p:nvSpPr>
          <p:cNvPr id="5" name="Date Placeholder 4">
            <a:extLst>
              <a:ext uri="{FF2B5EF4-FFF2-40B4-BE49-F238E27FC236}">
                <a16:creationId xmlns:a16="http://schemas.microsoft.com/office/drawing/2014/main" id="{E9E4C048-DC99-8545-9D85-18D18CC66C3F}"/>
              </a:ext>
            </a:extLst>
          </p:cNvPr>
          <p:cNvSpPr>
            <a:spLocks noGrp="1"/>
          </p:cNvSpPr>
          <p:nvPr>
            <p:ph type="dt" sz="half" idx="10"/>
          </p:nvPr>
        </p:nvSpPr>
        <p:spPr/>
        <p:txBody>
          <a:bodyPr/>
          <a:lstStyle/>
          <a:p>
            <a:fld id="{196CB346-A29B-614A-90B7-3F58220E4132}" type="datetime1">
              <a:rPr lang="en-IN" smtClean="0"/>
              <a:t>11-03-2026</a:t>
            </a:fld>
            <a:endParaRPr lang="en-US" dirty="0"/>
          </a:p>
        </p:txBody>
      </p:sp>
      <p:sp>
        <p:nvSpPr>
          <p:cNvPr id="7" name="Slide Number Placeholder 6">
            <a:extLst>
              <a:ext uri="{FF2B5EF4-FFF2-40B4-BE49-F238E27FC236}">
                <a16:creationId xmlns:a16="http://schemas.microsoft.com/office/drawing/2014/main" id="{A85A645B-E9B2-A17C-A19D-59B4792D4E40}"/>
              </a:ext>
            </a:extLst>
          </p:cNvPr>
          <p:cNvSpPr>
            <a:spLocks noGrp="1"/>
          </p:cNvSpPr>
          <p:nvPr>
            <p:ph type="sldNum" sz="quarter" idx="12"/>
          </p:nvPr>
        </p:nvSpPr>
        <p:spPr/>
        <p:txBody>
          <a:bodyPr/>
          <a:lstStyle/>
          <a:p>
            <a:fld id="{B961B71F-4B40-8942-BB88-E0F5C0B46E10}" type="slidenum">
              <a:rPr lang="en-US" smtClean="0"/>
              <a:t>7</a:t>
            </a:fld>
            <a:endParaRPr lang="en-US"/>
          </a:p>
        </p:txBody>
      </p:sp>
      <p:pic>
        <p:nvPicPr>
          <p:cNvPr id="2" name="Picture 1">
            <a:extLst>
              <a:ext uri="{FF2B5EF4-FFF2-40B4-BE49-F238E27FC236}">
                <a16:creationId xmlns:a16="http://schemas.microsoft.com/office/drawing/2014/main" id="{FF7B1205-708D-AB89-EA58-78AFC93D26FF}"/>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2201DB43-9F00-00F7-5CD5-CA9274B825F2}"/>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7623403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CC21BD1-67CE-159B-D990-A5BAC1ABDB09}"/>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49F30C8F-44E3-ED91-3A37-4D042A3F7393}"/>
              </a:ext>
            </a:extLst>
          </p:cNvPr>
          <p:cNvSpPr>
            <a:spLocks noGrp="1"/>
          </p:cNvSpPr>
          <p:nvPr>
            <p:ph type="title"/>
          </p:nvPr>
        </p:nvSpPr>
        <p:spPr>
          <a:xfrm>
            <a:off x="1180618" y="365125"/>
            <a:ext cx="10173182" cy="1128009"/>
          </a:xfrm>
        </p:spPr>
        <p:txBody>
          <a:bodyPr/>
          <a:lstStyle/>
          <a:p>
            <a:r>
              <a:rPr lang="en-IN" dirty="0"/>
              <a:t>System Architecture:</a:t>
            </a:r>
            <a:endParaRPr dirty="0"/>
          </a:p>
        </p:txBody>
      </p:sp>
      <p:sp>
        <p:nvSpPr>
          <p:cNvPr id="5" name="Date Placeholder 4">
            <a:extLst>
              <a:ext uri="{FF2B5EF4-FFF2-40B4-BE49-F238E27FC236}">
                <a16:creationId xmlns:a16="http://schemas.microsoft.com/office/drawing/2014/main" id="{8528F93C-98E7-FA1C-8A58-2E383A70BC9B}"/>
              </a:ext>
            </a:extLst>
          </p:cNvPr>
          <p:cNvSpPr>
            <a:spLocks noGrp="1"/>
          </p:cNvSpPr>
          <p:nvPr>
            <p:ph type="dt" sz="half" idx="10"/>
          </p:nvPr>
        </p:nvSpPr>
        <p:spPr/>
        <p:txBody>
          <a:bodyPr/>
          <a:lstStyle/>
          <a:p>
            <a:fld id="{196CB346-A29B-614A-90B7-3F58220E4132}" type="datetime1">
              <a:rPr lang="en-IN" smtClean="0"/>
              <a:t>11-03-2026</a:t>
            </a:fld>
            <a:endParaRPr lang="en-US" dirty="0"/>
          </a:p>
        </p:txBody>
      </p:sp>
      <p:sp>
        <p:nvSpPr>
          <p:cNvPr id="7" name="Slide Number Placeholder 6">
            <a:extLst>
              <a:ext uri="{FF2B5EF4-FFF2-40B4-BE49-F238E27FC236}">
                <a16:creationId xmlns:a16="http://schemas.microsoft.com/office/drawing/2014/main" id="{E1A82D5D-CFA2-7550-CFF0-F87AA924FA50}"/>
              </a:ext>
            </a:extLst>
          </p:cNvPr>
          <p:cNvSpPr>
            <a:spLocks noGrp="1"/>
          </p:cNvSpPr>
          <p:nvPr>
            <p:ph type="sldNum" sz="quarter" idx="12"/>
          </p:nvPr>
        </p:nvSpPr>
        <p:spPr/>
        <p:txBody>
          <a:bodyPr/>
          <a:lstStyle/>
          <a:p>
            <a:fld id="{B961B71F-4B40-8942-BB88-E0F5C0B46E10}" type="slidenum">
              <a:rPr lang="en-US" smtClean="0"/>
              <a:t>8</a:t>
            </a:fld>
            <a:endParaRPr lang="en-US"/>
          </a:p>
        </p:txBody>
      </p:sp>
      <p:pic>
        <p:nvPicPr>
          <p:cNvPr id="2" name="Picture 1">
            <a:extLst>
              <a:ext uri="{FF2B5EF4-FFF2-40B4-BE49-F238E27FC236}">
                <a16:creationId xmlns:a16="http://schemas.microsoft.com/office/drawing/2014/main" id="{A41EED9F-BB27-6294-9AF7-A5C6FAD244A0}"/>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A80C4425-1675-1C0F-FA20-4D962CCB8599}"/>
              </a:ext>
            </a:extLst>
          </p:cNvPr>
          <p:cNvSpPr>
            <a:spLocks noGrp="1"/>
          </p:cNvSpPr>
          <p:nvPr>
            <p:ph type="ftr" sz="quarter" idx="11"/>
          </p:nvPr>
        </p:nvSpPr>
        <p:spPr>
          <a:xfrm>
            <a:off x="4038600" y="6356350"/>
            <a:ext cx="4114800" cy="365125"/>
          </a:xfrm>
        </p:spPr>
        <p:txBody>
          <a:bodyPr/>
          <a:lstStyle/>
          <a:p>
            <a:r>
              <a:rPr lang="en-US" dirty="0"/>
              <a:t>REVIEW – 2    </a:t>
            </a:r>
          </a:p>
        </p:txBody>
      </p:sp>
      <p:sp>
        <p:nvSpPr>
          <p:cNvPr id="27" name="TextBox 26">
            <a:extLst>
              <a:ext uri="{FF2B5EF4-FFF2-40B4-BE49-F238E27FC236}">
                <a16:creationId xmlns:a16="http://schemas.microsoft.com/office/drawing/2014/main" id="{2E5B5D27-C615-7A02-2A7E-05BABA12040F}"/>
              </a:ext>
            </a:extLst>
          </p:cNvPr>
          <p:cNvSpPr txBox="1"/>
          <p:nvPr/>
        </p:nvSpPr>
        <p:spPr>
          <a:xfrm>
            <a:off x="1332272" y="1187245"/>
            <a:ext cx="5717456" cy="5016758"/>
          </a:xfrm>
          <a:prstGeom prst="rect">
            <a:avLst/>
          </a:prstGeom>
          <a:noFill/>
        </p:spPr>
        <p:txBody>
          <a:bodyPr wrap="square">
            <a:spAutoFit/>
          </a:bodyPr>
          <a:lstStyle/>
          <a:p>
            <a:r>
              <a:rPr lang="en-IN" sz="1600" dirty="0"/>
              <a:t>Citizen / User Input</a:t>
            </a:r>
          </a:p>
          <a:p>
            <a:r>
              <a:rPr lang="en-IN" sz="1600" dirty="0"/>
              <a:t>(Incident Reports, Location, Media)</a:t>
            </a:r>
          </a:p>
          <a:p>
            <a:r>
              <a:rPr lang="en-IN" sz="1600" dirty="0"/>
              <a:t>            ↓</a:t>
            </a:r>
          </a:p>
          <a:p>
            <a:r>
              <a:rPr lang="en-IN" sz="1600" dirty="0"/>
              <a:t>Web / Mobile Interface</a:t>
            </a:r>
          </a:p>
          <a:p>
            <a:r>
              <a:rPr lang="en-IN" sz="1600" dirty="0"/>
              <a:t>(React Frontend)</a:t>
            </a:r>
          </a:p>
          <a:p>
            <a:r>
              <a:rPr lang="en-IN" sz="1600" dirty="0"/>
              <a:t>            ↓</a:t>
            </a:r>
          </a:p>
          <a:p>
            <a:r>
              <a:rPr lang="en-IN" sz="1600" dirty="0"/>
              <a:t>Backend Server</a:t>
            </a:r>
          </a:p>
          <a:p>
            <a:r>
              <a:rPr lang="en-IN" sz="1600" dirty="0"/>
              <a:t>(Node.js API Services)</a:t>
            </a:r>
          </a:p>
          <a:p>
            <a:r>
              <a:rPr lang="en-IN" sz="1600" dirty="0"/>
              <a:t>            ↓</a:t>
            </a:r>
          </a:p>
          <a:p>
            <a:r>
              <a:rPr lang="en-IN" sz="1600" dirty="0"/>
              <a:t>AI Processing Engine</a:t>
            </a:r>
          </a:p>
          <a:p>
            <a:r>
              <a:rPr lang="en-IN" sz="1600" dirty="0"/>
              <a:t>(NLP, Threat Detection)</a:t>
            </a:r>
          </a:p>
          <a:p>
            <a:r>
              <a:rPr lang="en-IN" sz="1600" dirty="0"/>
              <a:t>            ↓</a:t>
            </a:r>
          </a:p>
          <a:p>
            <a:r>
              <a:rPr lang="en-IN" sz="1600" dirty="0"/>
              <a:t>Database</a:t>
            </a:r>
          </a:p>
          <a:p>
            <a:r>
              <a:rPr lang="en-IN" sz="1600" dirty="0"/>
              <a:t>(MongoDB / Cloud Storage)</a:t>
            </a:r>
          </a:p>
          <a:p>
            <a:r>
              <a:rPr lang="en-IN" sz="1600" dirty="0"/>
              <a:t>            ↓</a:t>
            </a:r>
          </a:p>
          <a:p>
            <a:r>
              <a:rPr lang="en-IN" sz="1600" dirty="0"/>
              <a:t>Alert System</a:t>
            </a:r>
          </a:p>
          <a:p>
            <a:r>
              <a:rPr lang="en-IN" sz="1600" dirty="0"/>
              <a:t>(Real-Time Notifications)</a:t>
            </a:r>
          </a:p>
          <a:p>
            <a:r>
              <a:rPr lang="en-IN" sz="1600" dirty="0"/>
              <a:t>            ↓</a:t>
            </a:r>
          </a:p>
          <a:p>
            <a:r>
              <a:rPr lang="en-IN" sz="1600" dirty="0"/>
              <a:t>Admin Dashboard</a:t>
            </a:r>
          </a:p>
          <a:p>
            <a:r>
              <a:rPr lang="en-IN" sz="1600" dirty="0"/>
              <a:t>(Monitoring &amp; Analytics)</a:t>
            </a:r>
          </a:p>
        </p:txBody>
      </p:sp>
    </p:spTree>
    <p:extLst>
      <p:ext uri="{BB962C8B-B14F-4D97-AF65-F5344CB8AC3E}">
        <p14:creationId xmlns:p14="http://schemas.microsoft.com/office/powerpoint/2010/main" val="11920814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2C7D688-871F-CFE8-3EFB-2BBFC942F716}"/>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8465BC6B-ACEF-FABD-97D9-3F740AFEA650}"/>
              </a:ext>
            </a:extLst>
          </p:cNvPr>
          <p:cNvSpPr>
            <a:spLocks noGrp="1"/>
          </p:cNvSpPr>
          <p:nvPr>
            <p:ph type="title"/>
          </p:nvPr>
        </p:nvSpPr>
        <p:spPr>
          <a:xfrm>
            <a:off x="1180618" y="365125"/>
            <a:ext cx="10173182" cy="1128009"/>
          </a:xfrm>
        </p:spPr>
        <p:txBody>
          <a:bodyPr/>
          <a:lstStyle/>
          <a:p>
            <a:r>
              <a:t>Implementation</a:t>
            </a:r>
          </a:p>
        </p:txBody>
      </p:sp>
      <p:sp>
        <p:nvSpPr>
          <p:cNvPr id="9" name="Content Placeholder 8">
            <a:extLst>
              <a:ext uri="{FF2B5EF4-FFF2-40B4-BE49-F238E27FC236}">
                <a16:creationId xmlns:a16="http://schemas.microsoft.com/office/drawing/2014/main" id="{9A148468-70F0-62F4-D77B-031E25FC61F1}"/>
              </a:ext>
            </a:extLst>
          </p:cNvPr>
          <p:cNvSpPr>
            <a:spLocks noGrp="1"/>
          </p:cNvSpPr>
          <p:nvPr>
            <p:ph idx="1"/>
          </p:nvPr>
        </p:nvSpPr>
        <p:spPr>
          <a:xfrm>
            <a:off x="838200" y="1250731"/>
            <a:ext cx="10515600" cy="5002923"/>
          </a:xfrm>
        </p:spPr>
        <p:txBody>
          <a:bodyPr>
            <a:normAutofit fontScale="62500" lnSpcReduction="20000"/>
          </a:bodyPr>
          <a:lstStyle/>
          <a:p>
            <a:r>
              <a:rPr dirty="0"/>
              <a:t>Technologies Used:</a:t>
            </a:r>
          </a:p>
          <a:p>
            <a:endParaRPr dirty="0"/>
          </a:p>
          <a:p>
            <a:pPr marL="0" indent="0">
              <a:buNone/>
            </a:pPr>
            <a:r>
              <a:rPr dirty="0"/>
              <a:t> Apache Kafka – Real-time data streaming</a:t>
            </a:r>
          </a:p>
          <a:p>
            <a:pPr marL="0" indent="0">
              <a:buNone/>
            </a:pPr>
            <a:r>
              <a:rPr dirty="0"/>
              <a:t> Apache Spark / </a:t>
            </a:r>
            <a:r>
              <a:rPr dirty="0" err="1"/>
              <a:t>PySpark</a:t>
            </a:r>
            <a:r>
              <a:rPr dirty="0"/>
              <a:t> – Distributed data </a:t>
            </a:r>
            <a:r>
              <a:rPr dirty="0" err="1"/>
              <a:t>processin</a:t>
            </a:r>
            <a:r>
              <a:rPr lang="en-IN" dirty="0"/>
              <a:t>g</a:t>
            </a:r>
            <a:endParaRPr dirty="0"/>
          </a:p>
          <a:p>
            <a:pPr marL="0" indent="0">
              <a:buNone/>
            </a:pPr>
            <a:r>
              <a:rPr dirty="0"/>
              <a:t> Machine Learning – Disaster severity prediction</a:t>
            </a:r>
          </a:p>
          <a:p>
            <a:pPr marL="0" indent="0">
              <a:buNone/>
            </a:pPr>
            <a:r>
              <a:rPr lang="en-IN" dirty="0"/>
              <a:t> </a:t>
            </a:r>
            <a:r>
              <a:rPr dirty="0"/>
              <a:t>Hadoop HDFS – Distributed storage</a:t>
            </a:r>
          </a:p>
          <a:p>
            <a:pPr marL="0" indent="0">
              <a:buNone/>
            </a:pPr>
            <a:r>
              <a:rPr dirty="0"/>
              <a:t> Apache Hive – SQL-based analytics</a:t>
            </a:r>
          </a:p>
          <a:p>
            <a:pPr marL="0" indent="0">
              <a:buNone/>
            </a:pPr>
            <a:r>
              <a:rPr dirty="0"/>
              <a:t> React + TypeScript – Frontend dashboard</a:t>
            </a:r>
          </a:p>
          <a:p>
            <a:pPr marL="0" indent="0">
              <a:buNone/>
            </a:pPr>
            <a:r>
              <a:rPr dirty="0"/>
              <a:t> Leaflet.js – Interactive geospatial maps</a:t>
            </a:r>
          </a:p>
          <a:p>
            <a:pPr marL="0" indent="0">
              <a:buNone/>
            </a:pPr>
            <a:r>
              <a:rPr dirty="0"/>
              <a:t> Recharts – Data visualization</a:t>
            </a:r>
          </a:p>
          <a:p>
            <a:endParaRPr dirty="0"/>
          </a:p>
          <a:p>
            <a:r>
              <a:rPr dirty="0"/>
              <a:t>Dataset:</a:t>
            </a:r>
          </a:p>
          <a:p>
            <a:pPr marL="0" indent="0">
              <a:buNone/>
            </a:pPr>
            <a:r>
              <a:rPr lang="en-IN" dirty="0"/>
              <a:t>    </a:t>
            </a:r>
            <a:r>
              <a:rPr dirty="0"/>
              <a:t>Disaster-related text data collected from social media, news APIs, and weather reports.</a:t>
            </a:r>
          </a:p>
          <a:p>
            <a:endParaRPr dirty="0"/>
          </a:p>
          <a:p>
            <a:r>
              <a:rPr dirty="0"/>
              <a:t>The dataset will be used to train machine learning models for disaster detection and severity classification.</a:t>
            </a:r>
          </a:p>
        </p:txBody>
      </p:sp>
      <p:sp>
        <p:nvSpPr>
          <p:cNvPr id="5" name="Date Placeholder 4">
            <a:extLst>
              <a:ext uri="{FF2B5EF4-FFF2-40B4-BE49-F238E27FC236}">
                <a16:creationId xmlns:a16="http://schemas.microsoft.com/office/drawing/2014/main" id="{FB766324-58AB-8C24-3FA5-CA8446FB06E8}"/>
              </a:ext>
            </a:extLst>
          </p:cNvPr>
          <p:cNvSpPr>
            <a:spLocks noGrp="1"/>
          </p:cNvSpPr>
          <p:nvPr>
            <p:ph type="dt" sz="half" idx="10"/>
          </p:nvPr>
        </p:nvSpPr>
        <p:spPr/>
        <p:txBody>
          <a:bodyPr/>
          <a:lstStyle/>
          <a:p>
            <a:fld id="{196CB346-A29B-614A-90B7-3F58220E4132}" type="datetime1">
              <a:rPr lang="en-IN" smtClean="0"/>
              <a:t>11-03-2026</a:t>
            </a:fld>
            <a:endParaRPr lang="en-US" dirty="0"/>
          </a:p>
        </p:txBody>
      </p:sp>
      <p:sp>
        <p:nvSpPr>
          <p:cNvPr id="7" name="Slide Number Placeholder 6">
            <a:extLst>
              <a:ext uri="{FF2B5EF4-FFF2-40B4-BE49-F238E27FC236}">
                <a16:creationId xmlns:a16="http://schemas.microsoft.com/office/drawing/2014/main" id="{1BB3A364-68CB-FD95-0846-F866F5F20636}"/>
              </a:ext>
            </a:extLst>
          </p:cNvPr>
          <p:cNvSpPr>
            <a:spLocks noGrp="1"/>
          </p:cNvSpPr>
          <p:nvPr>
            <p:ph type="sldNum" sz="quarter" idx="12"/>
          </p:nvPr>
        </p:nvSpPr>
        <p:spPr/>
        <p:txBody>
          <a:bodyPr/>
          <a:lstStyle/>
          <a:p>
            <a:fld id="{B961B71F-4B40-8942-BB88-E0F5C0B46E10}" type="slidenum">
              <a:rPr lang="en-US" smtClean="0"/>
              <a:t>9</a:t>
            </a:fld>
            <a:endParaRPr lang="en-US"/>
          </a:p>
        </p:txBody>
      </p:sp>
      <p:pic>
        <p:nvPicPr>
          <p:cNvPr id="2" name="Picture 1">
            <a:extLst>
              <a:ext uri="{FF2B5EF4-FFF2-40B4-BE49-F238E27FC236}">
                <a16:creationId xmlns:a16="http://schemas.microsoft.com/office/drawing/2014/main" id="{16BA0F1E-63D2-5C99-0AEF-AE9D06F3E65E}"/>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3B7B457D-38E8-2C64-57F5-E01DF1762DD2}"/>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33500413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079E1805-0A81-17E2-2BA5-5E4B48689AF3}"/>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DB27CEA0-1CCB-613B-F7D8-53995979F1B7}"/>
              </a:ext>
            </a:extLst>
          </p:cNvPr>
          <p:cNvSpPr>
            <a:spLocks noGrp="1"/>
          </p:cNvSpPr>
          <p:nvPr>
            <p:ph type="title"/>
          </p:nvPr>
        </p:nvSpPr>
        <p:spPr>
          <a:xfrm>
            <a:off x="1180618" y="365125"/>
            <a:ext cx="10173182" cy="1128009"/>
          </a:xfrm>
        </p:spPr>
        <p:txBody>
          <a:bodyPr/>
          <a:lstStyle/>
          <a:p>
            <a:r>
              <a:t>Implementation</a:t>
            </a:r>
          </a:p>
        </p:txBody>
      </p:sp>
      <p:graphicFrame>
        <p:nvGraphicFramePr>
          <p:cNvPr id="3" name="Content Placeholder 2">
            <a:extLst>
              <a:ext uri="{FF2B5EF4-FFF2-40B4-BE49-F238E27FC236}">
                <a16:creationId xmlns:a16="http://schemas.microsoft.com/office/drawing/2014/main" id="{E7EC23C5-00C2-A2E5-8D85-AB6CAA753020}"/>
              </a:ext>
            </a:extLst>
          </p:cNvPr>
          <p:cNvGraphicFramePr>
            <a:graphicFrameLocks noGrp="1"/>
          </p:cNvGraphicFramePr>
          <p:nvPr>
            <p:ph idx="1"/>
            <p:extLst>
              <p:ext uri="{D42A27DB-BD31-4B8C-83A1-F6EECF244321}">
                <p14:modId xmlns:p14="http://schemas.microsoft.com/office/powerpoint/2010/main" val="2975157668"/>
              </p:ext>
            </p:extLst>
          </p:nvPr>
        </p:nvGraphicFramePr>
        <p:xfrm>
          <a:off x="248263" y="1442602"/>
          <a:ext cx="11452124" cy="4496081"/>
        </p:xfrm>
        <a:graphic>
          <a:graphicData uri="http://schemas.openxmlformats.org/drawingml/2006/table">
            <a:tbl>
              <a:tblPr/>
              <a:tblGrid>
                <a:gridCol w="2863031">
                  <a:extLst>
                    <a:ext uri="{9D8B030D-6E8A-4147-A177-3AD203B41FA5}">
                      <a16:colId xmlns:a16="http://schemas.microsoft.com/office/drawing/2014/main" val="2245671751"/>
                    </a:ext>
                  </a:extLst>
                </a:gridCol>
                <a:gridCol w="2863031">
                  <a:extLst>
                    <a:ext uri="{9D8B030D-6E8A-4147-A177-3AD203B41FA5}">
                      <a16:colId xmlns:a16="http://schemas.microsoft.com/office/drawing/2014/main" val="2519231882"/>
                    </a:ext>
                  </a:extLst>
                </a:gridCol>
                <a:gridCol w="2863031">
                  <a:extLst>
                    <a:ext uri="{9D8B030D-6E8A-4147-A177-3AD203B41FA5}">
                      <a16:colId xmlns:a16="http://schemas.microsoft.com/office/drawing/2014/main" val="1965358418"/>
                    </a:ext>
                  </a:extLst>
                </a:gridCol>
                <a:gridCol w="2863031">
                  <a:extLst>
                    <a:ext uri="{9D8B030D-6E8A-4147-A177-3AD203B41FA5}">
                      <a16:colId xmlns:a16="http://schemas.microsoft.com/office/drawing/2014/main" val="2976064956"/>
                    </a:ext>
                  </a:extLst>
                </a:gridCol>
              </a:tblGrid>
              <a:tr h="461136">
                <a:tc>
                  <a:txBody>
                    <a:bodyPr/>
                    <a:lstStyle/>
                    <a:p>
                      <a:pPr>
                        <a:buNone/>
                      </a:pPr>
                      <a:r>
                        <a:rPr lang="en-IN" dirty="0"/>
                        <a:t>                  ID</a:t>
                      </a:r>
                    </a:p>
                  </a:txBody>
                  <a:tcPr anchor="ctr">
                    <a:lnL>
                      <a:noFill/>
                    </a:lnL>
                    <a:lnR>
                      <a:noFill/>
                    </a:lnR>
                    <a:lnT>
                      <a:noFill/>
                    </a:lnT>
                    <a:lnB>
                      <a:noFill/>
                    </a:lnB>
                    <a:noFill/>
                  </a:tcPr>
                </a:tc>
                <a:tc>
                  <a:txBody>
                    <a:bodyPr/>
                    <a:lstStyle/>
                    <a:p>
                      <a:pPr>
                        <a:buNone/>
                      </a:pPr>
                      <a:r>
                        <a:rPr lang="en-IN" dirty="0"/>
                        <a:t>Disaster Text</a:t>
                      </a:r>
                    </a:p>
                  </a:txBody>
                  <a:tcPr anchor="ctr">
                    <a:lnL>
                      <a:noFill/>
                    </a:lnL>
                    <a:lnR>
                      <a:noFill/>
                    </a:lnR>
                    <a:lnT>
                      <a:noFill/>
                    </a:lnT>
                    <a:lnB>
                      <a:noFill/>
                    </a:lnB>
                    <a:noFill/>
                  </a:tcPr>
                </a:tc>
                <a:tc>
                  <a:txBody>
                    <a:bodyPr/>
                    <a:lstStyle/>
                    <a:p>
                      <a:pPr>
                        <a:buNone/>
                      </a:pPr>
                      <a:r>
                        <a:rPr lang="en-IN"/>
                        <a:t>Disaster Type</a:t>
                      </a:r>
                    </a:p>
                  </a:txBody>
                  <a:tcPr anchor="ctr">
                    <a:lnL>
                      <a:noFill/>
                    </a:lnL>
                    <a:lnR>
                      <a:noFill/>
                    </a:lnR>
                    <a:lnT>
                      <a:noFill/>
                    </a:lnT>
                    <a:lnB>
                      <a:noFill/>
                    </a:lnB>
                    <a:noFill/>
                  </a:tcPr>
                </a:tc>
                <a:tc>
                  <a:txBody>
                    <a:bodyPr/>
                    <a:lstStyle/>
                    <a:p>
                      <a:pPr>
                        <a:buNone/>
                      </a:pPr>
                      <a:r>
                        <a:rPr lang="en-IN"/>
                        <a:t>Severity</a:t>
                      </a:r>
                    </a:p>
                  </a:txBody>
                  <a:tcPr anchor="ctr">
                    <a:lnL>
                      <a:noFill/>
                    </a:lnL>
                    <a:lnR>
                      <a:noFill/>
                    </a:lnR>
                    <a:lnT>
                      <a:noFill/>
                    </a:lnT>
                    <a:lnB>
                      <a:noFill/>
                    </a:lnB>
                    <a:noFill/>
                  </a:tcPr>
                </a:tc>
                <a:extLst>
                  <a:ext uri="{0D108BD9-81ED-4DB2-BD59-A6C34878D82A}">
                    <a16:rowId xmlns:a16="http://schemas.microsoft.com/office/drawing/2014/main" val="241603697"/>
                  </a:ext>
                </a:extLst>
              </a:tr>
              <a:tr h="806989">
                <a:tc>
                  <a:txBody>
                    <a:bodyPr/>
                    <a:lstStyle/>
                    <a:p>
                      <a:pPr>
                        <a:buNone/>
                      </a:pPr>
                      <a:r>
                        <a:rPr lang="en-IN" dirty="0"/>
                        <a:t>                  1</a:t>
                      </a:r>
                    </a:p>
                  </a:txBody>
                  <a:tcPr anchor="ctr">
                    <a:lnL>
                      <a:noFill/>
                    </a:lnL>
                    <a:lnR>
                      <a:noFill/>
                    </a:lnR>
                    <a:lnT>
                      <a:noFill/>
                    </a:lnT>
                    <a:lnB>
                      <a:noFill/>
                    </a:lnB>
                    <a:noFill/>
                  </a:tcPr>
                </a:tc>
                <a:tc>
                  <a:txBody>
                    <a:bodyPr/>
                    <a:lstStyle/>
                    <a:p>
                      <a:pPr>
                        <a:buNone/>
                      </a:pPr>
                      <a:r>
                        <a:rPr lang="en-US" dirty="0"/>
                        <a:t>Heavy rainfall causing floods in Hyderabad</a:t>
                      </a:r>
                    </a:p>
                  </a:txBody>
                  <a:tcPr anchor="ctr">
                    <a:lnL>
                      <a:noFill/>
                    </a:lnL>
                    <a:lnR>
                      <a:noFill/>
                    </a:lnR>
                    <a:lnT>
                      <a:noFill/>
                    </a:lnT>
                    <a:lnB>
                      <a:noFill/>
                    </a:lnB>
                    <a:noFill/>
                  </a:tcPr>
                </a:tc>
                <a:tc>
                  <a:txBody>
                    <a:bodyPr/>
                    <a:lstStyle/>
                    <a:p>
                      <a:pPr>
                        <a:buNone/>
                      </a:pPr>
                      <a:r>
                        <a:rPr lang="en-IN"/>
                        <a:t>Flood</a:t>
                      </a:r>
                    </a:p>
                  </a:txBody>
                  <a:tcPr anchor="ctr">
                    <a:lnL>
                      <a:noFill/>
                    </a:lnL>
                    <a:lnR>
                      <a:noFill/>
                    </a:lnR>
                    <a:lnT>
                      <a:noFill/>
                    </a:lnT>
                    <a:lnB>
                      <a:noFill/>
                    </a:lnB>
                    <a:noFill/>
                  </a:tcPr>
                </a:tc>
                <a:tc>
                  <a:txBody>
                    <a:bodyPr/>
                    <a:lstStyle/>
                    <a:p>
                      <a:pPr>
                        <a:buNone/>
                      </a:pPr>
                      <a:r>
                        <a:rPr lang="en-IN"/>
                        <a:t>High</a:t>
                      </a:r>
                    </a:p>
                  </a:txBody>
                  <a:tcPr anchor="ctr">
                    <a:lnL>
                      <a:noFill/>
                    </a:lnL>
                    <a:lnR>
                      <a:noFill/>
                    </a:lnR>
                    <a:lnT>
                      <a:noFill/>
                    </a:lnT>
                    <a:lnB>
                      <a:noFill/>
                    </a:lnB>
                    <a:noFill/>
                  </a:tcPr>
                </a:tc>
                <a:extLst>
                  <a:ext uri="{0D108BD9-81ED-4DB2-BD59-A6C34878D82A}">
                    <a16:rowId xmlns:a16="http://schemas.microsoft.com/office/drawing/2014/main" val="1390561827"/>
                  </a:ext>
                </a:extLst>
              </a:tr>
              <a:tr h="806989">
                <a:tc>
                  <a:txBody>
                    <a:bodyPr/>
                    <a:lstStyle/>
                    <a:p>
                      <a:pPr>
                        <a:buNone/>
                      </a:pPr>
                      <a:r>
                        <a:rPr lang="en-IN" dirty="0"/>
                        <a:t>                  2 </a:t>
                      </a:r>
                    </a:p>
                  </a:txBody>
                  <a:tcPr anchor="ctr">
                    <a:lnL>
                      <a:noFill/>
                    </a:lnL>
                    <a:lnR>
                      <a:noFill/>
                    </a:lnR>
                    <a:lnT>
                      <a:noFill/>
                    </a:lnT>
                    <a:lnB>
                      <a:noFill/>
                    </a:lnB>
                    <a:noFill/>
                  </a:tcPr>
                </a:tc>
                <a:tc>
                  <a:txBody>
                    <a:bodyPr/>
                    <a:lstStyle/>
                    <a:p>
                      <a:pPr>
                        <a:buNone/>
                      </a:pPr>
                      <a:r>
                        <a:rPr lang="en-US"/>
                        <a:t>Earthquake tremors felt in Delhi region</a:t>
                      </a:r>
                    </a:p>
                  </a:txBody>
                  <a:tcPr anchor="ctr">
                    <a:lnL>
                      <a:noFill/>
                    </a:lnL>
                    <a:lnR>
                      <a:noFill/>
                    </a:lnR>
                    <a:lnT>
                      <a:noFill/>
                    </a:lnT>
                    <a:lnB>
                      <a:noFill/>
                    </a:lnB>
                    <a:noFill/>
                  </a:tcPr>
                </a:tc>
                <a:tc>
                  <a:txBody>
                    <a:bodyPr/>
                    <a:lstStyle/>
                    <a:p>
                      <a:pPr>
                        <a:buNone/>
                      </a:pPr>
                      <a:r>
                        <a:rPr lang="en-IN"/>
                        <a:t>Earthquake</a:t>
                      </a:r>
                    </a:p>
                  </a:txBody>
                  <a:tcPr anchor="ctr">
                    <a:lnL>
                      <a:noFill/>
                    </a:lnL>
                    <a:lnR>
                      <a:noFill/>
                    </a:lnR>
                    <a:lnT>
                      <a:noFill/>
                    </a:lnT>
                    <a:lnB>
                      <a:noFill/>
                    </a:lnB>
                    <a:noFill/>
                  </a:tcPr>
                </a:tc>
                <a:tc>
                  <a:txBody>
                    <a:bodyPr/>
                    <a:lstStyle/>
                    <a:p>
                      <a:pPr>
                        <a:buNone/>
                      </a:pPr>
                      <a:r>
                        <a:rPr lang="en-IN"/>
                        <a:t>Severe</a:t>
                      </a:r>
                    </a:p>
                  </a:txBody>
                  <a:tcPr anchor="ctr">
                    <a:lnL>
                      <a:noFill/>
                    </a:lnL>
                    <a:lnR>
                      <a:noFill/>
                    </a:lnR>
                    <a:lnT>
                      <a:noFill/>
                    </a:lnT>
                    <a:lnB>
                      <a:noFill/>
                    </a:lnB>
                    <a:noFill/>
                  </a:tcPr>
                </a:tc>
                <a:extLst>
                  <a:ext uri="{0D108BD9-81ED-4DB2-BD59-A6C34878D82A}">
                    <a16:rowId xmlns:a16="http://schemas.microsoft.com/office/drawing/2014/main" val="408493277"/>
                  </a:ext>
                </a:extLst>
              </a:tr>
              <a:tr h="806989">
                <a:tc>
                  <a:txBody>
                    <a:bodyPr/>
                    <a:lstStyle/>
                    <a:p>
                      <a:pPr>
                        <a:buNone/>
                      </a:pPr>
                      <a:r>
                        <a:rPr lang="en-IN" dirty="0"/>
                        <a:t>                  3</a:t>
                      </a:r>
                    </a:p>
                  </a:txBody>
                  <a:tcPr anchor="ctr">
                    <a:lnL>
                      <a:noFill/>
                    </a:lnL>
                    <a:lnR>
                      <a:noFill/>
                    </a:lnR>
                    <a:lnT>
                      <a:noFill/>
                    </a:lnT>
                    <a:lnB>
                      <a:noFill/>
                    </a:lnB>
                    <a:noFill/>
                  </a:tcPr>
                </a:tc>
                <a:tc>
                  <a:txBody>
                    <a:bodyPr/>
                    <a:lstStyle/>
                    <a:p>
                      <a:pPr>
                        <a:buNone/>
                      </a:pPr>
                      <a:r>
                        <a:rPr lang="en-US"/>
                        <a:t>Cyclone warning issued near coastal areas</a:t>
                      </a:r>
                    </a:p>
                  </a:txBody>
                  <a:tcPr anchor="ctr">
                    <a:lnL>
                      <a:noFill/>
                    </a:lnL>
                    <a:lnR>
                      <a:noFill/>
                    </a:lnR>
                    <a:lnT>
                      <a:noFill/>
                    </a:lnT>
                    <a:lnB>
                      <a:noFill/>
                    </a:lnB>
                    <a:noFill/>
                  </a:tcPr>
                </a:tc>
                <a:tc>
                  <a:txBody>
                    <a:bodyPr/>
                    <a:lstStyle/>
                    <a:p>
                      <a:pPr>
                        <a:buNone/>
                      </a:pPr>
                      <a:r>
                        <a:rPr lang="en-IN"/>
                        <a:t>Cyclone</a:t>
                      </a:r>
                    </a:p>
                  </a:txBody>
                  <a:tcPr anchor="ctr">
                    <a:lnL>
                      <a:noFill/>
                    </a:lnL>
                    <a:lnR>
                      <a:noFill/>
                    </a:lnR>
                    <a:lnT>
                      <a:noFill/>
                    </a:lnT>
                    <a:lnB>
                      <a:noFill/>
                    </a:lnB>
                    <a:noFill/>
                  </a:tcPr>
                </a:tc>
                <a:tc>
                  <a:txBody>
                    <a:bodyPr/>
                    <a:lstStyle/>
                    <a:p>
                      <a:pPr>
                        <a:buNone/>
                      </a:pPr>
                      <a:r>
                        <a:rPr lang="en-IN"/>
                        <a:t>Critical</a:t>
                      </a:r>
                    </a:p>
                  </a:txBody>
                  <a:tcPr anchor="ctr">
                    <a:lnL>
                      <a:noFill/>
                    </a:lnL>
                    <a:lnR>
                      <a:noFill/>
                    </a:lnR>
                    <a:lnT>
                      <a:noFill/>
                    </a:lnT>
                    <a:lnB>
                      <a:noFill/>
                    </a:lnB>
                    <a:noFill/>
                  </a:tcPr>
                </a:tc>
                <a:extLst>
                  <a:ext uri="{0D108BD9-81ED-4DB2-BD59-A6C34878D82A}">
                    <a16:rowId xmlns:a16="http://schemas.microsoft.com/office/drawing/2014/main" val="1200396469"/>
                  </a:ext>
                </a:extLst>
              </a:tr>
              <a:tr h="806989">
                <a:tc>
                  <a:txBody>
                    <a:bodyPr/>
                    <a:lstStyle/>
                    <a:p>
                      <a:pPr>
                        <a:buNone/>
                      </a:pPr>
                      <a:r>
                        <a:rPr lang="en-IN" dirty="0"/>
                        <a:t>                  4</a:t>
                      </a:r>
                    </a:p>
                  </a:txBody>
                  <a:tcPr anchor="ctr">
                    <a:lnL>
                      <a:noFill/>
                    </a:lnL>
                    <a:lnR>
                      <a:noFill/>
                    </a:lnR>
                    <a:lnT>
                      <a:noFill/>
                    </a:lnT>
                    <a:lnB>
                      <a:noFill/>
                    </a:lnB>
                    <a:noFill/>
                  </a:tcPr>
                </a:tc>
                <a:tc>
                  <a:txBody>
                    <a:bodyPr/>
                    <a:lstStyle/>
                    <a:p>
                      <a:pPr>
                        <a:buNone/>
                      </a:pPr>
                      <a:r>
                        <a:rPr lang="en-US"/>
                        <a:t>Minor landslide reported in hill region</a:t>
                      </a:r>
                    </a:p>
                  </a:txBody>
                  <a:tcPr anchor="ctr">
                    <a:lnL>
                      <a:noFill/>
                    </a:lnL>
                    <a:lnR>
                      <a:noFill/>
                    </a:lnR>
                    <a:lnT>
                      <a:noFill/>
                    </a:lnT>
                    <a:lnB>
                      <a:noFill/>
                    </a:lnB>
                    <a:noFill/>
                  </a:tcPr>
                </a:tc>
                <a:tc>
                  <a:txBody>
                    <a:bodyPr/>
                    <a:lstStyle/>
                    <a:p>
                      <a:pPr>
                        <a:buNone/>
                      </a:pPr>
                      <a:r>
                        <a:rPr lang="en-IN"/>
                        <a:t>Landslide</a:t>
                      </a:r>
                    </a:p>
                  </a:txBody>
                  <a:tcPr anchor="ctr">
                    <a:lnL>
                      <a:noFill/>
                    </a:lnL>
                    <a:lnR>
                      <a:noFill/>
                    </a:lnR>
                    <a:lnT>
                      <a:noFill/>
                    </a:lnT>
                    <a:lnB>
                      <a:noFill/>
                    </a:lnB>
                    <a:noFill/>
                  </a:tcPr>
                </a:tc>
                <a:tc>
                  <a:txBody>
                    <a:bodyPr/>
                    <a:lstStyle/>
                    <a:p>
                      <a:pPr>
                        <a:buNone/>
                      </a:pPr>
                      <a:r>
                        <a:rPr lang="en-IN"/>
                        <a:t>Moderate</a:t>
                      </a:r>
                    </a:p>
                  </a:txBody>
                  <a:tcPr anchor="ctr">
                    <a:lnL>
                      <a:noFill/>
                    </a:lnL>
                    <a:lnR>
                      <a:noFill/>
                    </a:lnR>
                    <a:lnT>
                      <a:noFill/>
                    </a:lnT>
                    <a:lnB>
                      <a:noFill/>
                    </a:lnB>
                    <a:noFill/>
                  </a:tcPr>
                </a:tc>
                <a:extLst>
                  <a:ext uri="{0D108BD9-81ED-4DB2-BD59-A6C34878D82A}">
                    <a16:rowId xmlns:a16="http://schemas.microsoft.com/office/drawing/2014/main" val="261894958"/>
                  </a:ext>
                </a:extLst>
              </a:tr>
              <a:tr h="806989">
                <a:tc>
                  <a:txBody>
                    <a:bodyPr/>
                    <a:lstStyle/>
                    <a:p>
                      <a:pPr>
                        <a:buNone/>
                      </a:pPr>
                      <a:r>
                        <a:rPr lang="en-IN" dirty="0"/>
                        <a:t>                  5</a:t>
                      </a:r>
                    </a:p>
                  </a:txBody>
                  <a:tcPr anchor="ctr">
                    <a:lnL>
                      <a:noFill/>
                    </a:lnL>
                    <a:lnR>
                      <a:noFill/>
                    </a:lnR>
                    <a:lnT>
                      <a:noFill/>
                    </a:lnT>
                    <a:lnB>
                      <a:noFill/>
                    </a:lnB>
                    <a:noFill/>
                  </a:tcPr>
                </a:tc>
                <a:tc>
                  <a:txBody>
                    <a:bodyPr/>
                    <a:lstStyle/>
                    <a:p>
                      <a:pPr>
                        <a:buNone/>
                      </a:pPr>
                      <a:r>
                        <a:rPr lang="en-US"/>
                        <a:t>River water level increasing rapidly</a:t>
                      </a:r>
                    </a:p>
                  </a:txBody>
                  <a:tcPr anchor="ctr">
                    <a:lnL>
                      <a:noFill/>
                    </a:lnL>
                    <a:lnR>
                      <a:noFill/>
                    </a:lnR>
                    <a:lnT>
                      <a:noFill/>
                    </a:lnT>
                    <a:lnB>
                      <a:noFill/>
                    </a:lnB>
                    <a:noFill/>
                  </a:tcPr>
                </a:tc>
                <a:tc>
                  <a:txBody>
                    <a:bodyPr/>
                    <a:lstStyle/>
                    <a:p>
                      <a:pPr>
                        <a:buNone/>
                      </a:pPr>
                      <a:r>
                        <a:rPr lang="en-IN"/>
                        <a:t>Flood</a:t>
                      </a:r>
                    </a:p>
                  </a:txBody>
                  <a:tcPr anchor="ctr">
                    <a:lnL>
                      <a:noFill/>
                    </a:lnL>
                    <a:lnR>
                      <a:noFill/>
                    </a:lnR>
                    <a:lnT>
                      <a:noFill/>
                    </a:lnT>
                    <a:lnB>
                      <a:noFill/>
                    </a:lnB>
                    <a:noFill/>
                  </a:tcPr>
                </a:tc>
                <a:tc>
                  <a:txBody>
                    <a:bodyPr/>
                    <a:lstStyle/>
                    <a:p>
                      <a:pPr>
                        <a:buNone/>
                      </a:pPr>
                      <a:r>
                        <a:rPr lang="en-IN" dirty="0"/>
                        <a:t>High</a:t>
                      </a:r>
                    </a:p>
                  </a:txBody>
                  <a:tcPr anchor="ctr">
                    <a:lnL>
                      <a:noFill/>
                    </a:lnL>
                    <a:lnR>
                      <a:noFill/>
                    </a:lnR>
                    <a:lnT>
                      <a:noFill/>
                    </a:lnT>
                    <a:lnB>
                      <a:noFill/>
                    </a:lnB>
                    <a:noFill/>
                  </a:tcPr>
                </a:tc>
                <a:extLst>
                  <a:ext uri="{0D108BD9-81ED-4DB2-BD59-A6C34878D82A}">
                    <a16:rowId xmlns:a16="http://schemas.microsoft.com/office/drawing/2014/main" val="4051425051"/>
                  </a:ext>
                </a:extLst>
              </a:tr>
            </a:tbl>
          </a:graphicData>
        </a:graphic>
      </p:graphicFrame>
      <p:sp>
        <p:nvSpPr>
          <p:cNvPr id="5" name="Date Placeholder 4">
            <a:extLst>
              <a:ext uri="{FF2B5EF4-FFF2-40B4-BE49-F238E27FC236}">
                <a16:creationId xmlns:a16="http://schemas.microsoft.com/office/drawing/2014/main" id="{467262EA-7348-3DE2-F7E1-DC73970F1B6E}"/>
              </a:ext>
            </a:extLst>
          </p:cNvPr>
          <p:cNvSpPr>
            <a:spLocks noGrp="1"/>
          </p:cNvSpPr>
          <p:nvPr>
            <p:ph type="dt" sz="half" idx="10"/>
          </p:nvPr>
        </p:nvSpPr>
        <p:spPr/>
        <p:txBody>
          <a:bodyPr/>
          <a:lstStyle/>
          <a:p>
            <a:fld id="{196CB346-A29B-614A-90B7-3F58220E4132}" type="datetime1">
              <a:rPr lang="en-IN" smtClean="0"/>
              <a:t>11-03-2026</a:t>
            </a:fld>
            <a:endParaRPr lang="en-US" dirty="0"/>
          </a:p>
        </p:txBody>
      </p:sp>
      <p:sp>
        <p:nvSpPr>
          <p:cNvPr id="7" name="Slide Number Placeholder 6">
            <a:extLst>
              <a:ext uri="{FF2B5EF4-FFF2-40B4-BE49-F238E27FC236}">
                <a16:creationId xmlns:a16="http://schemas.microsoft.com/office/drawing/2014/main" id="{F5E30546-FAAD-200A-18A1-F3C209E351BE}"/>
              </a:ext>
            </a:extLst>
          </p:cNvPr>
          <p:cNvSpPr>
            <a:spLocks noGrp="1"/>
          </p:cNvSpPr>
          <p:nvPr>
            <p:ph type="sldNum" sz="quarter" idx="12"/>
          </p:nvPr>
        </p:nvSpPr>
        <p:spPr/>
        <p:txBody>
          <a:bodyPr/>
          <a:lstStyle/>
          <a:p>
            <a:fld id="{B961B71F-4B40-8942-BB88-E0F5C0B46E10}" type="slidenum">
              <a:rPr lang="en-US" smtClean="0"/>
              <a:t>10</a:t>
            </a:fld>
            <a:endParaRPr lang="en-US"/>
          </a:p>
        </p:txBody>
      </p:sp>
      <p:pic>
        <p:nvPicPr>
          <p:cNvPr id="2" name="Picture 1">
            <a:extLst>
              <a:ext uri="{FF2B5EF4-FFF2-40B4-BE49-F238E27FC236}">
                <a16:creationId xmlns:a16="http://schemas.microsoft.com/office/drawing/2014/main" id="{EC48C062-6772-547E-8945-8CAC21665976}"/>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49D748C6-B2A3-7272-4290-E21EF19B6A23}"/>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38665553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B93719B-A971-677D-DB3E-3F30ECAA34A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7709CC97-A85F-7FE9-127B-D9A3D4338C74}"/>
              </a:ext>
            </a:extLst>
          </p:cNvPr>
          <p:cNvSpPr>
            <a:spLocks noGrp="1"/>
          </p:cNvSpPr>
          <p:nvPr>
            <p:ph type="title"/>
          </p:nvPr>
        </p:nvSpPr>
        <p:spPr>
          <a:xfrm>
            <a:off x="1180618" y="365125"/>
            <a:ext cx="10173182" cy="1128009"/>
          </a:xfrm>
        </p:spPr>
        <p:txBody>
          <a:bodyPr/>
          <a:lstStyle/>
          <a:p>
            <a:r>
              <a:t>Conclusion</a:t>
            </a:r>
          </a:p>
        </p:txBody>
      </p:sp>
      <p:sp>
        <p:nvSpPr>
          <p:cNvPr id="9" name="Content Placeholder 8">
            <a:extLst>
              <a:ext uri="{FF2B5EF4-FFF2-40B4-BE49-F238E27FC236}">
                <a16:creationId xmlns:a16="http://schemas.microsoft.com/office/drawing/2014/main" id="{0E914A49-19F6-51A2-7E86-293A5277485B}"/>
              </a:ext>
            </a:extLst>
          </p:cNvPr>
          <p:cNvSpPr>
            <a:spLocks noGrp="1"/>
          </p:cNvSpPr>
          <p:nvPr>
            <p:ph idx="1"/>
          </p:nvPr>
        </p:nvSpPr>
        <p:spPr>
          <a:xfrm>
            <a:off x="838200" y="1250731"/>
            <a:ext cx="10515600" cy="5002923"/>
          </a:xfrm>
        </p:spPr>
        <p:txBody>
          <a:bodyPr>
            <a:normAutofit/>
          </a:bodyPr>
          <a:lstStyle/>
          <a:p>
            <a:r>
              <a:rPr lang="en-US" sz="2200" dirty="0"/>
              <a:t>The proposed IndiaShield system provides an AI-powered solution for real-time disaster monitoring and analysis.</a:t>
            </a:r>
          </a:p>
          <a:p>
            <a:r>
              <a:rPr lang="en-US" sz="2200" dirty="0"/>
              <a:t>By combining big data streaming technologies, natural language processing, and machine learning techniques, the system can detect disaster-related events and predict their severity in real time.</a:t>
            </a:r>
          </a:p>
          <a:p>
            <a:r>
              <a:rPr lang="en-US" sz="2200" dirty="0"/>
              <a:t>The interactive dashboard enables authorities to monitor emergency situations more effectively and make faster decisions during disasters.</a:t>
            </a:r>
          </a:p>
          <a:p>
            <a:r>
              <a:rPr lang="en-US" sz="2200" dirty="0"/>
              <a:t>In future work, the system can be enhanced by integrating satellite imagery, multilingual NLP support, and mobile notification systems.</a:t>
            </a:r>
          </a:p>
          <a:p>
            <a:r>
              <a:rPr lang="en-US" sz="2200" dirty="0"/>
              <a:t>This project demonstrates how big data and artificial intelligence can improve disaster preparedness and response.</a:t>
            </a:r>
          </a:p>
          <a:p>
            <a:endParaRPr sz="2200" dirty="0"/>
          </a:p>
        </p:txBody>
      </p:sp>
      <p:sp>
        <p:nvSpPr>
          <p:cNvPr id="5" name="Date Placeholder 4">
            <a:extLst>
              <a:ext uri="{FF2B5EF4-FFF2-40B4-BE49-F238E27FC236}">
                <a16:creationId xmlns:a16="http://schemas.microsoft.com/office/drawing/2014/main" id="{68B060C3-9089-9B01-F1D8-C97A09A9736A}"/>
              </a:ext>
            </a:extLst>
          </p:cNvPr>
          <p:cNvSpPr>
            <a:spLocks noGrp="1"/>
          </p:cNvSpPr>
          <p:nvPr>
            <p:ph type="dt" sz="half" idx="10"/>
          </p:nvPr>
        </p:nvSpPr>
        <p:spPr/>
        <p:txBody>
          <a:bodyPr/>
          <a:lstStyle/>
          <a:p>
            <a:fld id="{196CB346-A29B-614A-90B7-3F58220E4132}" type="datetime1">
              <a:rPr lang="en-IN" smtClean="0"/>
              <a:t>11-03-2026</a:t>
            </a:fld>
            <a:endParaRPr lang="en-US" dirty="0"/>
          </a:p>
        </p:txBody>
      </p:sp>
      <p:sp>
        <p:nvSpPr>
          <p:cNvPr id="7" name="Slide Number Placeholder 6">
            <a:extLst>
              <a:ext uri="{FF2B5EF4-FFF2-40B4-BE49-F238E27FC236}">
                <a16:creationId xmlns:a16="http://schemas.microsoft.com/office/drawing/2014/main" id="{134082E4-0E3A-87DB-D567-ED1D0DBED5DA}"/>
              </a:ext>
            </a:extLst>
          </p:cNvPr>
          <p:cNvSpPr>
            <a:spLocks noGrp="1"/>
          </p:cNvSpPr>
          <p:nvPr>
            <p:ph type="sldNum" sz="quarter" idx="12"/>
          </p:nvPr>
        </p:nvSpPr>
        <p:spPr/>
        <p:txBody>
          <a:bodyPr/>
          <a:lstStyle/>
          <a:p>
            <a:fld id="{B961B71F-4B40-8942-BB88-E0F5C0B46E10}" type="slidenum">
              <a:rPr lang="en-US" smtClean="0"/>
              <a:t>11</a:t>
            </a:fld>
            <a:endParaRPr lang="en-US"/>
          </a:p>
        </p:txBody>
      </p:sp>
      <p:pic>
        <p:nvPicPr>
          <p:cNvPr id="2" name="Picture 1">
            <a:extLst>
              <a:ext uri="{FF2B5EF4-FFF2-40B4-BE49-F238E27FC236}">
                <a16:creationId xmlns:a16="http://schemas.microsoft.com/office/drawing/2014/main" id="{1564F053-0075-BD19-F8FF-9AAA1B64705D}"/>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187A4474-F3F0-CAB1-93F1-9BF4015FB49E}"/>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7164636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28D4C0B0-C70A-1972-492E-60B0E754146B}"/>
            </a:ext>
          </a:extLst>
        </p:cNvPr>
        <p:cNvGrpSpPr/>
        <p:nvPr/>
      </p:nvGrpSpPr>
      <p:grpSpPr>
        <a:xfrm>
          <a:off x="0" y="0"/>
          <a:ext cx="0" cy="0"/>
          <a:chOff x="0" y="0"/>
          <a:chExt cx="0" cy="0"/>
        </a:xfrm>
      </p:grpSpPr>
      <p:sp>
        <p:nvSpPr>
          <p:cNvPr id="8" name="Title 7">
            <a:extLst>
              <a:ext uri="{FF2B5EF4-FFF2-40B4-BE49-F238E27FC236}">
                <a16:creationId xmlns:a16="http://schemas.microsoft.com/office/drawing/2014/main" id="{1E10373E-14B1-432C-6627-5102E701E540}"/>
              </a:ext>
            </a:extLst>
          </p:cNvPr>
          <p:cNvSpPr>
            <a:spLocks noGrp="1"/>
          </p:cNvSpPr>
          <p:nvPr>
            <p:ph type="title"/>
          </p:nvPr>
        </p:nvSpPr>
        <p:spPr>
          <a:xfrm>
            <a:off x="1180618" y="365125"/>
            <a:ext cx="10173182" cy="1128009"/>
          </a:xfrm>
        </p:spPr>
        <p:txBody>
          <a:bodyPr/>
          <a:lstStyle/>
          <a:p>
            <a:r>
              <a:rPr dirty="0"/>
              <a:t>References</a:t>
            </a:r>
          </a:p>
        </p:txBody>
      </p:sp>
      <p:sp>
        <p:nvSpPr>
          <p:cNvPr id="9" name="Content Placeholder 8">
            <a:extLst>
              <a:ext uri="{FF2B5EF4-FFF2-40B4-BE49-F238E27FC236}">
                <a16:creationId xmlns:a16="http://schemas.microsoft.com/office/drawing/2014/main" id="{820347CC-6603-A42B-AFAE-07AE7DD492A9}"/>
              </a:ext>
            </a:extLst>
          </p:cNvPr>
          <p:cNvSpPr>
            <a:spLocks noGrp="1"/>
          </p:cNvSpPr>
          <p:nvPr>
            <p:ph idx="1"/>
          </p:nvPr>
        </p:nvSpPr>
        <p:spPr>
          <a:xfrm>
            <a:off x="838200" y="1250731"/>
            <a:ext cx="10515600" cy="4786275"/>
          </a:xfrm>
        </p:spPr>
        <p:txBody>
          <a:bodyPr>
            <a:normAutofit fontScale="62500" lnSpcReduction="20000"/>
          </a:bodyPr>
          <a:lstStyle/>
          <a:p>
            <a:pPr marL="0" indent="0">
              <a:buNone/>
            </a:pPr>
            <a:r>
              <a:rPr lang="en-IN" sz="2400" dirty="0"/>
              <a:t>• Imran, M., Castillo, C., Diaz, F., &amp; Vieweg, S.</a:t>
            </a:r>
            <a:br>
              <a:rPr lang="en-IN" sz="2400" dirty="0"/>
            </a:br>
            <a:r>
              <a:rPr lang="en-IN" sz="2400" dirty="0"/>
              <a:t>Processing Social Media Messages in Mass Emergency. ACM Computing Surveys.</a:t>
            </a:r>
          </a:p>
          <a:p>
            <a:pPr marL="0" indent="0">
              <a:buNone/>
            </a:pPr>
            <a:r>
              <a:rPr lang="en-IN" sz="2400" dirty="0"/>
              <a:t>• Sakaki, T., Okazaki, M., &amp; Matsuo, Y.</a:t>
            </a:r>
            <a:br>
              <a:rPr lang="en-IN" sz="2400" dirty="0"/>
            </a:br>
            <a:r>
              <a:rPr lang="en-IN" sz="2400" dirty="0"/>
              <a:t>Earthquake Shakes Twitter Users: Real-time Event Detection by Social Sensors. Proceedings of the International World Wide Web Conference. </a:t>
            </a:r>
          </a:p>
          <a:p>
            <a:pPr marL="0" indent="0">
              <a:buNone/>
            </a:pPr>
            <a:r>
              <a:rPr lang="en-IN" sz="2400" dirty="0"/>
              <a:t>• Atzori, M., Poletti, J.</a:t>
            </a:r>
            <a:br>
              <a:rPr lang="en-IN" sz="2400" dirty="0"/>
            </a:br>
            <a:r>
              <a:rPr lang="en-IN" sz="2400" dirty="0"/>
              <a:t>Cloud-Based Big Data Architecture for Disaster Monitoring. IEEE Access.</a:t>
            </a:r>
          </a:p>
          <a:p>
            <a:pPr marL="0" indent="0">
              <a:buNone/>
            </a:pPr>
            <a:r>
              <a:rPr lang="en-IN" sz="2400" dirty="0"/>
              <a:t>• Imran, M., Mitra, P., &amp; Castillo, C.</a:t>
            </a:r>
            <a:br>
              <a:rPr lang="en-IN" sz="2400" dirty="0"/>
            </a:br>
            <a:r>
              <a:rPr lang="en-IN" sz="2400" dirty="0"/>
              <a:t>Twitter as a Lifeline: Human-Annotated Twitter Corpora for NLP of Crisis-Related Messages. Proceedings of LREC Conference. </a:t>
            </a:r>
          </a:p>
          <a:p>
            <a:pPr marL="0" indent="0">
              <a:buNone/>
            </a:pPr>
            <a:r>
              <a:rPr lang="en-IN" sz="2400" dirty="0"/>
              <a:t>• Alam, F., </a:t>
            </a:r>
            <a:r>
              <a:rPr lang="en-IN" sz="2400" dirty="0" err="1"/>
              <a:t>Ofli</a:t>
            </a:r>
            <a:r>
              <a:rPr lang="en-IN" sz="2400" dirty="0"/>
              <a:t>, F., &amp; Imran, M.</a:t>
            </a:r>
            <a:br>
              <a:rPr lang="en-IN" sz="2400" dirty="0"/>
            </a:br>
            <a:r>
              <a:rPr lang="en-IN" sz="2400" dirty="0" err="1"/>
              <a:t>CrisisMMD</a:t>
            </a:r>
            <a:r>
              <a:rPr lang="en-IN" sz="2400" dirty="0"/>
              <a:t>: Multimodal Twitter Dataset for Natural Disaster Analysis. AAAI International Conference on Web and Social Media. </a:t>
            </a:r>
          </a:p>
          <a:p>
            <a:pPr marL="0" indent="0">
              <a:buNone/>
            </a:pPr>
            <a:r>
              <a:rPr lang="en-IN" sz="2400" dirty="0"/>
              <a:t>• Kabir, M. Y., et al.</a:t>
            </a:r>
            <a:br>
              <a:rPr lang="en-IN" sz="2400" dirty="0"/>
            </a:br>
            <a:r>
              <a:rPr lang="en-IN" sz="2400" dirty="0"/>
              <a:t>A Deep Learning Approach for Tweet Classification and Rescue Scheduling for Effective Disaster Management. ACM Digital Library. </a:t>
            </a:r>
          </a:p>
          <a:p>
            <a:pPr marL="0" indent="0">
              <a:buNone/>
            </a:pPr>
            <a:r>
              <a:rPr lang="en-IN" sz="2400" dirty="0"/>
              <a:t>• Robinson, B., Power, R., &amp; Cameron, M.</a:t>
            </a:r>
            <a:br>
              <a:rPr lang="en-IN" sz="2400" dirty="0"/>
            </a:br>
            <a:r>
              <a:rPr lang="en-IN" sz="2400" dirty="0"/>
              <a:t>A Sensitive Twitter Earthquake Detector. Proceedings of the ACL Workshop on Language Processing and Crisis Information. </a:t>
            </a:r>
          </a:p>
          <a:p>
            <a:pPr marL="0" indent="0">
              <a:buNone/>
            </a:pPr>
            <a:r>
              <a:rPr lang="en-IN" sz="2400" dirty="0"/>
              <a:t>• Singh, J. P., et al.</a:t>
            </a:r>
            <a:br>
              <a:rPr lang="en-IN" sz="2400" dirty="0"/>
            </a:br>
            <a:r>
              <a:rPr lang="en-IN" sz="2400" dirty="0"/>
              <a:t>Event Classification and Location Prediction from Tweets during Disasters. Annals of Operations Research. </a:t>
            </a:r>
          </a:p>
          <a:p>
            <a:pPr marL="0" indent="0">
              <a:buNone/>
            </a:pPr>
            <a:r>
              <a:rPr lang="en-IN" sz="2400" dirty="0"/>
              <a:t>• </a:t>
            </a:r>
            <a:r>
              <a:rPr lang="en-IN" sz="2400" dirty="0" err="1"/>
              <a:t>Effrosynidis</a:t>
            </a:r>
            <a:r>
              <a:rPr lang="en-IN" sz="2400" dirty="0"/>
              <a:t>, D., &amp; Arampatzis, A.</a:t>
            </a:r>
            <a:br>
              <a:rPr lang="en-IN" sz="2400" dirty="0"/>
            </a:br>
            <a:r>
              <a:rPr lang="en-IN" sz="2400" dirty="0"/>
              <a:t>The Effect of Training Data Size on Disaster Tweet Classification. Information Journal. </a:t>
            </a:r>
          </a:p>
          <a:p>
            <a:pPr marL="0" indent="0">
              <a:buNone/>
            </a:pPr>
            <a:r>
              <a:rPr lang="en-IN" sz="2400" dirty="0"/>
              <a:t>• Basit, M., et al.</a:t>
            </a:r>
            <a:br>
              <a:rPr lang="en-IN" sz="2400" dirty="0"/>
            </a:br>
            <a:r>
              <a:rPr lang="en-IN" sz="2400" dirty="0"/>
              <a:t>Natural Disaster Tweets Classification Using Multimodal Deep Learning Models. Proceedings of EMNLP Conference. </a:t>
            </a:r>
          </a:p>
          <a:p>
            <a:pPr marL="0" indent="0">
              <a:buNone/>
            </a:pPr>
            <a:endParaRPr sz="2200" dirty="0"/>
          </a:p>
        </p:txBody>
      </p:sp>
      <p:sp>
        <p:nvSpPr>
          <p:cNvPr id="5" name="Date Placeholder 4">
            <a:extLst>
              <a:ext uri="{FF2B5EF4-FFF2-40B4-BE49-F238E27FC236}">
                <a16:creationId xmlns:a16="http://schemas.microsoft.com/office/drawing/2014/main" id="{69CF12D2-F1DB-33DA-F2D4-36035A1EBE69}"/>
              </a:ext>
            </a:extLst>
          </p:cNvPr>
          <p:cNvSpPr>
            <a:spLocks noGrp="1"/>
          </p:cNvSpPr>
          <p:nvPr>
            <p:ph type="dt" sz="half" idx="10"/>
          </p:nvPr>
        </p:nvSpPr>
        <p:spPr/>
        <p:txBody>
          <a:bodyPr/>
          <a:lstStyle/>
          <a:p>
            <a:fld id="{196CB346-A29B-614A-90B7-3F58220E4132}" type="datetime1">
              <a:rPr lang="en-IN" smtClean="0"/>
              <a:t>11-03-2026</a:t>
            </a:fld>
            <a:endParaRPr lang="en-US" dirty="0"/>
          </a:p>
        </p:txBody>
      </p:sp>
      <p:sp>
        <p:nvSpPr>
          <p:cNvPr id="7" name="Slide Number Placeholder 6">
            <a:extLst>
              <a:ext uri="{FF2B5EF4-FFF2-40B4-BE49-F238E27FC236}">
                <a16:creationId xmlns:a16="http://schemas.microsoft.com/office/drawing/2014/main" id="{68493559-19B2-50D7-BD0E-0D82C2ADBB1E}"/>
              </a:ext>
            </a:extLst>
          </p:cNvPr>
          <p:cNvSpPr>
            <a:spLocks noGrp="1"/>
          </p:cNvSpPr>
          <p:nvPr>
            <p:ph type="sldNum" sz="quarter" idx="12"/>
          </p:nvPr>
        </p:nvSpPr>
        <p:spPr/>
        <p:txBody>
          <a:bodyPr/>
          <a:lstStyle/>
          <a:p>
            <a:fld id="{B961B71F-4B40-8942-BB88-E0F5C0B46E10}" type="slidenum">
              <a:rPr lang="en-US" smtClean="0"/>
              <a:t>12</a:t>
            </a:fld>
            <a:endParaRPr lang="en-US"/>
          </a:p>
        </p:txBody>
      </p:sp>
      <p:pic>
        <p:nvPicPr>
          <p:cNvPr id="2" name="Picture 1">
            <a:extLst>
              <a:ext uri="{FF2B5EF4-FFF2-40B4-BE49-F238E27FC236}">
                <a16:creationId xmlns:a16="http://schemas.microsoft.com/office/drawing/2014/main" id="{D419C462-DC64-15A1-C950-8DE0A0202034}"/>
              </a:ext>
            </a:extLst>
          </p:cNvPr>
          <p:cNvPicPr>
            <a:picLocks noChangeAspect="1"/>
          </p:cNvPicPr>
          <p:nvPr/>
        </p:nvPicPr>
        <p:blipFill>
          <a:blip r:embed="rId2"/>
          <a:stretch>
            <a:fillRect/>
          </a:stretch>
        </p:blipFill>
        <p:spPr>
          <a:xfrm>
            <a:off x="1" y="-396"/>
            <a:ext cx="1458484" cy="690861"/>
          </a:xfrm>
          <a:prstGeom prst="rect">
            <a:avLst/>
          </a:prstGeom>
        </p:spPr>
      </p:pic>
      <p:sp>
        <p:nvSpPr>
          <p:cNvPr id="10" name="Footer Placeholder 2">
            <a:extLst>
              <a:ext uri="{FF2B5EF4-FFF2-40B4-BE49-F238E27FC236}">
                <a16:creationId xmlns:a16="http://schemas.microsoft.com/office/drawing/2014/main" id="{792543A9-D42E-FC1A-73CD-75569187C620}"/>
              </a:ext>
            </a:extLst>
          </p:cNvPr>
          <p:cNvSpPr>
            <a:spLocks noGrp="1"/>
          </p:cNvSpPr>
          <p:nvPr>
            <p:ph type="ftr" sz="quarter" idx="11"/>
          </p:nvPr>
        </p:nvSpPr>
        <p:spPr>
          <a:xfrm>
            <a:off x="4038600" y="6356350"/>
            <a:ext cx="4114800" cy="365125"/>
          </a:xfrm>
        </p:spPr>
        <p:txBody>
          <a:bodyPr/>
          <a:lstStyle/>
          <a:p>
            <a:r>
              <a:rPr lang="en-US" dirty="0"/>
              <a:t>REVIEW – 2    </a:t>
            </a:r>
          </a:p>
        </p:txBody>
      </p:sp>
    </p:spTree>
    <p:extLst>
      <p:ext uri="{BB962C8B-B14F-4D97-AF65-F5344CB8AC3E}">
        <p14:creationId xmlns:p14="http://schemas.microsoft.com/office/powerpoint/2010/main" val="21169825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9" name="Content Placeholder 8"/>
          <p:cNvSpPr>
            <a:spLocks noGrp="1"/>
          </p:cNvSpPr>
          <p:nvPr>
            <p:ph idx="1"/>
          </p:nvPr>
        </p:nvSpPr>
        <p:spPr>
          <a:xfrm>
            <a:off x="838200" y="740780"/>
            <a:ext cx="10515600" cy="5436183"/>
          </a:xfrm>
        </p:spPr>
        <p:txBody>
          <a:bodyPr>
            <a:normAutofit/>
          </a:bodyPr>
          <a:lstStyle/>
          <a:p>
            <a:pPr marL="0" indent="0">
              <a:buNone/>
            </a:pPr>
            <a:endParaRPr lang="en-IN" dirty="0"/>
          </a:p>
          <a:p>
            <a:pPr marL="0" indent="0" algn="ctr">
              <a:buNone/>
            </a:pPr>
            <a:endParaRPr lang="en-IN" sz="4400" dirty="0"/>
          </a:p>
          <a:p>
            <a:pPr marL="0" indent="0" algn="ctr">
              <a:buNone/>
            </a:pPr>
            <a:endParaRPr lang="en-IN" sz="4400" dirty="0"/>
          </a:p>
          <a:p>
            <a:pPr marL="0" indent="0" algn="ctr">
              <a:buNone/>
            </a:pPr>
            <a:r>
              <a:rPr lang="en-IN" sz="4400" dirty="0"/>
              <a:t>THANK YOU</a:t>
            </a:r>
          </a:p>
        </p:txBody>
      </p:sp>
      <p:sp>
        <p:nvSpPr>
          <p:cNvPr id="5" name="Date Placeholder 4"/>
          <p:cNvSpPr>
            <a:spLocks noGrp="1"/>
          </p:cNvSpPr>
          <p:nvPr>
            <p:ph type="dt" sz="half" idx="10"/>
          </p:nvPr>
        </p:nvSpPr>
        <p:spPr/>
        <p:txBody>
          <a:bodyPr/>
          <a:lstStyle/>
          <a:p>
            <a:fld id="{D7BE9514-8A25-AD4E-B103-05AD99471A79}" type="datetime1">
              <a:rPr lang="en-IN" smtClean="0"/>
              <a:t>11-03-2026</a:t>
            </a:fld>
            <a:endParaRPr lang="en-US"/>
          </a:p>
        </p:txBody>
      </p:sp>
      <p:sp>
        <p:nvSpPr>
          <p:cNvPr id="7" name="Slide Number Placeholder 6"/>
          <p:cNvSpPr>
            <a:spLocks noGrp="1"/>
          </p:cNvSpPr>
          <p:nvPr>
            <p:ph type="sldNum" sz="quarter" idx="12"/>
          </p:nvPr>
        </p:nvSpPr>
        <p:spPr/>
        <p:txBody>
          <a:bodyPr/>
          <a:lstStyle/>
          <a:p>
            <a:fld id="{B961B71F-4B40-8942-BB88-E0F5C0B46E10}" type="slidenum">
              <a:rPr lang="en-US" smtClean="0"/>
              <a:t>13</a:t>
            </a:fld>
            <a:endParaRPr lang="en-US"/>
          </a:p>
        </p:txBody>
      </p:sp>
      <p:pic>
        <p:nvPicPr>
          <p:cNvPr id="2" name="Picture 1"/>
          <p:cNvPicPr>
            <a:picLocks noChangeAspect="1"/>
          </p:cNvPicPr>
          <p:nvPr/>
        </p:nvPicPr>
        <p:blipFill>
          <a:blip r:embed="rId2"/>
          <a:stretch>
            <a:fillRect/>
          </a:stretch>
        </p:blipFill>
        <p:spPr>
          <a:xfrm>
            <a:off x="1" y="-396"/>
            <a:ext cx="1458484" cy="690861"/>
          </a:xfrm>
          <a:prstGeom prst="rect">
            <a:avLst/>
          </a:prstGeom>
        </p:spPr>
      </p:pic>
      <p:sp>
        <p:nvSpPr>
          <p:cNvPr id="4" name="Footer Placeholder 2">
            <a:extLst>
              <a:ext uri="{FF2B5EF4-FFF2-40B4-BE49-F238E27FC236}">
                <a16:creationId xmlns:a16="http://schemas.microsoft.com/office/drawing/2014/main" id="{AB03FB2E-4E33-CA9A-E5FC-A215D8D28E40}"/>
              </a:ext>
            </a:extLst>
          </p:cNvPr>
          <p:cNvSpPr>
            <a:spLocks noGrp="1"/>
          </p:cNvSpPr>
          <p:nvPr>
            <p:ph type="ftr" sz="quarter" idx="11"/>
          </p:nvPr>
        </p:nvSpPr>
        <p:spPr>
          <a:xfrm>
            <a:off x="4038600" y="6356350"/>
            <a:ext cx="4114800" cy="365125"/>
          </a:xfrm>
        </p:spPr>
        <p:txBody>
          <a:bodyPr/>
          <a:lstStyle/>
          <a:p>
            <a:r>
              <a:rPr lang="en-US" dirty="0"/>
              <a:t>REVIEW – 2    </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280</TotalTime>
  <Words>1715</Words>
  <Application>Microsoft Office PowerPoint</Application>
  <PresentationFormat>Widescreen</PresentationFormat>
  <Paragraphs>216</Paragraphs>
  <Slides>13</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13</vt:i4>
      </vt:variant>
    </vt:vector>
  </HeadingPairs>
  <TitlesOfParts>
    <vt:vector size="19" baseType="lpstr">
      <vt:lpstr>Arial</vt:lpstr>
      <vt:lpstr>Calibri</vt:lpstr>
      <vt:lpstr>Calibri Light</vt:lpstr>
      <vt:lpstr>Times New Roman</vt:lpstr>
      <vt:lpstr>Office Theme</vt:lpstr>
      <vt:lpstr>Custom Design</vt:lpstr>
      <vt:lpstr> Big Data Technologies REVIEW – 2 IndiaShield: An AI-Powered Real-Time Disaster Detection and Emergency Intelligence System </vt:lpstr>
      <vt:lpstr>OUTLINE</vt:lpstr>
      <vt:lpstr>Abstract:</vt:lpstr>
      <vt:lpstr>Introduction:</vt:lpstr>
      <vt:lpstr>Objectives:</vt:lpstr>
      <vt:lpstr>Literature Survey</vt:lpstr>
      <vt:lpstr>Proposed Method</vt:lpstr>
      <vt:lpstr>System Architecture:</vt:lpstr>
      <vt:lpstr>Implementation</vt:lpstr>
      <vt:lpstr>Implementation</vt:lpstr>
      <vt:lpstr>Conclusion</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Sai Abhiram Amrutaluri</cp:lastModifiedBy>
  <cp:revision>8</cp:revision>
  <dcterms:modified xsi:type="dcterms:W3CDTF">2026-03-11T03:23:57Z</dcterms:modified>
</cp:coreProperties>
</file>